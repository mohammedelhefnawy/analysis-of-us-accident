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webextensions/webextension1.xml" ContentType="application/vnd.ms-office.webextension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F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F2D"/>
                </a:solidFill>
                <a:latin typeface="Arial"/>
              </a:rPr>
              <a:t>12-Month Accident Forecast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Accidents</c:v>
                </c:pt>
              </c:strCache>
            </c:strRef>
          </c:tx>
          <c:spPr>
            <a:solidFill>
              <a:srgbClr val="336E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E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12966</c:v>
                </c:pt>
                <c:pt idx="1">
                  <c:v>9500</c:v>
                </c:pt>
                <c:pt idx="2">
                  <c:v>9800</c:v>
                </c:pt>
                <c:pt idx="3">
                  <c:v>13047</c:v>
                </c:pt>
                <c:pt idx="4">
                  <c:v>9200</c:v>
                </c:pt>
                <c:pt idx="5">
                  <c:v>6731</c:v>
                </c:pt>
                <c:pt idx="6">
                  <c:v>8500</c:v>
                </c:pt>
                <c:pt idx="7">
                  <c:v>10480</c:v>
                </c:pt>
                <c:pt idx="8">
                  <c:v>10464</c:v>
                </c:pt>
                <c:pt idx="9">
                  <c:v>9800</c:v>
                </c:pt>
                <c:pt idx="10">
                  <c:v>10548</c:v>
                </c:pt>
                <c:pt idx="11">
                  <c:v>14415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85-41B4-9E0B-105699E86A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E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EG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799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3" name="Shape 1"/>
          <p:cNvSpPr/>
          <p:nvPr/>
        </p:nvSpPr>
        <p:spPr>
          <a:xfrm>
            <a:off x="7188591" y="-548640"/>
            <a:ext cx="3200400" cy="3200400"/>
          </a:xfrm>
          <a:prstGeom prst="ellipse">
            <a:avLst/>
          </a:prstGeom>
          <a:solidFill>
            <a:srgbClr val="04795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336EA8">
              <a:alpha val="20000"/>
            </a:srgbClr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1371600" cy="1371600"/>
          </a:xfrm>
          <a:prstGeom prst="ellipse">
            <a:avLst/>
          </a:prstGeom>
          <a:solidFill>
            <a:srgbClr val="D7B119">
              <a:alpha val="15000"/>
            </a:srgbClr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6" name="Shape 4"/>
          <p:cNvSpPr/>
          <p:nvPr/>
        </p:nvSpPr>
        <p:spPr>
          <a:xfrm>
            <a:off x="365760" y="228600"/>
            <a:ext cx="2011680" cy="502920"/>
          </a:xfrm>
          <a:prstGeom prst="rect">
            <a:avLst/>
          </a:prstGeom>
          <a:solidFill>
            <a:srgbClr val="0FAB7D">
              <a:alpha val="80000"/>
            </a:srgbClr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8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eyouth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228600"/>
            <a:ext cx="1828800" cy="502920"/>
          </a:xfrm>
          <a:prstGeom prst="rect">
            <a:avLst/>
          </a:prstGeom>
          <a:solidFill>
            <a:srgbClr val="336EA8">
              <a:alpha val="80000"/>
            </a:srgbClr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28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 Road Accidents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00929" y="2057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0FAB7D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Analysis &amp; Prediction</a:t>
            </a:r>
            <a:endParaRPr lang="en-US" sz="2600" dirty="0">
              <a:latin typeface="Arial Black" panose="020B0A040201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0" y="2743200"/>
            <a:ext cx="2743200" cy="54864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5176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4088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DEPI Graduation Project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50C867-3087-4A9F-ABE0-880341034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" y="0"/>
            <a:ext cx="914323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Idea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109728"/>
          </a:xfrm>
          <a:prstGeom prst="rect">
            <a:avLst/>
          </a:prstGeom>
          <a:solidFill>
            <a:srgbClr val="D7B11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9659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2423160"/>
            <a:ext cx="2468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road accidents claim thousands of lives yearly. Authorities lack data-driven tools to predict high-risk events, allocate resources, and prevent severe accidents before they happen.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97280"/>
            <a:ext cx="2743200" cy="109728"/>
          </a:xfrm>
          <a:prstGeom prst="rect">
            <a:avLst/>
          </a:prstGeom>
          <a:solidFill>
            <a:srgbClr val="0FAB7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23444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9659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37560" y="2423160"/>
            <a:ext cx="2468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data pipeline (Medallion Architecture) + interactive Power BI dashboards + a Prophet forecast model + CatBoost ML severity predictor — all built on Microsoft Fabric.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097280"/>
            <a:ext cx="2743200" cy="109728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234440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6208" y="19659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Unique Value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63640" y="2423160"/>
            <a:ext cx="2468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simple dashboards, we combine time-series forecasting, multi-model ML comparison, and real-time severity scoring — enabling proactive, not reactive, road safety decisions.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21" name="Text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Medallion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08760" cy="1371600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Raw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810512"/>
            <a:ext cx="201168" cy="73152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9" name="Shape 7"/>
          <p:cNvSpPr/>
          <p:nvPr/>
        </p:nvSpPr>
        <p:spPr>
          <a:xfrm>
            <a:off x="1993392" y="1188720"/>
            <a:ext cx="1508760" cy="1371600"/>
          </a:xfrm>
          <a:prstGeom prst="rect">
            <a:avLst/>
          </a:prstGeom>
          <a:solidFill>
            <a:srgbClr val="8B3A0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Bronze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93392" y="169164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As-Is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Storage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02152" y="1810512"/>
            <a:ext cx="201168" cy="73152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13" name="Shape 11"/>
          <p:cNvSpPr/>
          <p:nvPr/>
        </p:nvSpPr>
        <p:spPr>
          <a:xfrm>
            <a:off x="3712464" y="1188720"/>
            <a:ext cx="1508760" cy="1371600"/>
          </a:xfrm>
          <a:prstGeom prst="rect">
            <a:avLst/>
          </a:prstGeom>
          <a:solidFill>
            <a:srgbClr val="336EA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12464" y="169164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21224" y="1810512"/>
            <a:ext cx="201168" cy="73152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31536" y="1188720"/>
            <a:ext cx="1508760" cy="1371600"/>
          </a:xfrm>
          <a:prstGeom prst="rect">
            <a:avLst/>
          </a:prstGeom>
          <a:solidFill>
            <a:srgbClr val="04795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31536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31536" y="169164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 + 7 Dims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0296" y="1810512"/>
            <a:ext cx="201168" cy="73152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21" name="Shape 19"/>
          <p:cNvSpPr/>
          <p:nvPr/>
        </p:nvSpPr>
        <p:spPr>
          <a:xfrm>
            <a:off x="7150608" y="1188720"/>
            <a:ext cx="1508760" cy="1371600"/>
          </a:xfrm>
          <a:prstGeom prst="rect">
            <a:avLst/>
          </a:prstGeom>
          <a:solidFill>
            <a:srgbClr val="336EA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0608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Layer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50608" y="169164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Predictions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Outputs from this Pipeline: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1965960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00400"/>
            <a:ext cx="1965960" cy="91440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383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468880" y="3200400"/>
            <a:ext cx="1965960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68880" y="3200400"/>
            <a:ext cx="1965960" cy="9144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3383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Model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3200400"/>
            <a:ext cx="1965960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200400"/>
            <a:ext cx="1965960" cy="91440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3383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Forecast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0" y="3200400"/>
            <a:ext cx="1965960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3200400"/>
            <a:ext cx="1965960" cy="9144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3383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 Users &amp; Key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User Personas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4864" cy="4572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54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Authorities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 hotspots, allocate resources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54864" cy="4572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94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response during high-risk windows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54864" cy="4572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34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0632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risk assessment using location &amp; weather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54864" cy="4572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Planners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road infrastructure at accident-prone areas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54864" cy="4572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14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43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ML models for accident prediction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1051560"/>
            <a:ext cx="43891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1051560"/>
            <a:ext cx="4389120" cy="41148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1051560"/>
            <a:ext cx="4297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7B1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53712" y="1645920"/>
            <a:ext cx="228600" cy="228600"/>
          </a:xfrm>
          <a:prstGeom prst="ellipse">
            <a:avLst/>
          </a:prstGeom>
          <a:solidFill>
            <a:srgbClr val="D7B119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Hotspot Identification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18105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CA: 113K · FL: 57K · TX: 37K accidents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53712" y="2286000"/>
            <a:ext cx="228600" cy="228600"/>
          </a:xfrm>
          <a:prstGeom prst="ellipse">
            <a:avLst/>
          </a:prstGeom>
          <a:solidFill>
            <a:srgbClr val="D7B119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24505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pages, filterable by Year/State/Severity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53712" y="2926080"/>
            <a:ext cx="228600" cy="228600"/>
          </a:xfrm>
          <a:prstGeom prst="ellipse">
            <a:avLst/>
          </a:prstGeom>
          <a:solidFill>
            <a:srgbClr val="D7B119"/>
          </a:solidFill>
          <a:ln/>
        </p:spPr>
      </p:sp>
      <p:sp>
        <p:nvSpPr>
          <p:cNvPr id="33" name="Text 31"/>
          <p:cNvSpPr/>
          <p:nvPr/>
        </p:nvSpPr>
        <p:spPr>
          <a:xfrm>
            <a:off x="4864608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Severity Prediction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64608" y="30906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V4, ROC-AUC 0.746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53712" y="3566160"/>
            <a:ext cx="228600" cy="228600"/>
          </a:xfrm>
          <a:prstGeom prst="ellipse">
            <a:avLst/>
          </a:prstGeom>
          <a:solidFill>
            <a:srgbClr val="D7B119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Prophet Forecast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64608" y="37307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124K predicted, Dec peak at 14,415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53712" y="4206240"/>
            <a:ext cx="228600" cy="228600"/>
          </a:xfrm>
          <a:prstGeom prst="ellipse">
            <a:avLst/>
          </a:prstGeom>
          <a:solidFill>
            <a:srgbClr val="D7B119"/>
          </a:solidFill>
          <a:ln/>
        </p:spPr>
      </p:sp>
      <p:sp>
        <p:nvSpPr>
          <p:cNvPr id="39" name="Text 37"/>
          <p:cNvSpPr/>
          <p:nvPr/>
        </p:nvSpPr>
        <p:spPr>
          <a:xfrm>
            <a:off x="4864608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Time Pattern Analysis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64608" y="43708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94.75% accidents in normal weather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42" name="Text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Structure &amp; Star Schema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474720" cy="3794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ar-EG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0020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0391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00200" y="20391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5694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00200" y="25694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0998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00200" y="3099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3630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00200" y="3630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4160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0020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1051560"/>
            <a:ext cx="4937760" cy="3794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77640" y="1078992"/>
            <a:ext cx="4846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2194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69080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20840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69080" y="2514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20840" y="2514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69080" y="35204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35204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0" y="35204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  <p:pic>
        <p:nvPicPr>
          <p:cNvPr id="44" name="Picture 43" descr="A diagram of a step  Description automatically generated">
            <a:extLst>
              <a:ext uri="{FF2B5EF4-FFF2-40B4-BE49-F238E27FC236}">
                <a16:creationId xmlns:a16="http://schemas.microsoft.com/office/drawing/2014/main" id="{61610F62-F92B-4DB8-B8BA-525AE8A4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96" y="868680"/>
            <a:ext cx="3655784" cy="4274820"/>
          </a:xfrm>
          <a:prstGeom prst="rect">
            <a:avLst/>
          </a:prstGeom>
        </p:spPr>
      </p:pic>
      <p:pic>
        <p:nvPicPr>
          <p:cNvPr id="48" name="Picture 47" descr="A diagram of a road schema  Description automatically generated">
            <a:extLst>
              <a:ext uri="{FF2B5EF4-FFF2-40B4-BE49-F238E27FC236}">
                <a16:creationId xmlns:a16="http://schemas.microsoft.com/office/drawing/2014/main" id="{0B47AD9B-0D89-464F-9381-4653DBE3E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717" y="914400"/>
            <a:ext cx="5185442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206240" cy="411480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&amp; Infrastructure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Microsoft Fabric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164592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OneLake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Lakehouse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217627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SQL Endpoint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4206240" cy="41148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Programming &amp; Processing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164592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64592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Pandas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17627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NumPy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217627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SparkSQL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017520"/>
            <a:ext cx="4206240" cy="411480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566160"/>
            <a:ext cx="11277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56616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Scikit-learn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22120" y="3566160"/>
            <a:ext cx="11277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33" name="Text 31"/>
          <p:cNvSpPr/>
          <p:nvPr/>
        </p:nvSpPr>
        <p:spPr>
          <a:xfrm>
            <a:off x="1722120" y="356616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XGBoost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32760" y="3566160"/>
            <a:ext cx="11277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35" name="Text 33"/>
          <p:cNvSpPr/>
          <p:nvPr/>
        </p:nvSpPr>
        <p:spPr>
          <a:xfrm>
            <a:off x="3032760" y="356616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LightGBM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4096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CatBoost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77440" y="4096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39" name="Text 37"/>
          <p:cNvSpPr/>
          <p:nvPr/>
        </p:nvSpPr>
        <p:spPr>
          <a:xfrm>
            <a:off x="237744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Prophet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0175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017520"/>
            <a:ext cx="4206240" cy="4114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 &amp; UI/UX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92040" y="356616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566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Power BI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0" y="356616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0" y="3566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Figma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4096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Matplotlib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58000" y="4096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Seaborn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52" name="Text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Insights: Overview &amp; Time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65960" cy="1005840"/>
          </a:xfrm>
          <a:prstGeom prst="rect">
            <a:avLst/>
          </a:prstGeom>
          <a:solidFill>
            <a:srgbClr val="04795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2412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65960" cy="1005840"/>
          </a:xfrm>
          <a:prstGeom prst="rect">
            <a:avLst/>
          </a:prstGeom>
          <a:solidFill>
            <a:srgbClr val="D7B119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2412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19.52%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65960" cy="1005840"/>
          </a:xfrm>
          <a:prstGeom prst="rect">
            <a:avLst/>
          </a:prstGeom>
          <a:solidFill>
            <a:srgbClr val="336EA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2412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Hour Accidents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1005840"/>
            <a:ext cx="1965960" cy="1005840"/>
          </a:xfrm>
          <a:prstGeom prst="rect">
            <a:avLst/>
          </a:prstGeom>
          <a:solidFill>
            <a:srgbClr val="0FAB7D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02412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Impact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48840"/>
            <a:ext cx="41148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48840"/>
            <a:ext cx="4114800" cy="384048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148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 Time Analysis Insights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the peak day (89K accidents)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971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is the highest-risk month (54,589 accidents)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337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commute (7–9 AM) &amp; evening (3–6 PM) spike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202K rush hour accidents — biggest risk window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069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 weekend accidents tracked separately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434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grew from 27K (2016) to 114K (2022) peak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148840"/>
            <a:ext cx="41148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148840"/>
            <a:ext cx="4114800" cy="384048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148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1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Overview KPI Insights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accident records from 49 US states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2971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Severity: 2.50 across all accidents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3337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accident duration: 421.9 minutes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19.52% classified as High Severity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4069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Moderate Impact, 17% High, 3% Critical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4434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accidents (275K) &gt;&gt; Nighttime in Moderate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Insights: Weather &amp; Geography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D7B119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2412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Counterintuitive Finding: 94.75% of accidents occur in NORMAL weather (Fair, Cloudy, Clear) — not storms!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4114800" cy="3017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83080"/>
            <a:ext cx="4114800" cy="384048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83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🌤 Weather Insights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2402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177K accidents in 'Fair' weather — highest category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6243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Cloudy: 65K · Cloudy: 53K · Clear: 52K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0083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 = only 5% of accidents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3924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 accidents tend to be MORE severe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7764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visibility: elevated rain, snow &amp; fog counts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41605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visibility (428K) dominates total accident volume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4114800" cy="3017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783080"/>
            <a:ext cx="4114800" cy="384048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783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📍 Geography Insights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22402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California: 113K (22.6% of all accidents)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6243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Florida: 57K · Texas: 37K (top 3 states)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0083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leads all cities with ~12,100 accidents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33924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Houston: 11K · Los Angeles: 10.3K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7764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Interstate I-95 North = most accident-prone road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41605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&amp; Dallas also in top 20 high-accident cities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Insights: Road Infrastructure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280160"/>
          </a:xfrm>
          <a:prstGeom prst="rect">
            <a:avLst/>
          </a:prstGeom>
          <a:solidFill>
            <a:srgbClr val="336EA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Traffic Signal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20299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road feature in accidents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1280160"/>
          </a:xfrm>
          <a:prstGeom prst="rect">
            <a:avLst/>
          </a:prstGeom>
          <a:solidFill>
            <a:srgbClr val="D7B119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73552" y="20299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highest volume road feature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1280160"/>
          </a:xfrm>
          <a:prstGeom prst="rect">
            <a:avLst/>
          </a:prstGeom>
          <a:solidFill>
            <a:srgbClr val="04795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99632" y="20299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Critical/High Impact rate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8595360" cy="594360"/>
          </a:xfrm>
          <a:prstGeom prst="rect">
            <a:avLst/>
          </a:prstGeom>
          <a:solidFill>
            <a:srgbClr val="0D1F2D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487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Critical Finding: 70% of all accidents occur where ZERO road features are present — open road segments are the highest-risk zones!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182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 Feature Impact on Severity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= highest Critical Impact rate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3867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 of accidents NOT at junctions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" y="4169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 at junctions → but more severe outcome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" y="4471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accidents: 65,291 Moderate Impact cases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1546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182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Actionable Recommendations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signals/crossings on open road segments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64608" y="3867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enforcement at known junction hotspots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4169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emergency services during Friday rush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4471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winter safety campaigns on Dec–Jan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 Results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303520" cy="26883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FA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V4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FA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FA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 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 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108960" cy="3794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108960" cy="41148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005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CatBoost?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33872" y="148132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0.746 = genuinely separates High vs Low Risk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33872" y="2011680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LightGBM's 78.62% accuracy is misleading — it just predicts majority class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33872" y="2542032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ROC-AUC = 0.50 → random performance</a:t>
            </a:r>
            <a:endParaRPr lang="en-US" sz="1050" dirty="0"/>
          </a:p>
        </p:txBody>
      </p:sp>
      <p:sp>
        <p:nvSpPr>
          <p:cNvPr id="5" name="Text 9"/>
          <p:cNvSpPr/>
          <p:nvPr/>
        </p:nvSpPr>
        <p:spPr>
          <a:xfrm>
            <a:off x="5833872" y="3072384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threshold tuned to 0.5034 for best precision/recall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33872" y="3602736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High Risk + 637 Low Risk out of 1,000 records (36.3% High Risk rate)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33872" y="413308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Distance, Wind Speed, Year, Temperature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3703320"/>
            <a:ext cx="530352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5760" y="37307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B1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Predictive Features: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408736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(mi)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572768" y="4114800"/>
            <a:ext cx="2286000" cy="118872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9" name="Text 16"/>
          <p:cNvSpPr/>
          <p:nvPr/>
        </p:nvSpPr>
        <p:spPr>
          <a:xfrm>
            <a:off x="3904488" y="40873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4,300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425196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572768" y="4279392"/>
            <a:ext cx="2073349" cy="118872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2" name="Text 19"/>
          <p:cNvSpPr/>
          <p:nvPr/>
        </p:nvSpPr>
        <p:spPr>
          <a:xfrm>
            <a:off x="3691837" y="4251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41655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572768" y="4443984"/>
            <a:ext cx="1807535" cy="118872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5" name="Text 22"/>
          <p:cNvSpPr/>
          <p:nvPr/>
        </p:nvSpPr>
        <p:spPr>
          <a:xfrm>
            <a:off x="3426023" y="44165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" y="458114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572768" y="4608576"/>
            <a:ext cx="1594884" cy="118872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8" name="Text 25"/>
          <p:cNvSpPr/>
          <p:nvPr/>
        </p:nvSpPr>
        <p:spPr>
          <a:xfrm>
            <a:off x="3213372" y="458114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Forecast &amp; ML Predictions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65960" cy="1005840"/>
          </a:xfrm>
          <a:prstGeom prst="rect">
            <a:avLst/>
          </a:prstGeom>
          <a:solidFill>
            <a:srgbClr val="0D1F2D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124K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(12 months)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65960" cy="1005840"/>
          </a:xfrm>
          <a:prstGeom prst="rect">
            <a:avLst/>
          </a:prstGeom>
          <a:solidFill>
            <a:srgbClr val="336EA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14,415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Peak (highest month)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65960" cy="1005840"/>
          </a:xfrm>
          <a:prstGeom prst="rect">
            <a:avLst/>
          </a:prstGeom>
          <a:solidFill>
            <a:srgbClr val="04795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6,731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5727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(lowest month)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0" y="1005840"/>
            <a:ext cx="1965960" cy="1005840"/>
          </a:xfrm>
          <a:prstGeom prst="rect">
            <a:avLst/>
          </a:prstGeom>
          <a:solidFill>
            <a:srgbClr val="D7B119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0" y="15727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vs Summer</a:t>
            </a:r>
            <a:endParaRPr lang="en-US" sz="9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74320" y="210312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760720" y="2103120"/>
            <a:ext cx="3108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2103120"/>
            <a:ext cx="3108960" cy="41148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20" name="Text 17"/>
          <p:cNvSpPr/>
          <p:nvPr/>
        </p:nvSpPr>
        <p:spPr>
          <a:xfrm>
            <a:off x="580644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Predictions (1,000 records)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06440" y="2606040"/>
            <a:ext cx="3017520" cy="365760"/>
          </a:xfrm>
          <a:prstGeom prst="rect">
            <a:avLst/>
          </a:prstGeom>
          <a:solidFill>
            <a:srgbClr val="F4F9F7"/>
          </a:solidFill>
          <a:ln/>
        </p:spPr>
      </p:sp>
      <p:sp>
        <p:nvSpPr>
          <p:cNvPr id="22" name="Shape 19"/>
          <p:cNvSpPr/>
          <p:nvPr/>
        </p:nvSpPr>
        <p:spPr>
          <a:xfrm>
            <a:off x="5806440" y="2606040"/>
            <a:ext cx="91440" cy="365760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23" name="Text 20"/>
          <p:cNvSpPr/>
          <p:nvPr/>
        </p:nvSpPr>
        <p:spPr>
          <a:xfrm>
            <a:off x="5961888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(3–4)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516368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records (36.3%)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806440" y="3044952"/>
            <a:ext cx="3017520" cy="365760"/>
          </a:xfrm>
          <a:prstGeom prst="rect">
            <a:avLst/>
          </a:prstGeom>
          <a:solidFill>
            <a:srgbClr val="F4F9F7"/>
          </a:solidFill>
          <a:ln/>
        </p:spPr>
      </p:sp>
      <p:sp>
        <p:nvSpPr>
          <p:cNvPr id="26" name="Shape 23"/>
          <p:cNvSpPr/>
          <p:nvPr/>
        </p:nvSpPr>
        <p:spPr>
          <a:xfrm>
            <a:off x="5806440" y="3044952"/>
            <a:ext cx="91440" cy="36576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7" name="Text 24"/>
          <p:cNvSpPr/>
          <p:nvPr/>
        </p:nvSpPr>
        <p:spPr>
          <a:xfrm>
            <a:off x="5961888" y="30449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(1–2)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516368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 records (63.7%)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06440" y="3483864"/>
            <a:ext cx="3017520" cy="365760"/>
          </a:xfrm>
          <a:prstGeom prst="rect">
            <a:avLst/>
          </a:prstGeom>
          <a:solidFill>
            <a:srgbClr val="F4F9F7"/>
          </a:solidFill>
          <a:ln/>
        </p:spPr>
      </p:sp>
      <p:sp>
        <p:nvSpPr>
          <p:cNvPr id="30" name="Shape 27"/>
          <p:cNvSpPr/>
          <p:nvPr/>
        </p:nvSpPr>
        <p:spPr>
          <a:xfrm>
            <a:off x="5806440" y="3483864"/>
            <a:ext cx="91440" cy="365760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31" name="Text 28"/>
          <p:cNvSpPr/>
          <p:nvPr/>
        </p:nvSpPr>
        <p:spPr>
          <a:xfrm>
            <a:off x="5961888" y="34838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Score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516368" y="3483864"/>
            <a:ext cx="1280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06440" y="3922776"/>
            <a:ext cx="3017520" cy="365760"/>
          </a:xfrm>
          <a:prstGeom prst="rect">
            <a:avLst/>
          </a:prstGeom>
          <a:solidFill>
            <a:srgbClr val="F4F9F7"/>
          </a:solidFill>
          <a:ln/>
        </p:spPr>
      </p:sp>
      <p:sp>
        <p:nvSpPr>
          <p:cNvPr id="34" name="Shape 31"/>
          <p:cNvSpPr/>
          <p:nvPr/>
        </p:nvSpPr>
        <p:spPr>
          <a:xfrm>
            <a:off x="5806440" y="3922776"/>
            <a:ext cx="91440" cy="36576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5" name="Text 32"/>
          <p:cNvSpPr/>
          <p:nvPr/>
        </p:nvSpPr>
        <p:spPr>
          <a:xfrm>
            <a:off x="5961888" y="39227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516368" y="3922776"/>
            <a:ext cx="1280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0.5034 (optimized)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06440" y="4361688"/>
            <a:ext cx="3017520" cy="365760"/>
          </a:xfrm>
          <a:prstGeom prst="rect">
            <a:avLst/>
          </a:prstGeom>
          <a:solidFill>
            <a:srgbClr val="F4F9F7"/>
          </a:solidFill>
          <a:ln/>
        </p:spPr>
      </p:sp>
      <p:sp>
        <p:nvSpPr>
          <p:cNvPr id="38" name="Shape 35"/>
          <p:cNvSpPr/>
          <p:nvPr/>
        </p:nvSpPr>
        <p:spPr>
          <a:xfrm>
            <a:off x="5806440" y="4361688"/>
            <a:ext cx="91440" cy="36576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39" name="Text 36"/>
          <p:cNvSpPr/>
          <p:nvPr/>
        </p:nvSpPr>
        <p:spPr>
          <a:xfrm>
            <a:off x="5961888" y="43616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ROC-AUC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516368" y="4361688"/>
            <a:ext cx="1280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0.746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42" name="Text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Deliverables &amp; Reports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09728" cy="109728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441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1430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8-Page Power BI 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8992" y="15087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filterable by Year, State, Severity, Weather, Rush Hour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109728" cy="1097280"/>
          </a:xfrm>
          <a:prstGeom prst="rect">
            <a:avLst/>
          </a:prstGeom>
          <a:solidFill>
            <a:srgbClr val="0FAB7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34416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11430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CatBoost ML Model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59552" y="15087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severity classifier, ROC-AUC 0.746, threshold 0.5034, 20 features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33172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331720"/>
            <a:ext cx="109728" cy="1097280"/>
          </a:xfrm>
          <a:prstGeom prst="rect">
            <a:avLst/>
          </a:prstGeom>
          <a:solidFill>
            <a:srgbClr val="D7B11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62432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8992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Forecast Model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78992" y="278892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accident volume forecast with 95% confidence intervals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233172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331720"/>
            <a:ext cx="109728" cy="1097280"/>
          </a:xfrm>
          <a:prstGeom prst="rect">
            <a:avLst/>
          </a:prstGeom>
          <a:solidFill>
            <a:srgbClr val="04795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624328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59552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Medallion Data Pipeline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59552" y="278892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Bronze→Silver→Gold→ML pipeline on Microsoft Fabric with cross-layer validation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74320" y="361188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3611880"/>
            <a:ext cx="109728" cy="109728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904488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78992" y="37033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Documentation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78992" y="406908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report (23 pages), architecture diagrams, data dictionary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754880" y="361188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611880"/>
            <a:ext cx="109728" cy="1097280"/>
          </a:xfrm>
          <a:prstGeom prst="rect">
            <a:avLst/>
          </a:prstGeom>
          <a:solidFill>
            <a:srgbClr val="D7B119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904488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59552" y="37033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Figma UI/UX Design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559552" y="406908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wireframe of dashboard — navy + orange palette, validated before BI build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6" name="Text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>
                <a:extLst>
                  <a:ext uri="{FF2B5EF4-FFF2-40B4-BE49-F238E27FC236}">
                    <a16:creationId xmlns:a16="http://schemas.microsoft.com/office/drawing/2014/main" id="{1571F995-B563-3B4E-3235-05A5EB0F75D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-142875"/>
              <a:ext cx="9144000" cy="542925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>
                <a:extLst>
                  <a:ext uri="{FF2B5EF4-FFF2-40B4-BE49-F238E27FC236}">
                    <a16:creationId xmlns:a16="http://schemas.microsoft.com/office/drawing/2014/main" id="{1571F995-B563-3B4E-3235-05A5EB0F75D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42875"/>
                <a:ext cx="9144000" cy="54292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107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Team &amp; Roles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697480" cy="109728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61872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Ismail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Mohamed Hassan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2148840" cy="45720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8163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| Machine Learning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97280"/>
            <a:ext cx="2697480" cy="109728"/>
          </a:xfrm>
          <a:prstGeom prst="rect">
            <a:avLst/>
          </a:prstGeom>
          <a:solidFill>
            <a:srgbClr val="0FAB7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261872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Nesma Hamza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Shaimaa Khadary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474720" y="2724912"/>
            <a:ext cx="2148840" cy="4572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6" name="Text 12"/>
          <p:cNvSpPr/>
          <p:nvPr/>
        </p:nvSpPr>
        <p:spPr>
          <a:xfrm>
            <a:off x="3291840" y="28163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| BI Development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09728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097280"/>
            <a:ext cx="2697480" cy="109728"/>
          </a:xfrm>
          <a:prstGeom prst="rect">
            <a:avLst/>
          </a:prstGeom>
          <a:solidFill>
            <a:srgbClr val="D7B119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261872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Rawan Aly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Nourhan Ayman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0" y="2724912"/>
            <a:ext cx="2148840" cy="45720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22" name="Text 17"/>
          <p:cNvSpPr/>
          <p:nvPr/>
        </p:nvSpPr>
        <p:spPr>
          <a:xfrm>
            <a:off x="6217920" y="28163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| Methodology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371600" y="3794760"/>
            <a:ext cx="6400800" cy="1005840"/>
          </a:xfrm>
          <a:prstGeom prst="rect">
            <a:avLst/>
          </a:prstGeom>
          <a:solidFill>
            <a:srgbClr val="0D1F2D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371600" y="3794760"/>
            <a:ext cx="6400800" cy="9144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25" name="Text 20"/>
          <p:cNvSpPr/>
          <p:nvPr/>
        </p:nvSpPr>
        <p:spPr>
          <a:xfrm>
            <a:off x="1417320" y="391363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Mentor:  Mohamed Alemam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417320" y="431596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Mentor — DEPI Graduation 2026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28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4795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86135" y="2286000"/>
            <a:ext cx="3200400" cy="3200400"/>
          </a:xfrm>
          <a:prstGeom prst="ellipse">
            <a:avLst/>
          </a:prstGeom>
          <a:solidFill>
            <a:srgbClr val="336EA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FA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377440"/>
            <a:ext cx="3657600" cy="64008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606040"/>
            <a:ext cx="1874520" cy="1051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243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06040" y="2606040"/>
            <a:ext cx="1874520" cy="1051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26243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0604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606040"/>
            <a:ext cx="1874520" cy="1051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6243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0.746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03720" y="2606040"/>
            <a:ext cx="1874520" cy="1051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26243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124K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0372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Forecast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7947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Road Accidents Analysis &amp; Prediction  ·  DEPI Graduation Project  ·  May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Mohammed Ismail · Mohamed Hassan · Nesma Hamza · Shaimaa Khadary · Rawan Aly · Nourhan Ayman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Mohamed Alemam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eyouth  ·  DEPI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82E52E3A-7E4C-431A-A2B2-DCAD071A5796}">
  <we:reference id="wa200003233" version="2.0.0.3" store="en-001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1Z227USBD9lcirFS+jVd8vvJEEaR9ghTYIabWKUHV3dTA49sj2hIRo/p2yPYQkhEyYEEiWfZpxdfv0qTrV1dUzp0Uqu3kFJ3/BIRaPi+2meXcI7bstXsyKerIZKaz11oJ20XBvMaKk0Wbel03dFY9Pix7aA+xfld0CqgGIjP/uzwqoqhdwMDxlqDqcFXNsu6aGqvyA02Qa6tsFLmcFHs+rpoUBcq+HHgfYI5pOz0SB/zGsCLEvj3APYz9ZbeJRe2BWmmyAOeuip2ndNGFkduWUAXpcfqepeyhrWmawJak5F0GillaDY5JpPdi7sj6oVoQ/v/vyZD4Ep8fjPjTHQzzCW1p4QFouySGDMhqIyQOIaJiDaOxatPKQ4vUlVgIlvQVyIaDkBpLOeXNmGKzIwjCjsxQqGgEahrdzWfWrUISTp8fzllQkbSe0HdLkoGnLSCuNarXYTeKcFjtNtTgcvz29YN9rFm3Ev3Hk+rTuy/6EkHbLw9fPmjhKXQx8XrQNJcY4Nkk/GN8073dapKdUPGbL2RmPJ+kI6kjWyySeI3SLFm/K4rfV/O4yhSdHB1t7SKk3zPupTF42PVRbT2IsE9Z9dwWZfbJcmwPwgYCfw/xiEnzaSbTW23N7ZSXxySj799d0f0w+xZJNGb1SDALaKHhen3z3INSzO9oJF1LtfNRW9tfPKEzVJtqnpl70O2+g7S+r37QJ2+1J592y/VRPxewS67uL7nL/bnLwxtGckjEE551iQRsjdLRRySR/cCV8+b6syoM3/ReMF3VbdviaPjvs73sheni7I1aLjjTGNJH6xfbJjbNu2icCTbQGQmAgrDMqrTqj/zuG73ROn2XjNrS/WCrerG3IPgnnpJOCR2apo5ZqfaX+qvLfznL3U5adY/gPQruJ2F1VRmwvKFwcIt2gxksI9DD6MJ8WKnEab9I4jKOLp8WzktyesF9BtRhgH+3SG6l5Xz8a1BoD9xXFxje6DfW6JhKTVNbR5UL4kLVNzkdSTPF7Xiz+45LdbIs54D6plJnz1nCwnHvzg3W7u+P+YQv4jW0tWGGyYIoZKb0xWnqWHsIda/0xCW1aDd3D83GYwkV2OliO2fAoZPJ0rRgQN/nVR5ioWaKbiRAsJdqQWbpNsRxEC2gkV8EGMFwG5jfFUtxyzTglFVPacPQM1aZYHJII0msBjgsZhQ5ufdH52b8BPaA8veTJlKRWMKOkkUoZDZnaeq3Y/Qj67qL9fFI96KCf82QKenZBG0uNkZQuIrfJhnsQ9D/pFniWIFu/P+y4f+nMFHrqQLVgLhsqpyhilhFhbcGCke32ou+JyxV1i7tsg+c5R+2YEGjTLSFldoJyItqoOZgoFNPrS/T1kOgdB5UtVengM+fglLklpBGcM8+1lEJlrwN1GOv/JLkekmCsigwt88kMlwYW5C0hYwyANlih0NP5aeiI4reEhOSoJQ4uicgF8GS5u53jI+pV7Wiz6Ls5RHwBNV7RllIhgDphWtOajn+5nXWly+VH0mqT3OobAAA=&quot;"/>
    <we:property name="creatorSessionId" value="&quot;b531b055-ed4a-478c-994f-346f6db21866&quot;"/>
    <we:property name="creatorTenantId" value="&quot;67263e4a-e606-42d5-98af-f83e9ec33744&quot;"/>
    <we:property name="creatorUserId" value="&quot;10032005AD96F082&quot;"/>
    <we:property name="datasetId" value="&quot;43b727a1-0f9f-4b3a-89ea-f0e2aaf2422c&quot;"/>
    <we:property name="design" value="{&quot;border&quot;:{&quot;isActive&quot;:false,&quot;color&quot;:&quot;#808080&quot;,&quot;width&quot;:1,&quot;transparency&quot;:0,&quot;dash&quot;:&quot;solid&quot;}}"/>
    <we:property name="embedUrl" value="&quot;/reportEmbed?reportId=3f0e59db-087b-4c50-bfc0-4a2f1c2db671&amp;groupId=5b47baac-8c3b-4e7d-8e8b-4f31903245e1&amp;w=2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initialStateBookmark" value="&quot;H4sIAAAAAAAAA6WUy27bMBBFf6Xg2ij4fmSXFF2leaApsgmCYEgOXTWyJEh04NTwv5dUDGSRIgbsjUgOh+cOr4jZkthMQwuv17BCckYu+v55BePzF0YWpNvHbm4ur85/Xj5dn199L+F+yE3fTeRsSzKMS8z3zbSGthJK8OFxQaBtb2FZVwnaCRdkwHHqO2ibv/iWXLbyuMbdguBmaPsRKvIuQ8aKfSnpZV202VdRFCHk5gXvMOR9lEOygXPrbUpJBgbMl7TpLWGu7L8pFT3Lf+u7DE1XZGoM0HnOeIxeWmeCtzbQGp+abtnuC34/++t1qK5k3GTfb6of/k8RrqTdrlwopCR4AhFc0FZZBJrC8TSqJRUoo6SKogCunPAHaTD7cLHOudj1AWmjEyAttVJQpYWVlLGDyOk3lPHjZYM3njEHQhstVLE84LGsaJSRMSFIGY0RoL3QxxunVNJSeJYCBK0AfRSHK/vcOODGWqFcikxoKiD4dNi4z5GO6ZACRWVQcp2ENOhORJb3q8pjcQpAeceYkkadilRaU4daqQCKaeESM6d6aVj53zZiFK6gowCIJyK50JGDks6jV5xT6RFOQs7U9whZYel2ddKv8zRAwFvoyvphS4axLy0uNzjnlZYGXbnZfj7W8UeTcXzTv4d2XaXn3khmkVJS41s8cKB2TDKX9Vg//wDxtyZxvAUAAA==&quot;"/>
    <we:property name="isFiltersActionButtonVisible" value="true"/>
    <we:property name="isVisualContainerHeaderHidden" value="false"/>
    <we:property name="pageDisplayName" value="&quot;Overview&quot;"/>
    <we:property name="pageName" value="&quot;7d1c59a0736f6a0878c9&quot;"/>
    <we:property name="reportEmbeddedTime" value="&quot;2026-05-10T20:14:28.798Z&quot;"/>
    <we:property name="reportName" value="&quot;US Accident&quot;"/>
    <we:property name="reportState" value="&quot;CONNECTED&quot;"/>
    <we:property name="reportUrl" value="&quot;/links/wCZpZ_1Q86?ctid=67263e4a-e606-42d5-98af-f83e9ec33744&amp;bookmarkGuid=07d5e14b-b16c-4858-8542-2d07e17beb42&quot;"/>
    <we:property name="snapshot" value="&quot;data:image/png;base64,iVBORw0KGgoAAAANSUhEUgAABRQAAALPCAYAAAATuEyKAAAQAElEQVR4AexdB5wUxdN9vXs5k3NOSkYQRFERBTGjguEzZ8UcMaFgQlTMOecEf7OoKAhKzkFyDkc6wnGJS7v79eu92Ztd9vIdXKj9XU13V1end1M13TU9M44DqQc9QoJBTT4HLrz9TU/DAQ96Gp36kKfJqQ97Gp/2iJBgIOeAnANyDsg5IOeAnANyDsg5IOeAnAPV7RyQ8cg5LedAJT4Hfv7hf56q9HNAfoJADUfA43FDeVzweDxww1PD0ZDhCwKCgCAgCAgCgkDlQkB6IwgIAoKAICAICAKCQOVDQByKle9/Ij06zAh46Ex0a6eidieyaaUdiwyFBAFBQBAoNQJSUBAQBAQBQUAQEAQEAUFAEBAEBIFqjIA4FKvxP1eGVkwEtDMRHhfc2pHIXYrFLCVigoAgIAgIAoKAICAICAKCgCAgCAgCgoAgUAURkC6XHQFxKJYdQ6mhqiPgcesReKC0Q1FH5E8QEAQEAUFAEBAEBAFBQBAQBCofAtIjQUAQEAQEgUqEgDgUK9E/Q7pyZBDgrkQStEORTkV5j+KR+T9Iq4KAICAICALVEQEZkyAgCAgCVQsBJe9Ur1r/MOmtICAIHDEExKF4xKCXhisPAh4YZ6JMHirPv0R6cmQRkNYFAUFAEBAEBAFBQBAQBAQBQUAQEAQEgUIQEIdiIeBUpSzpa1kQ0A5FXZwPPutA/gQBQUAQEAQEAUFAEBAEBAFBQBAQBASBSouAdEwQqAwIiEOxMvwXpA9HFgGvP/HI9kFaFwQEgRqPwMejLkPin0/50cv3nG9w6d+9NRZ89YAvz+KbTDkIAoJAjUGAum/ZiU2/jcZDV52Kp4afZcIaA0LVHaj0XBA4bAhcfFp3rPlxpG/eMGHsNSDvnYcvOmx9CGyI9op2a9r7dwRmlTrNuiybaIWcL3HeVOpKS1CQuFrtMl6CoiIqCFQLBMShWC3+jTIIQUAQEAQEgaqOwNWjvsC6zbt9wxj/2wLc9eL3Jj118Qb0vPQ5k2/nm0w5VCACUrUgUHkQoDNx2Bk9QRvQZOCjuPqhTzB0cE9cfk7vQzr56ROXo6QL6tKUOaRhYQgCgsARR+DcEzriydvPwY6kA6CtILFTL44Yijrx0YxWKqKjkTdGStOpk69/Fa9//jdycl2m+KyF6818ifMmw6jgw+tfTcPOPSkV3IpULwhUXgTEoVh5/zfSM0FAECgNAlJGEKjCCLz59T9Iz8gyIzjx2HZ+DgFOuLOyc31ORiMkB0FAEKgxCPTo2MzYh1lLN5oxc8F879gJxmlgGHkHOh47tWuclypeUJoyxatZpAQBQeBwI9D96GaIjgrHohVbfU0PHfER6GzzMY5AZMwnk9HyjMdBJ6DVPG988MZITESYxSpTuG1XcpnKS2FBQBAoGQKVwqFYsi6LtCAgCAgCgoAgUD0R+OavxVi6apsZXMO6cRgyoJuJc8I9+MRO+OC7mSYtB0FAEKiZCNBJ8MB1g0CbQAToVFy7KX9nM288DBnYnVnFptKUKXblIigICAJHDAHaAuq31YEFK7YgIyvHSh7R0Gp89G1ng/MdKy2hICAIVC0ExKFYtf5f0ltBQBAQBASBao7A+D8XmV1IHKa1S5GORe40oMORfO4mst7ZY39XEJ0MTFt5DCeMvYZFzLuTrPcp8R1GrMNKD+7TwcjIQRAQBCovAr//u9w81sfF9xfPXwu+O4y9vfKxz8GdP3Qc3HTJSQgNcZoFOmWo/4XZhYLKsF7aCNoQ0oKvHvA5MZknJAgIApUXgUkzVprHcGkLbrv8FPMuRb4/kXaC9sLqeTAdt/Oo+7QhtBOcNzDNfJYnn2mSZYvYhjWvoDxlrfSfb90K8ijPeQrtEsu1bVGf1YGvc9g0cTS2/P6E772PzKcc5VmOaSNcyoO9Ltb38j3nG7tm1U8e+8txsC2mmcdyJMbJI7FsKbshxQSBaoWAo1qNpoyD+XHKEhx9/lMF0g16wpaRmW1a+fCHWYfI2fM9Hg8WLN8Cvt+my9BnjOxp17+CFz/+E7uSUjBv2SZ8PXGeqUsOgoAgIAgIAoKAhQCdhhOn/WeSdBw8fONg8FHHH/Q1ikxOYjnx5vsWL7v/Q7LAO/yM3HbpycaRwMeaXv/c+06hXl1bmg82sN6PvptpHBJcZJx5cmewHeu9QywvJAgIApUXAToDfvhzsa+DXIjbF7YbEvdi2epEk893etE+8DHHwuxCQWUKszOmATkIAoJApUVg9soteO6DSb6bk9zZzPcn0klmdbogHee7m/meVsrRjvAdgbQ9n/8817yrkPl0JvY9po15hPqesRPQqF48yCtsnrF87XbMX7qJ1Rrq1LYReJPEes0L22x55uN466tpZp5CPl8Dw13YfLXD5Fmr/B6VNpWU4ECH4Di+QzIh2oyD7XEHZ99urcD6OVZWx3kRx/H467+AbfL91eQHK0tHK/OEBIGajMARcSi63W4sXrQQy5YuQU5O5dl2fd6Ablj49QhcG/By67P6HmW+rvneE5cjKu/9DtcO6Wt4157dG60a1MIP426AlZ+b68Lb3/yLa0d9gfatGuDfj+7Gyu8fxTcvXK8NpBun3fI6eHcoIzu3Jp97MvZgCAhPEBAEBAGNAJ2H1uSW1xFOujmp1lnGuciQOxbJS0vPNJN53lGn84AvX2dIR0F2AdcZOhHpXOTCgO8z+n3OalYpJAgIApUcAeosdZw3FKyu8gYDnQNcBGcFeZyR9oBlGAbahYLK8CYG6w+0M41qxZAtJAgIApUcAep2+/OeBB1nVld5E8JyKhak45xLWHMQ3tTkExJ0xjVvWMvshGa8VfN6ek3rAh+h3rUnBakZWSCPeVZbgfMM2i4rj+HydTtAe8S4nei8pOORTtBhA3uYrGsvOB4r1+8w8dIe6Diso52Je5PTMWvJRuzam2Kq6tmxOTiX+nfeWpO2ngw57fijfW0WVtYUkoMgUBYEqnjZCnco0mE4beoUbNywwQdVeno6fvjfBHz+ycfI0HFfRiWIRIaHoneXln496di+ic+RaM+gc/GMk7rgpJ5t0aF1A1/W/P8244MfZqGzdibe9n/9kRAbafJoxEZcfzpevucCROt2DFMOgoAgIAgIAoJAAAJTF2/Axi1JhkunoDXp7t+9NWKiIwyfTgTuTuICISwsBK2b1DF8Huhc4G4ETsiZFhIEBIGqjUBsZBh+fvlG0AZwJPyoAXcgWjcerEUw8wqi4toFtlGQnYkKDyuoeuELAjUGgco+0JfuGmKeTGA/6cjjDQU+ucB0Cz1XeOOBoYXOJTgHsRxsdDzSobZl534WR4O6cYiNCjevVuDj1Hy1Ah2P5DHPCJXxYL36petRTXHLhceb2uhoNJFSHhrUiTN9Zl/ZZ/adT2vUqxNrarScqFyvc7x0oNLxyMyiylJGSBCoqQhUuEMx5UAKXh03Dl989ikyMtINzg4F7N+3DyuXL0dWtvcRYpNRBQ8OpaD//HrO91ak6zvEfOzZ5fb45TExoG8HXDzIe8eFaSFBQBAQBAQBQaCkCHBxwEUCibsMOdnm4zd8RxEXAPeMneB73KmkdYu8IFDNEKgWw2ncIMH3oSYOiIt++2ON5AWjstiFQDuzfue+YE0ITxAQBCoRAuHhoeCH3Oxd4g5l+85mKy9QxzmXYN6spRvNHKJRvXhwF9+yNd7XKTDPIu5+5ByExN2Q3BVp5ZUlZD38QB1vil4/tJ9vp2Bp6/z0icvRqV1jU5yPUnN+xD6TTr7+VcOnPeWNXDoZT+nTAQczs83ORZOZdyiobF62BIJAjUSgwh2KkZERaNK0GebMmoFZM2YYkCOjohEWHo4DB5LhcbkNrzodclwuM5ylG3bhzS+n4qB2LhpG3kEphbNO6grebc5jSSAICAKCgCDgh4AkLATsuw+tCS/zeOeejyYxPunN4WY3AhcQnAwn7U1F366twMk484UEAUGgeiDAncl8V5k1GkvPuZuI9mHbrmQrC5ee2QvclViUXQgsw0ccubBmRYF2pk3D2mQLCQKCQCVHgE8v8CMi3HHMrnK+QOfg5sS9uPW5Cb6nIAJ1nDcgKE+n3o6kA755BNN2PuPWzmi2wUep2Qb5xSXrcWnKR0aE+u3C5uPUfGyaedZOQcaLoqb6xotdhjbwuG6tsHjVNuMg5bzIepSaY+X8yZK32mzZpA6mzF1jsWE5Vwsr6xOWiCBQwxCocIdiRGQkLrvqKuzbuw9/TvoD+/fvh8PhQGxMLDIzM5GZnekHOXf1HTyYgfT0NDDul1lFErFREaanLrcbn/+xABfe+S4m/bsCubleRyMzO7ZtiGGn92S0+pCMRBAQBAQBQaDMCHBCzq8M8oXnrIwOQj6aM2HsNUyCuwy4o4ATWz7WzMeeV6zbYd5tREcihVi2T/dWvq88Dh3cEyOvG4RrLjjePPLDOsnjIoDyQoKAIFD5EeD7Urmzhj2l3pP4UYHXP/8bfKyRfGvhy8f6jmrd0PALswu0AcHKFGRnZIciURYSBCo/Atw9OOH3Bfh4zFXmq8mcL3DXn7UjryAdt3YocoR8fzN35dHRxrRFrIO7HWln+Pgw26As8wuaZ9B5x4/EUYbl+DE53gSxbl6cfmInzFy03rcrkP2g89O6WcJywYiOTM6ROK9hPuc/tI0W8SZMakYWfp22DCNf+9k4FS0ZzoOeefd3FjNktUlHquVAZQbjBZW1PnpFOdbbs30TRmsOyUhrPALl7lB0uVxwaccZP7xCdOk8bN++AwYOOh1LFy/C9H+mGUdhQkICwsLCkZqSYtKU3bdvH559+ikMOPEEDDz5RFx7xWX4+IP3sG7dWmRnZ8Oqk7KVmS4c1AONbS+t3rhrP+588TsMvul1fP/X4kN2LFbmsUjfBAFBQBAQBA4vApy48tEhPopjJ07+rZ4wbs+znAl2ft8rX0TPS58D5Rg++cEk2Oslj5N5q04JBQFBoPIikHow23zhlPbBrufW6w6snjPf0nMu+sm3ywfaBdqAYGUCy9GOWHaGeUJVFwHpefVHYPjY8eZmAh1ktBHUXxJtgX30TJNvUaCOszztCUN7OcZpX6xybIMydlvCPPs8g/mUI5/E8qzH6gPzKEOeRas27DS7A610sJD1sL7CyOpHYf2z6mZ9JCtthQWVtfpvtb8gyKPhVh0SCgJHFIGMJGzdmeXtgisFSduS4L+1z5tV0mO5OhS5o/Ct117FNVf8Hyb+8jP279sPOhjjtfPwrHPPgys3F/9Mm4rt2xMx6IyzcMvtt6N5i5ZQSpmPs3z43tsY/83XOOgKQ4Y7AkuWrcSrr7yGi84fgkuHXoD333kb2XnOysyDB42TsaQDPhzybZrXw6jhZ6FWjHenotVm4r5UPPzGL7jk3g/w39qyfanKqlNCQUAQEAQEAUFAEKjWCMjgBAFBQBAQBASBao9A/+6twce0+ZQGH1WOjAgDHXnVfuAyQEGgohHYOQvvDz8Hx932Bhbs3Iq/x16LqBWMyAAAEABJREFUQRfeg8825DkYy9B+uToUlVKoV7+++dDK06Mfx2OPPIj5c+fgQHIy2rRti4GDB2PpooVYMG8e2rZvh/+7/ErExcWZ7vP9ihO+HQ9XRD3k1ukKV+2OyK7dCTmxrQ1vw7a9eOfDrzFx2jLMX7QaX37+GaZNmQI+Hp2rHZV0MNJ5aSqrBIcTe7XD9y/eiDP7HgWnwx/mNYl7cO3jn2PKrNWVoKfSBUFAECh/BKRGQUAQEAQEAUFAEBAEBAFBQBAoLgLcMc1XO0RHhYPvZ/zwu5nFLSpygoAgUAACuVunYtyNl+HJ/9phxPC+2Dructz4cSK63PsQrmgdXkCp4rP9PV3FL1eg5LBLLsVDj47EGWedjc2bNuH+e+7CF599gpjYWPQfMBDNmrfAnqQkZGXmb7DcsnkTXn/1ZWS5QuCOqIOw5JWI2b8AUQdWwJm5F57wBOTGNkdWfHs88vLXuO3JT/H6O5/hnY++wU9/zsW06XPx3YTxmPLnJCxdsgQ7d+xATk5OgX0MmlEBzAb14vDC/Rfi+3HXoX+PNn6OxdSDWXjj62nYm5xeAS1LlYKAICAICAKCgCAgCAgCgoAgIAgIAoJA1UGAjxvz8WHrMeUK7blULghUcwRcm/7Aczdfi1f2DsDD44aj4Q93474fFc58/nO8e1FHRJTD+Mvdoch3JnbvcQweeOgR3H7XPTih34lI3p8MlysXHTsejeF33IkTTz4Z/FgL+5+Wmoq3Xn8NmzdvgTuqAZxZKWiQEAo+Ij102IXod+zRaJOQjei01QjZtwwhSYuRtW8dciPrY9VuN1764l888coXGPfqO3js0Ufx9BOj8MZrL5sdjLNmzEB6WiqbqVCKifb/V3z4vxnYn3LQtKmUQruWDfDWY5fip5dvQM92TWD9Vm/bg5Xr5dFnCw8JBQFBQBAQBAQBQUAQEAQEgYIQEL4gcDgQ8EAdjmakDUFAEBAEKgwB1/qf8PD1w/Fm6hl46rnLEfXlcDz0ZzzOf/UzjD2vTbk4E9n5cncoslISHYYDTz8d9414CNfecCMiI6MQFR2DY3r2Qrv2HeB0Os1HVn7+8Xv8PfkvuCLqA8qBGHUA/QeciltuvR133H2vLv8g7rr3Pgy/7Q4MOes0dGudgITcrXCmbERI2mZkbpuL/Xt2IjusLjLCm2DV9kz8/Pu/eO2VV/DyC89h4i+/lHi3YkRYKMJDnCjOL2l/ih5bmJ/otp3JWLFuux+PidbN6uGtUZfipG6tmYTL7TZkEnIQBAQBQUAQEASqHwIyIkFAEBAEBAFBQBAQBAQBQUAQOFwI7F+El++4C5+5zsPYd+5B859H4PGZzXDZq+/jycHNys2ZyOGU2KGYlpaKxMRtWL9+HQ5meB/Xdblc4GPLSxcvRmqqd0fgtm1bMePff7B61SqTN3/ObCxZvAirVqzApo0bkZSUhL+nTME3X36JTHcI3JF1EXpwu9nFeMHQi1Cnbl1ERESgZavWOPmUAbj8qqtx6+134v4HH8LDIx/DjTdcjZOOPQoNwlMRmroBIQd3Q2WnAm6Xdk7WRXZCZ6zdkqQdij9ho+4rB1tcqlcnFrVjI33ie/boen0p/8imxH1orx2Fdm6OxuPHKUuQm+uys008NioCF5/e08TjIsOREBdl4nIQBCoPAtITQUAQEAQEAUFAEBAEBAFBQBAQBAQBQUAQqHIIhMehecs4RO5cjqXrsxDXtBmiM9dj9optOHCoiwpA6UdYbIfiyuXL8cwTo3HPHbfj4fvvw+hHH8b4D14D1v6LpDk/45t3X8EzT47Gqt8+g2PZb/j0tefwwrNjND2D58Y8g2efeQpPj3ocox57BCMfegAj7rkTr4x7DonbE+Gq3QXOtK2oWysG/3fFleAHXPKH5DFRPkrND7506doNg04fjCuuusbsXhzz/At4+JEHcd6Zp6BVgwiEZu1ESMZ2IDcDuVENsWfPHmzdutXUUdxD84a10Ktjc5/40jWJSE71PsLsY+rI9t3JWLJ6K45u21in/P8mzlqFz36ag1y32z9Dp5KSvQ7K47u0RPuWDTRH/gQBQUAQEAQEAUFAEBAEBAFBQBAQBASBYiAgIoKAICAIFIRAVBsMG/Mlxgw4gP/dMxyfN7oX79zaAztevx7Dxk3FrqyCCpacXyyHYmLiNnz4/rv49acfsH35XDh3LEe9A6vQcsOvUJOeR/zst9ErbQ7OiN6ERqsnwDP1NZycswAnx+zECRE70CdsG7o7tuIo9yY0y1iHmD0rcXDTUiTv3AZXbi48OWlQOQfgdrmxetVKrFj+H/I/2qIOGZVyOMCPvDRv0RI9jumJs88dgjvvuQ+vvfUOXnvzLUSEuODQDko4o5Cr689ITz+kjsIYISFO3H3lqeic5+xbsDYRo1//GVt37IPH49F1ujBz4XqMfnMibhp2EurERx1SHR9nHvfFVNw/dgLWbt5tHIu5uS78MnUZXvlyKo5p1xgP3nA6IsNDDykrjOqBwDkndMTXY67Giu8ewbZJTyLxz6cMMb72p8fw19u34dah/arHYAsZRcfm9fHrKzcZDBZ/8yCuGNyzEGnJEgQEAUFAEBAEqicCMipBQBAQBAQBQUAQEAQOCwJxHXHR81/ghbM8+Omhh/BZ/Vvxzv3H4eB71+Oc5//A5nJyKhbpUKQD7a9JkzB3zixc2MqDZ06MxuDWYWgd78ScrSkYNWkzHp+8Hf9bmYLpiTl4YupuXP/DFny0OAX/JeVgTXIOEtPcSM32INSh0DzWiX5NQ3H7MZF4dUA06kc7EHpgDVwRDbFn7x589P77uOX66/B/Fw/F2Geewozp/yK9EIegUgrh4eGoVbs2mjZrjj7H9UVcXBwc7hzw53K5SvwORZZrVD8enz57NR7XTr/2TerirwXrMGj4m+g6bAwuvOs9rNmyG+NGXIgOrRtQ3I/iYyPw1ZirMf3ju9Ht6Ga469kJ6D7sWXS/eCze+uZf3HHpyXj/ySvQoG6cXzlJVA8Emuv/6xdPX4k3Rl6CE3u1RYjTge8mLcLA617F0ec9iSffmoik/Wk4Sp87D914Oqa9fwcG9mpXPQYfZBQXn3EMunRoAqUU6tWOwRXn9gkiJSxBoFIiIJ0SBAQBQUAQEAQEAUFAEBAEBAFBoOohENUGQ57+HG9c4MFfo+7Bu5HX4+1HByHsk1txzlM/lYtT0VEUKhs3rMc87Uysg3TEhTtw77QMPD8/C5+szMX4dW5M3OLBtO3AvCQnlu13Yqkmhv8lO0FavFc7HncrTNUyP2/y4LPVLry8KAe3T0nH/9Zm4bRmIXB6cuCJqIWM5uciLb4LUtyx2LhxK7756ivcfvNNOOPUU8yj1j9+/x2Sdu82DkKXdhTS2RnYf4fDgfj4+Dy2B24tl51dOvcrdw9ecuax+PH1m7FswsNY+f2jJmT66iF9ERMZnteOf3DfNYPQ/aimSIiNBOV+fWs4/vvfw4YYZ52sG/KrAASObJXcjff24/+Hk49tB6fTgYOZ2Xjti6m444XvsEI7oVMysvDO97Nw/cjPsW5zknGytW1RH2PvuwAXn9r9yHZeWhcEBIHDjsAp3VpCSDCQc+DIngOopL+jm9UV+yA2Us6BSnAOVFIT4dctuY60FF2pBLpyZM7DyvO/R2X8RTXD6aM/x3tX1MXsv9cjdthL+GrMOUiYPRVzk8re4UIdim63G0uXLsHqFctxfJNQTNmSg4MIx7XX34jHn3gKL776Ot796BN8/s14jP/hJ3z/y2/46bdJPvrh198M/4tvJ+D9Tz7DK2+8iSeefhZ33nsfuvc4Bn9uBdrUCkFMqIIzdRMczhC4Ejogu+kAZLU4G9kNTkBuXBukZDswddp0jH7scZw16DTcdO3V+ODdt7FwwXzs3rULqakpyM3JgdsD84uLy3Mo8vFkVy6ys727FU2mHASBCkTgsVvORNe83XhsZvbijXjt238Z9SM6F3+YsgRZ2bmG36BOLO6++lT0ObqZSVenwze/LcSy1YnmdQFJ+9LMu0Wr0/hkLIJAWRAYcmoX9OnaQkgwkHPgCJ0Dg/q2L4sKV3jZs0/uKOfGETo3xDZX4LWpCv1PlaPC1bxcGrj2/N5iK6rQeSX2pfrZl16dK/E6PrwZ+o/8Gas+vBzto8LRbOhL+OfPFzGsadnNT6Emcu/evVi2eAnCsg4YZ11athv9Tu6P62++BWedex76nXQyunXvgXbtO6B5ixZo1Lgx6jdo4KOGjRobftt27cGPqfQ9oR8Gn3UWLr/yalx93fWoW78+Zm/PwcAWYXC4shC6fyVCMvfBkZsOtyME7thmyGnQB1nNTkdmw37IqdUR2aF1sWj5erz99ge45cYbMfzG6/HaSy9i0h+/Y9WK/7Bj+3ZEREZqZDzwwA23y4OcnGydlj9BoGIRuPOSk3BslxZm1yFb4u7EafPXMhqUZixYh6R9qb68pg0ScM2Qvr50dYnQeXrWne+g6aCR6H7xs/js9wXVZWgyDkGgXBD43+RlePazaUKCQaU+B6rjOfrHjFXlosMVXUl1xF7GJDa/KpwD3FxT0fpdnvW/+/0cuY7IXELOgSNwDsz7b0t5qnKVqqtQh+KWzZvw39Il6FTXiZ3pLhzIdWLQ4DPgdDrLPEg6Ips2a4a5O93o2yQEYcoFp3YoOndMQ+juBQhNXgNnWiKcdDB6coHI+sit0wXZTfqbnYs5dboiK7IZ1m1Pxfjvf8PIhx/FvXfdgeeffUY7FRN1/xQ8jlDkuHKRkZGh0/InCFQsAgN6t0eE7SM7B9IywQ/yFNTqvDWJ2Lpzvy9bKYVjOjUHdym+fM/55gMu1odcrHDNjyNx8WndTRm+e9HiM2QZk6EPfI/jGyOGYmXeB2G2/PEE/n739kMeq2YZlrXThLHXgI9u84Mym34bjQ2/jsK3mse27XJWnHXoJsHQ4jFk/wJ5Fp/yduKHWqbo/m35/Qkz7lU/PIrX778QcVHhRoxjDtY+eQ9edSoYsm47kcdyLwdgybSptPofZISCgCAgCAgCgoAgIAgIAoKAICAICAKCQIUgUKBDMSsrCxvWrUNS4ibEhynsPQg0atkGHTt3hsNRYLECOpn3LLItNy4+Hn36Ho8cZwQ2H3ChXS3tpFQOKGcUVO5BOJNXI2T3HIQmzUfo3mXgh1ucaduhctLgDo9Dbnxb5NTrpZ2LfZFT9xjk1uqIHekR+HvmUmzYmgRXdBN4wmuBT5TyseiUlBRb65U1Kv2qqgh0alEfTRrW9ut+Wnompi7e4McLTOxLTvdj1Y6PQtf2TfDip5MxafoKuNxuXz5l73/hO3zz12LDu+LBj7Fk1Tbk5Lrw5S/z8NjbEw2fDsmPn7kKQ07rjmyXG3c8/S1++msJ2rSoh9G3nY1rz+5t5Hhgmd//WW4eR2aa5FEKo249C/16tkFoiBPhYSFo2iAB3/6xEKl6TMj7uXTdH38/C3e9+L3hMPzsxzkgf+HyLXhg3EFcvFkAABAASURBVPemT7/8vRRuj8fIBDvww0ejbz8H7VvWx58zVuKGkZ8jLSMbQwZ2x/uP/59xKnLMr3z2N1K1k9aqI+NgNp5593c8+8lk3DN2AnYk5es4d4eO/WCSwcrqV2ZWDj7830zTJ6sOCQUBQUAQEAQEAUFAEBAEBAFBQBA4MghIq4JA1UbAEaz7/NjJ7t27MG/uHNQPdyEl26OddW7z2HJaaiq2JyYWTdsTwcePd+zYjp07dmLXTi/Ruce6k3bvRsdOnREZFYmJG3JwUtNQQDsUXZF1kV23O1yaPHFt4HGGAxk74dizGCF7FmgH40KE7VmiHYzroDL3AXzvYkwTZNfupMv1NM7FnNpdtMOxPRAag9ywOli3bi1Wr1wB+QkCFYVAnfhoxESFlbh6OsXshUK0A69uQjS27EnB8x/9hQ1b9viyIyNC0bBunC+dnJFlHH5LtVPxyfd+Bz/4EhcVjvuuGYgOrRoYuTnaofndtGX4bvIS7N2fjtiYCFx+bh+0b1LX5LPMui27kaudg4ahDx3bNITb7cHL2lFHJ5xmmb9PtbNwyuzVsJyDDodCvVoxJs86kLdXO0nfHT8dc1ZuNX3alLjXOBktGXt43Tm9celZx4JOy70HMvC/Pxdh4uxVmLVovXl0vHfXlrh1WD9T5I0J0/HnzJW+9onHcV1bmbxfNH/h8s0mzkNEeCiO7dSCUUP8QNL6LUl4XjtqOWbDlIMgIAgIAoKAICAICAIlRUDkBQFBQBAQBAQBQcAg4DBH28HtdmPl8uV4543XMX/ubDSIUsjM9SA5041FCxZg3HNj8fQTo4qm0ZR5HE8zHP04nhr9mKa8cJQORz2Gzz76EOlp6diY4kJ8uEK00wVn+naEZCQCuQfhdoYjJ6a5di4eA1e9nnBHNwRcWXCkrEPI3qUIS5qP8F1zEabjjtStUFkHNO3z1nFAOz6g4Ilugi2bt2LpkiXIzs62jVSigkD5IUBHmkMpvwqT9qb6pUua4LsHp8xZhdxclykaGRGGM0/sZOI8DDutO+pqh96Pfy81jjuL1/2opoyanYubtu818fmrtsLaXdi8US2c3Kut4Qc7cBx07L37/SzMW7bZ1DN36SasSdyDH7Vjcr92GLKcUgrHdWuF049tz6RxUjI9Z8lG/DyjeA78c0/pitjoCFP+QEoGpi/daOI79hww7XKH5PE92hgeD79MXQZ7+z06NsOx7ZuYto9qrR2heTshlVLgx3HoOGV+lw5NMGvJBh9OrEtIEBAEag4CMlJBQBAQBAQBQUAQEAQEAUFAEChfBByB1U36bSKeGDUSs/7+E70TMnDpUeHoUi8UXes5EZeyCVnr5uLgmtlFUrqWSVs9G6mrZuGApuSVs7B/xUzsWz4Te/+bgSRN+1bORouobHSoFYKWcQ7c2zMCbaMz4Exei5D9KzStRJgOnQfWADmpcIXVQU7d7sht2A+5CR3gcUYAB5PgSF6FsD0LtYNxLkL3LYMjfRs8HBg/7BJeC+m5oVjx31Ls2K4dleQLCQLljEBOrhv2XX6svl6dWAZloj9mrMSOPSm+Otq3bIBhA7qZ9CnakbdnfxrG/+V9BJrMjq0aIjIilFFDHrfRBONI8+Q527h77yhdjxEIckjSdf4xe5Upc8lDH6PlGY+Djw1T9I95a7B4ldavvLpqJUTj1L5HMQtnntQJMdERmDxntUkXdTihc0vYHxNn/6zdgx63x1e8Uf0EUJYMtr90db4e16sdixN6tjUO0tBQJ5atys9rUDcOp59wtMl3Oh2YuXADqxASBAQBQUAQEAQEAUFAEBAEBAFBQBAQBASBMiLg51D8Z9rfeGHsGOzdvAbXd1S4r1ckkg56MD0xB+e1DcfTJ0bj2ZMKIn/+WC1Heu7kaDyv6QVS/2i8oGncKdF4MY9e0HKNYxReW5SF3o1CMKpvJAa3UAhFNuIiPGjXIBRxnn0I0U7F8L2LtdNwHhypG+EOiUZOg97IaTIAufV7wxXTBC7tPHTFt0dO09OQW68n4AiFOzQaiKqHTZs2aYfi9jLCJcUFgeAI0Aln7QAMLhGcGxXp/5h0VnYutuzY7xPmY8P/zFsLd54Dj48sn9qng9kVeFSbhvh3wVrj+LMKtGhcG0opk+TuvtsuP8V85IQfK2nbor7hK6XAekwiyGH3vlS/OgNFfp66DKl57zLkbsa+3VubHYKnHNsOW7fvxfgpSwKLBE03bZiAuOhwXx77x36S2G/2n5l0FMbH6JsHTGiav2ILiJOOgo9K99Pt9zumLXZrx+ukWSt9eXSc9urUAr06NseupAOgM5JlhAQBQUAQEAQEAUFAEBAEBAFBoKwISHlBQBCo6Qg47ABM+u03ZBzYj4f7RGJYh3DUiXLC4QB2pLvw7tJMzN2Zo518Cg2iHUVSQy0TSI00z04utwevLjqIf7flINPlRly4Qqe6IbinVyTObROOEKcD919xKv54/Ra8fPe5GHJiW9SNzIEzbTNC9y2FytilnYgJcMW0QG7dHshtcBxyaneCK6KOd/eiGZyCRznAnVokw5KDIFDOCPBx4LWbdvvVyt16/bWzy48ZkGhUL96Ps3tvKuYt3+LHmzxrld9jvsd0ao4zTuxkdkRyB6OfsC3Bj6O8P2E6mgx89BC68elvbJIBUa2XARy/JB2Gazbt8vGaNEjA1UOOQ7PGdfC3dn76MkoY2Zy4F6dc/fIhfe02bIx5r6JV3YwF65CknZ5W+ui2jdCpXWMs0I7GWYs3gLs2rbyuHZqgXcv6mL3E+yi1xZdQEKhqCEwYew0WfPUACrIpL99zPtb8OBIXn9bdDI0h0+QbhhwEAUGgWiMw7f07QAo2SNoN2g/aEeQJ0DbQRtBW5LEkEAQEgRqAAO0A7QHtQrDhBubTRtBW0GYEkxeeICAI1GwEtLswH4CUlBQ4FNAuwYlQHWHmoBZhuK5zBOhjeHJWBi76MQWPz0zDuPkH8aKNxs07CC9l4IV5GXg+j56bm4FAenp2Om6alIKLf07F1K05aJ3gwGsDYhAb5oBSAB2ZdEamHczCmi274HACg/p0wNjbz8X09+/Ey/cMQYg7AyGZSd7Oe3LgSF6H0B3/wpk0H870RCh3tslTuZlA5gE0bNwYdevVNTw5CAIVgcCfs1bC2rnH+uNjItCuhXdXINOBxHf71bc9Fs13Jf49d7V5V6Fdljvr7I/5NtBlTu/XEYtXbDUfPrHL7kvJ8CWd2iHfpmk9X7o8I3Qc2ncJnjegqx77QUz8Z3mxmyFWB7NzffK14qLQTTsAfYwCIvPWJGKRHjsfkaZIgi5Hu/HP/HUGj5Xrd5JtiPgqpTBl7hqTloMgUBUR4GS+61FNwY8yDcl75YF9HC9rZ+KwM3r6WJR/8vZzEB0V7uNJRBAQBKovAg9ddSpaNKljiHH7SOk0GDdiqLEfFj/QZlh8CQUBQaB6I8D5QWHzCToT+x7TxgcC5WU+4YNDIoKAIBAEAYedFxkVBb5xLTWHR+2Hc3mwI92jHX5OXNUpHMc3DjHiMxJdmLghG7/aaOLGbHgpB79tzMHvefTHphwE0t9bcrEpxYPGMQ4MbR+Gm7pFYVeGG3sz3dBNIlcfsl1Ado4b476YhlNvfhPXP/U13v9hFpau34GDWblwuRX4BWjlykLYnqWIPrAMDUOTUd+9DWHbpyJs6yTAnQuH6yBCcg+gVavWaNSkiel/aQ57k9Nx4Z3v4pvf5pemeJnLpGZk4q5nvgV3azFkuqBKV6zbieOveAFHn/+Uj2547HNkZGYXVET45YDAJxPn46+ZK/W56Ta1RUaE4eRe7Uw82OG0vkeB7/mz8tZuTsLnP8+zkn7h3/PWIOOg9/8XEqI97Do32LsKN27bYz5morPNXxfthDjnhI4mbh1eunsIHrr6NCtZqpCOw8Rdyb6ycbGRmLN00yHOUJ9AkAg/wGJ9YIXZfAx7oMaEcYv4wZcvnr7SPFJt8RjOW74ZBzNzGDW0ct0OTF28wcSnL1yn87xYkbFm4y7jaGRcSBCoigj07doKqRlZSNfEDxEFjoHvOB3/2wIf+5u/FmPkaz8beR9TIoKAIFBtEejZsTl2JB0w42PcRPIOvDbeO3YCdu5JyePAvBfZbjN8GRIRBASBao1AUfOJoSM+wqyF630YyHzCB4VEBIGiEKix+X4OxQb164OvatuT4UFGrgd/amfg3X+n4c6pmXhtcTZqRzjwxAlRGNMvCiP7eunx46PgRzr/cU2jNI0ugJ7qF42XTonWTsoIzNyei0dnZWH4lIMYPSMd6/a7TNsp2W7jMMyNboo0VRszVu3D81/OxMUPfYrH3vkNnrB4uMNqISRlIxzpW3Ds0Y3wwl1DcNtFJ5pdjoCCGUzWAcRGhaBl61aIiYlFaX/zl23Cau2smTjtP72wyyxtNaUut2TlNvy1YB2yc10mZLqgyjq2bYh/PrkHNw45riCRw8af9O8KzLBdmA5bw0eooYff+AWzF2/Up57H9KBXlxa47pzeJm4/dGxeH2ef0hWhec7BTYl78fwHkwp0yPHDK5Sx6lizaVfQdxVyJ5590VA3IRoP3zQY153bB83rxmHcneeB7yr835+LrapKFfIR71nagWe925GOQT6aXZLK+AGW2Us2+hywSikM6tcR7z5yMYgPHaH3XnMalq7edgguxMNyaHKnJN+raLU9bf46vbDyLpwys3IwR+uulSehIFDVEODuoj7dW2HC7wuwdNU2NKoXD+4YqGrjkP4KAuWBQNdWDc31oaR19Tm6GQYc07akxaqEPO1Bq+b18PKnU8BXhzDev3vrKtF36aQgUJ4IxEWF44TOLUtQZb7o+Sd1Bsvnc6pfjHZB5hPV7/8qIyodAjKfKB1uwUr5ORSbNm8OOgi2prqw6YALny7PQkh8bVx4Wg/07toaUxKBhbtd6Fo/BA69+M91A2YnocsW5uq4pixNmUEoS8vWj1K6PPD5yky4ImLxf4N7YfAJnbB0v8JnyzOxO92NfZl0KEbAHdcGmY1ORFaDvsip3RWu2NbIimyOnFpHwx0SAWfaFjjcmWhYJ047+rKwPSlFO3MAd0xTODy5UFl70bhJE7RuVfrJ1UHtlPhp6jLj+Fi1JQkbtu7B4f51O7opTuvZFmHaAcWQ6cL6EOJwID4+ujCRCs/bsfsA3vz2X+S69D+9wlurHA3QSXb96C/x05Sl5uMgsdERuP+6QeZxfTrJ4vRk56bz++KDpy5HyyZ19Lnqwbylm3DP2AmFfjSE9f67YC1ytUP5YGY2Jv4b/NFifsTl3W/+BR8nthBp3qg2nrj9HMz66gGcph1232rHBB2CzGd/2javb95XyjSpTQvt7Dz+aEYLJToQ6Ujko8d0DPLR7MACrJ/j5OPXVh4fw+SkhulnPpzk54Clg/Ws/l3w5wd34I3HLgHfKfnWhBkU9SPiMVc7Cmmv+D5FvlfREliTuAfL12432O7ak4LC3jNplZFQEKisCPTt1sqbRsTwAAAQAElEQVR0bZZ2vvM9oWFhIeAOA8OUgyBQgxBozptiD1yI1x+9GHQQFnfolB3Dnfk3nG5urBW3XFWRoz1IS88EdxLxdSB19I1Ey25UlTFIPwWB8kDgxguOx/tPXIbHta6XpD7KP3PXeWD5kpSrarKWXZD5RFX7z0l/yxsBmU+UL6IOe3Vt2rbTDkVgg3Ym7kjzYEemwuC+R+Phq0/DHZecZHZGzErMRmauBy/MS8fI6WklptEz0jB1azYW787FvoMenHlCR9x/5am6jYFo3rguNqW4sWa/C3t0nnlc+cA6hB1YC2dOOtwRdZFd9xhk1z9OOxZbAM4IuCPrwhVWF//7Zw24O+zjX+fDFdkAubF6EebKhjNzLxo1boLmZXAortm0C/NXbjVQpRzMwm//LDfOCsM4TIfYqAi8/PBFWDL+IRMyfZiaLlUze/an49FXf8LqbXnvuSxVLVWzEJ1dw58dj6sf+gS/akd0WkY2LjrjGOMkW/njSDxy8xmI047Gf+evwy2jv8KQe98v1iO5dIzt2puKjdv24qs/FhYIzoe/zMXjr/+C1Rt3ITsn18hxFx/fuXifdlx+ph2KhqkPT9x8Jgaf1AlKKZ3y/vG9g6+PvASB72Hy5uYf6UBcujrROC//nLUqP8MWY/3cickbEBa7Ub148H1OdCoSKzpgf/hzMQ6kHjR6RQdl0r40fPL9bAwf8y0oY5W1h/P+24y0tEwsWbUNfK+iPY+Pg6foPPaPDkZ7nsQPLwLSWtkQGHxiJ8xZvNE80s9FAF+/ceKx7UD9KVvNUloQqFoIbNE3iDivYK/pIOxzdDNGCyXKUJZCLMs6GK8uRDvQp3sr/J53k3HW0o3Izs4F7UZ1GaOMQxAoLgIvfP43vv5tPi4989hiOxXpTKQ8y7F8cduqinK0CzKfqIr/OelzeSPAuQDnBKyXcwTOFRgvjChDWcqwLOtgXAjwcyi2bdcejpBQbEx2aWw8UPqYmZ0DOiXSD2aDO81CnDAfbLm2cwSu7xqJM1qFYXDLYpCWu7B9OG7sFonejUIRFaJAH0aqdrbk5LqQnpVj3v1meNke7M5wo2XzJjiqWTRiD65DyN5FCN2zEOEMD6yBM2Mn3I4Q5NTqaJyMrro9kBzRHtm1usClnY4IjYUjOwWRIS7z/sTatWujND86N+hApCPRKj9t3lpsz3tXjcWrRmGZh7J1xz7c8sSXmLl8c5nrqsoV/KMn9jc+/Q16/d9zaHXmKDQZ+Kih5qc/hk4XPoNLHvoYP89YUewhcvdh78tfwMBb3ijQyWZV9s3kxRhw42u+dlufNQpn3fkO/py/1hIx4V0vfm/6ZPXNClue8TjGfDLZyBR2uHzkZzj6gqcxfsqSoGIF1d/z0ueMg4SFUjKycNvz/0NHXU/TQSNB6n7xsxj59sRCx8k22TYxZj12Yh7ru1k7JO18iQsCVQkBPsoYo28+0EnAfk9dvAEbtyRBdiARDaGaiACvgw+99IMZOif2nOCbRJAD8yjDLJZhWcarE9l3HHFc3KW4Q89PeeOO9oM8IUGgJiEw+r0/8NXEecVyKlrORMqzXHXGifZA5hPV+T9c5rHVuAo4J+DcgAPnXIFzBsaDEfMowzyWYVnGhbwIOLyB9xgXF4cYTXsygXCnQutYD36fuRIPvfkLXvxyKvho4YBm4QjTzsCz2oSjQZQDW1LdxaMUN1KyPOhWLwSd64bgmAahaBLjwOS5q/Cwrn/0u79h+859OKq2UzsaFZIOunHSySfjvhEP4bHRo3HtVZeib/fWqK2S4Ny7DKFJ2rm4ey5C96+Eyk1HbmQ9ZCUcjRxNrojaUNkH4ExZh3p166BT565wOp3eQZbwSMdh0v5UXKXvdllFNyUlY/qCdVYyaEhH5ILlW8Bdal2GPmM+jnLa9a/glc+mHPJxlLSDWeC7b/pf9aKR63XJWFz7yKdYmLcrctq8NYZ/tO0jK+TZG96wNQnXPfoZ2BbLjxj3HfbsSbWLHBIPbPf0G1/H7/8sR67bbWSDfdyF7W7evteMq7N2ivFDNfP/22zkeZi5cD0ufuBD/LdpF5OGbn7mW9N/68MwfIT8VX0Xsff/PQ/2lWNfu3m3wcYUkIMgIAgIAoIAhg3sAX7Z+cURQ5H451OG+PVFvhqgZ8fmgpAgUCMR4ET+oZd+MGPnBJ8TfZOwHchjHlmUZRnGqxsNPrETmjeqjS+ev9bYB9oJvic5OiocfBS6uo1XxmNHQOIFIUDnIJ2E3HlIp2EwOfKZTznKB5OpTjyZT1Sn/6aMpbwQ4NyAcwTWxzkD5w6M24k85pFHWZZhXCgfAT+HolIKIaGh5qMoGbkeXNclAg1VGqZpp9+OLYm4tJ0Tp7YIhfYnaqcfUCtSIS5MISYMRVJsGJAQoRAdqkzrjbQz8eZuEWgTkYXf//0Pi5atw+AWTpzbNgw70tzm3Yx16tZD9+49MPD0wbjymuvw4CMjMe7V1/HgQ/fjjNOOR7NaDoSmrkPonkUI3zEdYbtnIyR5FcL2LEbYrpmI9BxAz2N745hevVDaHx2HfMfc0EE90CAuyldNYR9noTPx85/m4urHP0dyWiYmvnYz3nnkYuw5kIG3v5uJJ9+aCJfL67TjewavefhTvP/jbFx13nGY+8V9OFYvFGet2IJbnvwaS1Zvw8nHtsenT1yOqHANoq8H+ZFla7fjWu1M5I7AG4b0xezP70OXdk3w5R8L8oUCYvZ2rz6/LxZ9PQJ9OrfAfa/8iM9/mmMePeXHXT4fczWa1I71leYjpGxrzqqt5p2SK7bsxshXf0bi7mQjc/wxbfDjKzejVYNaJs3D2w9fhJXfP4r39Bgiw0Px4f9m4C1ND107EHO+uB/HdW2JO58Zjz370yguJAgIAoJAjUegv76B1qRRLbyub75YO4etcJ2+ASMfXqiCp4h0udwQ4ISeE3tWyIk+J/yMkxgnj3HKUJbx6kbWjiO+g9myDQwvu/9D8ONsPTo2q25DlvEIAsVGgE5COgvpNKTz0F6QafKZTzl7XnWMy3yiOv5XZUzlhQDnCJwrsD7OHTiHYJzEOHmMU4ayjAv5I+DnULSy0rPdmL8zB8c2DMHT/WLwxVmxeHdQLK7sHGG+9Ey5EAX0ahCCR46LwmN9o4ukkVqGDsrmcU4Wh1OXP0aXH63r/+rsWHxyZhxu6R6BMN2jRbu9730zgvrgcDgQHx+PFi1boscxPXHeBUNx/4MP48qrr0F0ZDg8jjB43C440xIRsu8/OA+shsrah8YNG+CaG24wZVGKX2pGJmYt2oCBfY9Ck4a10KltY18tS9bvwNJVib60PbJy/S68NeFf5Gqn4al92qOZvnvctUNTHHt0M4Q4Hagd73VM0qn43vjpZjdfw1oxGHjC0eC7Ec86sTNi9bgSYiIRoR28rDs6MgLhoRocJmyUkZmNVz+bgl0pGcbheaa+Wx0S4sQlZ/bCoD4dbJL50dxcF176dLJpt0PTujinf1dEaEffqX07GCfhx9/PwvotSaYA+xMWGmLiPHw7aSFGDT8L3469FrViIsgCd2xygWsSRRySUzPx99y1RipZ99nhUDhOL5zH3nc+4mO99ZlMOQgClQAB6YIgcKQQuO3Sk8F3oQV79cDv/y43jz1Txt4/frCldZM6dhaaNkjwS0tCEKguCHBizwk+x8MJPyf+JMbJYx5lGK+ONPySk8BXIPAxZ/v4+GqEf+etBXcqvnzP+fYs1KsT65cOZjP8BCQhCFRhBOgspNOQzkM6ETkUhkyTz3zyqjtxrlDS+URsVDga1I3zg0bmE35wSKIaIcC5AucMHBLnEJxLkBgnj3mUYVzoUAQO9VBpmUwXMGlTDp6fm4HV+3ORmetBRq4b29NcWJucizWat1bT1hQX9me6g1JylgeBxA+tbNZlNiS7sPGAC1tT3UjTzkvdpG7DjZmJOXhhXgaW780lq0AKDw9HZGQk0tPTkZqRDXeto5DT/HRkNj0d2XW7IyeuPZzOELTr0B5NmzYrsJ6iMlas3YFY7TRrpZ1u3Fl3bv8ucDq8kGVpp9y/C9aBuxHt9TD9099LsD8t07A7tfE6IRNiI80OvWUTHsb91w6CUzsWN27bgylzVxu5FtphWSvO62g8+5QumPvl/fjj3dvQoXUDk1/QgY8KL123w2RHaSdkfKy3jhDtVDyqbSPDDzys2ZSE6Us2GDadm5ERoSZuHeicXLx6m5X0C+ns7NezrXkMLyE60pfHD4/4EoVE3G43srK9/99xX0zFmPf+AB+97tKuMe67ZlAhJSVLEBAEBIGagcB9l5+Cvse0MQ6BBV89gP76pos1cjoIbtP5fOyZMsz/4ukrMeyMniDvJu1k+HjUZXjy9nNgHnvU9UwYe41VXEJBoFohwAk+J/oc1HP3ng8S4+Qxj/HqSPO+uM/YB9qAae/f4TdE6jvtAZkM535+n/kQGl+fQCcj5WlHmGfZjKI+wsa6hASBqogAnYZ0HtKJyGslQ6bJr4rjKWmfx9x6donmE5PeHG7kOX/gPOL5O8+rCvOJksIi8oLAIQhwzsC5AzM4lyAxTh7zGBcKjoDXOxaYp5zY74nF9+tzcfuUdFz6Sxou/pmUikt0/NKJGbhE08UBRJ5FF/+ajoLoIp03VNd3wY8p8FKqqf+RGZmYn+SAyxEJj+5DYLfs6YOZmdi3bw/cjnBDHhUCT0QCXPHt4NHOxLCwcPQ6tg+UUvZixY7TMfjvwrUY3K8T6PxjwV5dWoI7+hgnTdN3gPmORcYtSk3PwrK1wXcuWjJWuHrTbrOz0EqXJqRD0fpgTJP68XoBGVZkNRsT9/gcntOXbULPS58z7zjkuw6twhu27LGifmHf7q2CYrprf+Hva7QqoQPzpF5tTNKlnYuf/TYfl93/EezvYTSZchAEBAFBoIYiwC9NNhno/YgT7fPUxRt8SAR+6Ij5lz3yqe/jSvyg0tWjvkD785708YaO+MhXXiKCQHVDgBN9Tvhdbg9IjJNX3cZpH8+xl73g0++Tr3/VngXqu2U/GPJjbrQTjJMob7cjtBnBdkL7VVruCalQEDh8CNB5SCci3z3MkOnD1/qRbemhN37x2QragalFzCcGDX/TJ895xP2v/CjziSP7L5TWDyMCnDtwDsG5BIlx8g5jF6pkU8EdiiFRyG4yAFn1+yA3vr120rWGK6ox4AhF48ZNcOZZZ+Oss8/1ozPPPgdnaP4ZZ5+Nguj0M8+ERXy3YVRUNNyhcXDFtdDUErkJRyO7YT+46vYAlBOF/WJiYtCiRStEh7rgTF4NR8pGhGQmw5GTBmfqVkRHR6FHGd6dSEfhrr2p6HpUE1836iREo492KloMPurLdyxaaYbcfbc/5SCjhjZuD+6YY6bdCbd99wGkaWck+SWhlIyskogbWXu7x7RrjDmf3Wfecbjy+0d94QPXV8xuQaUUbr7kJJx9wtGmLzys0Q7Om5/6Gt9o5yIdueQJCQKCgCAgCFQiBKQrM1hANAAAEABJREFUgkAlRoAT/hse+wIkxitxV6VrgoAgcAQQoBPxCn1zjeERaF6aFAQEgSqCAOcQnEuQGK8i3T6i3TzEoRgeFg6vU8cDd0xz5NTpjuy6veCObwuPMwK9evfGyNFPYvTTz/jRE0+PwRPPPIsnni6YnhrzHCy64cabUadOHbgjaiOn3rHIrtcbObU7wxVZD/C44FCA0+mEchzSRQNYaGgo+vTti3OHDEHLemGoc/A/hO2YjNBtkxHlOIjjjj8BrVq1NrKlOdBR+MuMleit7wLbv6780a9z/aoL/DiLQ3fc6cjv88IVW8GvGvsVykuE2eR27E/Furz3FuZlFyuw1+HWd+e9/7vCi9rL7NiTgj3Jh/djKHwv45i7huDBq04D3xXJ3qZn5eCtr//xvbuRPKGyISClBQFBQBAQBASBmoLA+p37QKop45VxCgKCQMkQmLemeE+QlaxWkRYEBIHqhgDnEqSqOK4j0ed8z1de6716HQuHOwuh+/5D6IHVmtZoWg1nyjpEhLhxdMdOcNgcYXnFShw0btoE9Rs0QFhWEkL3r9JtrPFS8io4UjejQYO6aNSkiXEqFlR502bNccttd+DhkY/hiquuwcCBp+Dk43th6EUX49Y77y51P1MzMjF/+Wb89c5tvh171u69hV+PwIBj2vq6tCTg4yx8V+JRrer78uev3IqVWsbH0JEduw8YJ2PHdo0RFe59RJnvZPxxyhLwgylaxPxlZGZjl3b4mUQBh3Yt6iM8xGly6RzMOJhj4oUd/MrsT8O0uWvynMjeUsvWbsffc1Z7ExV05DserxpyHL545kp0bO7Fi+9uTNydXEEtSrWCgCAgCAgCgoAgIAgIAoKAICAIVBoEpCOCgCAgCFRpBA5xKF58+eU4ZUB/tKrlQtPQXZp2atqFdg0jcdZZZ6H/KQMKdfIVF41GjZvgwosuQa9juqJpxD7dBtvZiebhe9G5dR0MHXYxOnfpWmR1cXFx6NP3eFx/8y14/ImnMOqpp3HP/SO0Q7JBkWWDCXCH3/8mLULdhBg0rhd/iEhkeCjO7d8FTocXOjoCJ/yx0DgIKex0OnBGv84+Jx/fb/j4679i9YZdcLnc4M7HVz6fYhx4R7VqgGPaN2YxQxNnrcI73/4LOhKTUw/iufcnYeWGnSavoEPblg3Qrmldk70rOR1bd+03cY4jxfbodVpGlu5jrsmzlyHjDd3m938tNs7MLTv24Sft2OzRsTmzyoU2bN2Dhdqx+u3vC5C0Lw2PvvoT6LRl5e10/x+5+QzjWKVjNCIslGwhQUAQEAQEAUFAEBAEKiEC0iVBQBAQBAQBQUAQEAQEASLg9Yoxlkft2rXHXffdj7vv13TfA7iHpB10d2u66dbbULe+dzdZnnipA6UUThs0CHfefS/ufWCEtx3d1t33P6DbH4ELh12EevXqlaj+yMgo1KpdO+hHQ4pTUXauC//7cxFe//ofxMdGIivHFbRY726t0b1N/heU/5y/Fq9/8bdxBLLASce2xQUDujFqaN2OvRhy73voPPQZvPDxZNx5+QBERYQZuuOKAWiQ93Vnl9uN18dPNx9J6Xf1S2jZtA5OPradqSMlLUP3x23iPGRleZ2DdeKjcPOwExGtHZ0ZWdn44c/FyMzKwcxFG7DMtrV/8fod6Hf1i5g2bw1Y5rb/O9nvceNH3vwVXYaNwZUPfoxzdd+505Lt0PGXneNti+nEXcnGGRrId2XnGj5l+OGVbh3y3z353GdTcP/z/0NP7aSMjgozuy5vGfUV1m7ahVw95t1JKdrZ6kLfLi3RxVaOdQkJAoKAIFBmBKQCQUAQEAQEAUFAEBAEBAFBQBAQBASBckXAEVibUgpNmzbDyf0HYODpg3EaadDpOL5fP+Pgc+TtzAssV5p0SEgIju7UCQNOG+htR7d16sBB6HXssYhPSChNlWUqM+bd3zHyrYng+/xe0U7FHhc/iw9/mOVX58hXf8LxV43DAtuXnOkI/PDnuRh613tmBx4f5334psF46e7z0byedxx8V+AlA3vg/ScuR6P68b46u7RrjG9euB7n9utonIJOhwNHN6uHV+69AFedd5xxjtIJeM3oL0GHoVXwznHfGecg0wP6dsDL91+I9k3qYvzfS3D28DfBPp3Uq53hXXt2b7z36CWY/vE9II9lTj62Pb4eezVO6NzStBvidKDPUc3wzuOXgX2izIp1O3H5Qx8jcV8qk4ae/GASntN021Pf+PFf/GoaPvpxtpHhLs17rx6IU3q0MTs52a+x95yPNs3rmfze2nE45p4hmDBpEY77v+fx2NsTMezU7nhWy9DRSiEhQUAQEAQEAUFAEBAEBAFBQBAQBAQBQUAQqP4IyAirJgKOqtntiun148PPOuSdidcO6evX2JN3nHuIzMrvHzW8iW/finq1Y4x8iHYMDj6pE/549zaTN/fL+8H669aKNvn2Q4N6cRirHYjzvx6B//73ML579SacevxRxplIOTr/rDbsIfnMV0qhX8+2+PH1m01bf31wp3EcXjXkOMO7/7pBJr9OfJSvTpZrrR2X7z95OdjusgkP4+MxV6FD6wbMMtSxbUPM/Ow+U6e93RHXnw6O1c5j3I4Vx/nmY5ea8bBfvTq3MHXSYXjDsH5o1rAWHrpxsGmb2PCx5/iYCCMjB0FAEBAEahIC3ds3wrD+nYQEAzkHDvM50La595Uxld3eiH0Q+1hJz4Fqb7Mqu20I7N+pvdpU+/+J6ILYw8p4DvAJzUB9rClpcSjWlP+0jFMQEAQEAUGg0iHAj2DFx0ZASDA4POeA4ByI8/rEvZXOLtg7tHLjLrEPYiPlHDhC58C+lAy7Olbq+LQF6+U8OULnSeB1RdI1c66xvwrZCz9jlpWEJZP+wLKkLD92cRPiUCwuUiInCAgCgsCRQEDarNYIvP/zAggJBnIOHNlzoLIamZVb94h9EBsp58ARPgemLNpUWU2EX7/kOnJkryOCv+DPc8BPKatIwr36Wzxxz3Dc+eN6ZJaiz+JQLAVoRRWRfEFAEBAEBAFBQBAQBAQBQUAQEAQEAUFAEKj+CMgIBYEqg4DZkTgVS/fbepwLpNmSJYmKQ7EkaImsICAICAKCgCAgCAgCgoAgIAhUdQSk/4KAICAICAKCQI1D4ODST/HwHbdixO+l25EYCJg4FAMRkbQgUIEIOJSCkGAg50DFnAOoJj85P1QBdlL4cm6U/RxANfnJuaDETsicssLOAVSDn9gIVWHnh2Bbs7FFVftlbMWcSVOxJm9HokIW4C6/QYhDsfywlJpqOALFubjUOIhkwILAYUSgKuhgVejjYfyXSVOCwGFHoCroYFXo42H/x0mDgsBhRKCy62Bl799h/FdJU4LAYUegqulf5sL38cht92D0P1srBKtDHIoV0opUKghUQwQCjUmxh+jxAEKCgZwD5XsOFFMBS623xaw/UKzU7cn5Ub7nh+ApePIcCFTQAtKl1tsC6iuKXer2OCYhObflHCjfc6Aohc3LL7Xe5pUvSVDqtop5bsi6RNZmcg4U8xwopuKWWmeLWX9JxQ6ygIuH8idxKJY/plJjNUbAbhyCDjPvwq10ZoGkFJQSUkowUEowUKqcMChE53yTJC0T+FekTgcWKEa6yDrFTogNLK/zXuop2bmk9VcVQFXMTsCMQ/7/UEoJCQblew4UYCOU5h9OOyFzCVW+/1fRE8GzPM4BbQdUAXQ47YPuQqX5E4dipflXSEcqMwLWRf2QPgY6BvIM1SFywhAEBIEjhoBSyjuJ0j1Qmgq64Beo5yxTDCqwvLETHrBtQ3n9KUaVIiIICAKHCQGlFJTSpNtTmsROEAQhQUAQsCOglKpwOyFzCTviEhcEqg4CSlW8fSgNGuHRcWgQFYdatSJKU7zIMuJQLBIiEaixCOiBB72oa+eA0nmG8gyHTvr+lNI5+g9CEAwAwQA40hgoRWWE76eUglKaNEdpMo4DhnkUVO/z8oIFQeXFTgAEV0hwqCLngFLsKHw/pRSU0qQ5SpPYCQ0CgRACBIMai4FS/OfD91NKQSlNmqM0lcVOyFxCA0gQhQDB4MhhUAbslWJh+H5KKSilSXOUprLYBxYvLamut+HV7z7D0yfVK20VhZYTh2Kh8EhmTUaAF3a/8VsOAm0Y7HyltInQf7CRUgpKlY2curyQgmBQszFQqmx6pJQC9J+dlCIDvp9SymQHu9D7hAqIiJ1QoqP6/BE7dWTPA6W0DpeRjBFQgBUqxQR8P6WUyRI7oUTn9bkgOl95zoPi/i+U0jpcRjJGQAFWqBQT8P2UUiarpHZC5hJK7Io+d4p7Lotc+Z8vSmndLSMZ5VeAFSrFBHw/pZTJKql98FVQ2ogzHE1bN0O801tBWHg8wsPDEREehvLYs+jwVitHQUAQsCPgd2EP4khUSsFYBB0wVEpBKS9RqQqiklwAlPLWp5SESgkGStVMDEqiMwXpHflK5eMHBVikFBMwP6WUYdsv9H62wEjlH/zyxE5AKY2fkOBQ9DlQ7hiJnVCFLsaVEt1USjBQqmZjUFnthMwlavZ5qZSMX6kjj0FltQ+ogJ+j0/V498cf8fFZzcqldq6zyqUiqUQQqLoIeHxdV0rBfmFXgFn4IO+nlOboPw88hq+UApXIIhojpZTOg48cDgWLdJaPL3EIFqqqYFA1+mnpGUN//VJmsW3pKUOllD7/lNZkD6D0n04j76eUIisvBTh0mmQxGCdZaaUjSvGoI/pPKR3Xf2InAAOFxkJCwaKynAO0Dxb590mJnRBdFZsl54A5BywbwbCi7ATnESTk/TT0um0evQyldFz/yVwCGhchczro80HCI38u0C5Y5P//UOU6j0BF/ZzhqMsdi+F5DYRHgDsW64ZbjDx+MQOuq4opKmJVCgHpbLEQ8Hi0M0FLKqX0xUrpWN6f5ttS3jwyNCmlTJrKQ1KKaRinoY7C6VAmXylvmFejzynh0HwhJXjIeVAh5wDyfkp59U8plaeT8OmoUgrUXZJSyugrFEBSihGYn4lpW2AS+uB0OHRdLKUT/NN5RoZxTUrplP6z6lFKBbQDXx/ETmhsiI8Q5Hpw+M8F5P2UUlDKS16dhE9HlVKgtpOUUkYOCiApxQjMz8S0LTAJfXA6xE7IOa0gGFR9DJD3U0pBKS+Vh51QSpm5hFIK5qftR17MJJXSKf0HTUopKKVAO0RSimn47JS3P8rIKKVg/eT8U6iRGOhzQMZ9eP73yPsppXz659VH+PRTKQXqLUkpZeSgAJJSjMD8TEzbAZM4AgdHh8vx6k9/4KOL2pTqEWiO7wh0W5oUBI48AnZnol9vtEIrZVTby9ZR6+4gGVQa705E+BkMk5dXzqGgJwvKjxya6SMF6KSQgmCgIBgolA0DrUyWbvFibiedBf4cebqplIL+8+kudZk6TRml8ncsMk1SSoGPQCulQzI0KaXjYifK9j/TEDqEBMPDeQ7oE07sBOScU6hUGOjTUvqjUHkw0P+QinTQnKEAABAASURBVLQTSs8h7H9MK8VjHldHZc2BynM+KEhfFAQDBS8GFWwfuN7IswSHOQhH3RbN0KB0GxRhraMOc6elOUGgsiLg0c4GZTqnlA75p0OllFEWOh90VMtAOwu96uPQDIeCTmsZHdF/cBieTluhQ5kyOukNmQ4gh9MBIcFAzoHCzwEVoDcmreDVKx2ahYBWNIcfAeQ7HUrrpo7rPOif0+HwlaNuOzRPKaV5CuCfjkP/lNIJ7UDUUe+fjiuleTqllA75p0OlFFgH69JRkJwOcgCHTjgUxE44C///VoHzH9LHyv8/VFrZDiEFo5NaFeHQ+Q4d8ScYvtOhtL7quM6H/jkdDl856rZD85RSmqcA/uk49E8pndC2QUe9fzqulObplFI65J8OlVJgHaxLR0FyOsgBHDrhUBA74az855jYgar/P1Ja2Q4hBaOTWhXh0PkOHfEnGL7TobS+6rjOh/45HQ5fOeq2Q/OUUpqnAP7pOPRPKZ3QtkFH/W5WKqX5/NOhUgosz3p0FCSngxzAoRMOBbERzqp//okNqdz/Q6UV7RBSMPqo1RAOne/QEX+C4TsdSuuqjut86J/T4fCVo147NE8ppXkK4J+OQ/+U0gnLPuh0VfnjeKpKX6WfgkC5I6CUVlxfrf7OxMA7hBQlOR35amMMhjEaShsOBeYrpp0OMHTquCGlzDsVQnRZLymE6Dw7ORW0jFD54yCYVidM7TqTH3dofXJo/VFe0rpFvaMOcsLGUKug0VGHjjgcWk4T8n5Oh9ZXBaO/Dnh/Snl3KyqlNN9L5s6hvtAr5U0rlS/DUiyrWVoeerLPFLmMKzh0ew6dSdIBlEPznA4TOnXckFKm/14b4dBjUodQdfpfylj0uaGg/+dC5X0u5NsGuw5Rpxwab+WlPL2z66JWQbETChofofI+J6W+yndOHW474XQ4wJ9SCsrt1nMFxaSZL8iaA2J3FAQDhUqDweG2D0opYw+U8oYmUUUOXstW2Tor/REEKhgB63FnNjPihsH4ftx1mPTWbfj7vdvx70d345+P7sTMj+/BjI/vxvSP7tLpuzHtw7sx9YO7MOX9O004+b07MPndO/DXu7fjLx2f9M5tmPS2l/5461aQftPhxDeHwwp/feMWkCa+eSv86A2dFsJEwUAwKM45EKA/1CnSRJuuUeeogyRLL6mj1FXq7GStu9Rhu05Tx//R+k+dp+7P0PF/tf7P+OQeTNe2gCHJips8LUNZlmFZ1mGvk22wrb/ETsi5XZxzW2TK7zwRO1F+WMp5KVhW13PgMNgJzg84n/gnbz5h5g6f3afXG3eBcwrD13MJypH+0fEaOZeorueYjKvq2s/DYB+4hqDPgWuLmZ/ea2wC/RNVicShWJX+W9LXckHAciYq5b0DEBkeitiYCMRGhSE+NhKx0eGIj9EhedGarynOxMN0XhjiYsLzQp1n+BGIiSIvQvMjTJxpi2J1ecYZWsS0H+k2Y4QgGIQLBsXRA61vdv2x9Ioh+VbIuEXkkZhmSJ239NrS6djoMK3fET49pozPJmjbQHmSnUcZq07msQ6SVafhiZ2Q87o457XIlO95InaifPEMcn7KNTtcMK7q50UF2wnf/CBvDhGr8UqIi0KMXnMwZJrzhDidz7lJjO4P07F6PkKSuYTomNjZI3gOaH2kTlpEHbWIPMYZ2ok8EnkMuU6wdNrSZ69ue9cb/jLh4BoDVewnDsUq9g+T7pYPAkqpoBVZzkZ7plKU9fgeTfB4mKtAWZLb7fbFmWauIQpqYmkt4H1XCjM0z0pLqMEUPMy5IedC2c6FAvWMOqeJummRXWcB6jLMTynW4oFSDOELoX8sqwPzZ48rZZfNL8vTGmDdHv2v9cDepr28zjT/f1MLC2myx638cgpNW1KXR3DQ51lNPA/sumWPI+9H3bTIrrMwugzzU4olPVCKIXwh9I9ldWD+7HGl7LL5ZflvAMRO1MRzUcbsqbR22GgrlVOTPY68H3XbouLYCaVMLXmlOWw9dp1iHTrw/SmlzCsXtASU8pbRXQAgNkL0RZ8zPBmEtHocWSyMZub9H+xx5P2o1xYVxz7kFfMFLOtLVJGIOBSryD9KulkxCPiUloZBN6GUMQ36uuUxpFn6zxv3yubn64xD/1iPRRTVpEtDzwXAsOQkJQQBQaAkCFi6xtCQpY8McejPq9fk50/Y9Wwlr6huWZejjFL5+Urlx5nH0izDOAmmtObosgj2I98ibSMorluCFTIuJAgIAhWHgKVrDA1Z+sgQh/68ek1+vu5rDSfDzBWYT1IqP1+p/LjJ80r75GEa1rUU0KYWZKaXxE7IHEoQOOwIUEVphRgaoq5ahEN/1HMvN1/3tQIbFvPoXDCJgAP5zCeb7TFOgmlU18A2EeRHvkViIw77+WH+V9JqjUWA6slzgKEhSxcZBlVX7Qg1/OD2wavzgFJUZlSpnzgUq9S/SzpbVgSorErlK6pSjHt8yst8EttRypvHtFJUfnL9L+zMs0/6LcPCkHkWcbLA0gwtHtMkKy2hRk0bYcFBcCjOOUDdIVmy1C2mGVo8E+qpDrQqa1SpvD5iHuVJVlyfflBKmd2E0GWU0gcKaGK9SikolZevefxTijyYMkopYw7It+r0xVl5Hpm+KOie6ZjmUZbENijPkGkS0yTGhfzxEjwEj6LOAeoOyZKjbjHN0OKZUGsj8nTSKLHWS4bMozzJijNLKZWn84BSuiC8P9arlDI8xr1cmDQU8sooVg3+rDp9cVaeR/q/C5ZhSDmLrHoZWjzk/ay0hBo1jaPgIDgU5xzIUx+tl168qFvkMfQrX5idYAFNlNeBrotHi7zrDKWUsQEWlyHbUEpBKaWTHk3eP336mohVHxMmzow80r0FdDGGzLOIdUL/GFo8nTR/VlpCjZrGUXAQHIo6B4zi6IMlR73SSaPLFs+EJbQPSiltJ6jzHiilFVlXaurR56WOVqk/cShWqX+XdLYsCFBJ7eXtaY/OUEpBmRAm9HjcsH5uNyVgFN+jFd0iylNGm2NtRg6VMXk2eatcQXwrX0KNaBDcBBfBJfAcKEiXAvkmbbTUq6fU3WB1uVz5eu+hDdDnIcuSPDpOYpzEuIcyTGiyynry5KyQbensvNa97Vt5DE1eQJnC+MwTEl2Qc6D450AwHSN+gXyTztNUxqm7lLMT+ZauM+7RNsCj9ZdxEuMkxg3pPI+WMXF9sMp6DD9/DGxLZ+e1LnYiEB9J558rgkXFYGH0L0AviXUg36TzNJVx6i7lAslaO1DG7XYxMEQ5RqyQcXs+yzEvkNgOZfXoTesmbutvYNoqXxDfypdQI2rDUfAQPIKdAwXpUSDfpI2Geq/j1NvA+ihDPWdI8tjmCExXNRKHYlX7j0l/y4SAUlRrbxVKee8MKKWglMpjwhvPS3r0BUZzvDzk/0y2znPTAJiEN4/yFpFjxY2IlmdI0p5JeifzSEvS5ghpPAQLfQ0SHILrQgAuWkjrFHWJOkWy4pbe6bNJs/InRkwb0sJGd3V5HTUs66CU0vruMOXIU0ox0DzlR2Q68vLYnlIOKKXI9pFJ6TZMWybhzaK8ReRYcSOi5RmSdCf0mK1xakkdlfNDcJBzoCTngFYarVPUJeoUyYpbeqdr06yy2QnLFiiljB1QyhuybqUUA9OGEjuhbZqGQ/9b5DwWHCrPOaBPyAqwEw6HQ/+T89ca2giAPKW8NkEpZdJUCqW8coDK48H3M9K6fzKX0JDof1XlOW+kPzXjf6FPOq1/1F/qIsmKl3UeAa3vrAP6x3qV4lEnqtgfLV0V67J0t+ogUHl7aikve+i1EdpY6ATjOjB/SnmVmrJ2IpdpbQOMnDvvoyxhoSGIj4tG7YRY1KkVZ0JfnOkCqE7tOAgJBnIOlOwcqF2APpEfqH9Mx8fFgDpK3aXOGuXVysy0DvTcIN+hQJ7J50Fn6j+/Rxvs5SlCYhk7sQzTwexEQnyssQ/sF20EycQLG5PYCbGTcg6U+BygPSiIjM7p67VP/3Sc1/BQfS2n7tr1nGlLpxm3iLpviJk6wjJWHuOGbQ46U/9ZeVbILMaD2glts+x988XFTpT4PJDra8murzUNr4JsBPl2O1G3dry5dhs7ERJi5g3Uc63aoA5Tly2dZtxOSukc/UeeVcaEeQsPpehQ1K5FnaaMRbqIaYf1Q/9YxuFQiI6KQK24WNMfex9NXGyE2IgjOl+oXvaGdqAgMvqm5w6+67OO19Jz/OjIcDidTrN2AH9akanTOjD6zLhFJlvrv6Xj5JNXlchRlTorfRUESotAoHIqxQu3B0pRtf1rtWS9oX8+U4avIwxJ4WFhqKUNSExMFEL1BIN3H4Uc5g6r4CA4VIZzQCmlddOJWK2jnBSEh4f5LujI02UdGF6+NSDHO7knz5tizEtMU//zU94Yeb48HWGaFKHb5ISDfQhxOkQ/HIKBQzCodHrAa3hMdKS5poeHhRqbQP0tjp1QXhPgO1ppU95wLY7XrjBl8nSEIcnPToQ4Kx0+cs5WU7sltqhYuqaUMnK0E7HRUcZOWDcqqb+WndCGA/afUg7jWFDKKLsvS6egb2VCKaXzg6xJ8pyL0IKmfg8QFxON+Nho0FY4Q+R8FJsk50BlOwecTgciIsK1nkZpioZSSpsErbx5eqwD+P/y8snUOs+gqpGjqnVY+isIlBYBpQ5VYXOBzquQcaUoYym2FXon/xSjDLQIQ1KMXnjEREfA6XCQTREhQUAQqMQIOLSO885hrNZd6jCJystQq7av50xDZzC0Jvwmri/2SmnbwGWAjlsysP0op4uaCQTjsXrhwd0EDm0nbGISFQRKjYAUrDgEaCOcDgditI2g3lKHSZZO21s2fJ3BsCR2graGZXTRfDuhb3jEREVC7IQdYYkLApUTAeWAmfsbOxEZ4dNjS6eV0vMEM0ew1hBKOw3dYL5SCh63G0op8MddhwyNTdARhkppGT3PgBZh2uFQSEiIQVhYCMRGaJDkTxCo5AgopcAnHrijOcTpBPXY0md23aR1xBtqfae90PqulD5oflX60+awKnVX+ioIlB0Br+L610OeUnnKbLIOVWZyuGCgLIkLjbDQUCjFHFNIDoJAQQgIvxIhwMl4WFiYeWSIumyIE3dbH8nzJr36Td33xjSXF30dWH/5sgBlKEseKUYvNMLCxE5AfoJAFUNAKYXwIHaCOm4NhTpuxU2YZxsoQztgeMYqWE4FL4dH5rM8iTuXw7WdyBNltpAgIAhUAQQ4nwgPD0WUvtZTlw3p+QRtAPSPaR34/RlnosMB805Ek2NJ59sJcliWxDh3JTodDiMtB0FAEKg6CDgdDsTGRJobENRnXvup0wWOIG8eUWB+gRlZSE1KQlKpKQWZBdZdeIZYpgLxkYzqjoBSCkopM0yl7M5EwzIHo/hUbE2MK+WVCwsNMY8bOPQdQ8hPEBAEqhwCWpW1syDUkE+39SJA30LUfx5DHJRSymcnmDakYHhKeS+hLE/ShfR2gF2dAAAQAElEQVSfB0rl24nwiDCdhvwEAUGgCiLAazwdfaH6mk8dV8qr21rR9Z/dTji0ntMw+A9SKeXlazbLk3RBbWny7QRfwcA5hRaRP0FAEKiCCNCpGBEeCj4KTR1X6lA7oRRtgcOMTum1g3Eqah4ZSjHPW4bljY3Q6w6lvDy+A5ptUFaoohGQ+gWB8keA+svdzNRvpbx6bek5ed4WlV/gTZTg6JmFp/v1wQnH9y0V9ThpFKaVoDm7qNey2TkSFwSqOQJKeRWZCkzicO2hPc48i/TSQeu+xySjoyKhVJ7iG44cBAFBoKohwAt8VFSE6Tb1nmQS+qCUAh9DIs8KaQO0EdB/Hr88pfJtgYeuAr0Q0FUgJjpK7ASBEBIEqjACtBPRkTY7oXXcGo5Sh9oJbSC0hLYE2g5YtoOhUjY7ofNoW1hPVGS42AkCUVqScoJAJUCAdoLXfHaFuq0tAKNGt5mmDWBoyDzuDN88gjwrXymvnWB58nlDgzc2TGVyEAQEgSqLgNPpBJ96oF5Tv2H7kcckQxLjVYnEoViV/lvS11IhQMVUynuBDlaBPV8prxx5wWTJ43sQ5OJOJIQEgaqPADU+1Lb7KHBEXltAKZiFgVLeOPTPm6cjtj+llPYneBAa4tTytgyJ+hCQiCBQ1RDgNZ/Xfuq8Uvk2wBoH+VZcKaV1X+UlvfYgL+ELlPLyw0JD4VAyFfcBIxFBoAojoJTH6L5Slv77D4Z2gqQcXp2nE1LfWzBzBn9Jb0ophcgIueHgRUOOgkDVRkCrM3gDsaBR0DYwT6ng9oN5hZLqi0emz8GMmbMOoblfDkd7fasz03k6ngnIt/IKrbuITK9FK0JIsgWB6oKApaz28SilFZdXdDvTHtd51p0ElufjSUrpMnaZ6h2X0QkC1RYBTugjwsJ8E3rqOh9FChywUl4HAPQFWSnqPylfimVYlhzaicjICLOwYFpIEBAEqjYCxk5EFGUnVJ7Oa0ug5w1KqUMGfYid0HUGETuknDAEAUGg8iNg7ER4vp0w70jUtsDec8UbCORp82CCQAOgmaYcC3kAh0MxJiQICALVAAGqu1JendYzBb2k0EruNy5vnh+r2IlwxNarh3pBKKFePMIV4Fbhh8hYeUGaKTZLHIrFhkoEqxMCSikopXxDUsobpyOAxAwrZNxOYaEh9qTEBQFBoIojwJ1HfkPwmgPDUsrrSKQ9UEoZu8E4SSllZIIdnA65vAbDRXiCQFVF4BA7YRuIUsW0EwEmw+EUO2GDUaKCQJVHgE8nBA5CqXzF59whP1+7FLQD0UorlS9HXkiIk0EJSEQFAUGgciOgzMdZEPCz7AJDUkB2pU/KTKbS/4ukg+WJgFL5k36rXiquvqT7digp5X9B95PjhT94tiUmoSAgCFQ1BHgl1DcJaQvYdQUFbRD0n2ZqhlK0G5rldsPsHNB2QCkto/NYhqSUf5pV6Gz5EwQEgWqEAHWdxCEpRbugZw/aHlhpbTSMjTA7EbX5UCrfLjBP5RkGUwfzWVBIEBAEqg0CDodTq7rXLijlbyM4SKUPOhdutzYA+k8n8/+0LWGeUt5yOoD1eHS+kMQEAUGgqiKgtAFQyqvfwcaglBYIllHJeVxGVfIuSvcEgdIjYCbtBRQPzFPqUCU2HHPwVqKULeFlyVEQEASqAQJK2XTbFrXbCaUUSNZwrTwjbg7eHMpYeV6OHAUBQaCqI2At9H3j0Dqv/0zSru/Uf5LJ0Ad7Xp4/UXMBygT6EyA/QUAQqLIIUNc9HrfRbd8gtJHQf8bJ6OPpiCPgUWaPdiZqtvwJAoJANUaA132Sb4jaOOg/X7KqRsShWFX/c9Lv4iLgf2EvrFSQizkv8CQW8zMAZAgJAoJA9UFAX9EtHafOkwIHRxMRnK9dDczUBVgHSUflTxAQBKoZAtRtEodFW0Bi3E7k5ZkDO9s4FJhHpqlD2xzNZFJIEBAEqgkCRrf1WKyQOk/SLL8/s0PRjwNtDvznEsymmWAoJAgIAiVCoFILF2Ufyr3zUW0w6KKLcPnQvmiI8v+JQ7H8MZUaqxACvMhbSh2s28wjMY+yJMaFBAFBoHohQN0mcVTUeRLjJPLtacbJYx6JaRLj5JMYFxIEBIHqhQB1m8RRUedJjJPIt6cZJ495JKZJjJNPYlxIEBAEiED1Ieo2iSOizpMYJ8+KM01imnwrzjTjFo9xIUFAEKg+CFC3SRwR9Z3EeIVS/f646akxePbJYegW2FDL6/C/NeuxbeWLOD0wr5hpcSgWEygRq94I2HcTWErOEVtxhiTeKWTIPCFBQBCoPghYum3ptwcekMcR2nneuP/7T7y8/N0FVjmWFRIEqi0CNXBg1G3qO4nDt8L8uNc20H7k82BsiZ3HcqwL8hMEBIFqhwB1mzpO4uCs0Ipbaw7aBCvPlNHzjnwZD6NCgoAgUM0QoAORek/i0KwwP05rwFTVIXEoVp3/lfS0jAjYFdaqikqt3QBgSLL4dlnGmUey8iUUBKoiAtLn4AhQx5lj6biVJo9x8hk6HA6QGLd4lCGRx5B8hkKCgCBQvRCwdNsKLZ3nKBknnyFtBIlxi0cZEnkMyWcoJAgIAtUXAeq5pfPWKOlEJJ82guEh+drbSL4lL6EgIAhUPwSo4yS7/tvjpRqxZwW+f/RBPPLoQ0XSgyPHY0leI1u/Ho4zThmGR+ak5HFKHohDseSYHc4S0tZhRIAXeTZHBWdIYpxEJSeRJyQICALVEwHqOIk6T7JGacWZRyLf4llxpplHIk9IEBAEqicC1HESdZ5kjdKKM49EvsWz4kwzj2TxGAoJAoJA9UKAOk6izpOs0SkoE3W73Sb0y1MKSnl3OedtVjQycqhxCMiAqzkCtA0kpbw6bw1XKWVFSxHuxpzx32L8N+OLpM8nzMJOtuCZig+e+B3rty3CM8+Px2bySkHiUCwFaFKk5iBAZSfVnBHLSAUBQYA6TyouEpQlFVde5AQBQaDqI0CdJxV3JJQlFVde5KoSAtJXQSA4AtR5UvBcfy7lSP5cSQkCgkB1QsDawMQxUd9JjB8RUp3Q4/hw03Rkj2PQwsRKfhCHYskxkxLVGAEqNUmpQ+8QKHUorxpDIUMTBGoMAkp5dVspb2gfuFLe3QK0CxafkwGmlQoub8lJWIkRkK4JAqVEQKngek+bQNtgVWvSBTy+qNShdVjlJBQEBIGqi4BSXt1WyhvaR6KUnk9AWwltF8gXG0EUhASBmoeAUgXYB20baBdKhYjqj2dXb8CateuKpPwPsNTDee8vxvy5y5HxSI9SNctC4lAkCkKCQBEIKKWKkJDsikZA6hcEDgcCSpVe15UqfdnDMTZpQxAQBMoHAaVKr+tKlb5s+fReahEEBIHDgYBSpdN1pUpX7nCMSdoQBASB8kFAqcqi5+GIq+XdpYhS/irSoVjKLkkxQUAQEAQEAUFAEBAEBAFBQBAQBAQBQUAQqEIISFcFAUHgiCCQhdSkJCSViVKQWYq+i0OxFKBJkeqLgFKV5W5B5cOYL5B+8skn8X//939FEuUyM0tjkoo3btbNNqy+/PTTT8UqaJUrrnyxKg0itHDhQoNRQe1Y+Vb/mQ5SjbAqEQJK5dsGBVWJela9urJx40bcfvvtYHgkRvbWW28Z3aVuXn311aYf7MuKFSuORHcKbZN9tfpYqKBkHjYElM02KKUOW7tla6hqlOb5TjqcveW1mbagIKrs+kfbxT4ebtwO5/+oKrallNc2KOUNq+IYyrvPycnJ5tpPXeP8nvN1qw3GyWMe5weUtfKsc5x51FeLX1TIOlgXyxU0Vy+oDqtNu16xbdbFfrK/BZU9EnyOj33jeDluex/Gjx+PQJ49v7hxqw2GFhaMB5YnZswP5Es6HwGlSmkXPLPwdL8+OOH4vqWmHieNwrT8rhQ75ii2pAgKAjUIgcD3FwSmaxAUvqHSoTh58mR069YNX375JcaNG4cZM2bgq6++MiHT5DOfcrm5ub6yRUV+/vlnkIqSs/IjIiJw5pln4scffzTtr1y50soqNFy+fDmeffZZM2nZsWNHobJlyXzllVdMv1588UWkpaUdUtUxxxyDe++919f/xMTEQ2TKi0FcSeVVX3WvJ1DXA9P28QfmBabtsuUar8aVffvtt3j99dcxatSowz7Kq666Cvfdd5/RTdoy9uOaa65B69atsX79+sPen8IapP2iLfvkk09AzOyytDmPPvpoUNtjl5N46REI1PXAtL3mwLzAtF1W4sERsM536ueCBQuCC1UAl9dq2oLQ0FBzTeecg9du8hhyMU770L9//0qhbyNHjgSxsqCgbaCNoK2w8618CSsWgUBdD0xbrQfyA9OWXHUODx48CDqguKYIXENwPUEe8yhDWQuLevXqYdOmTWYd0qhRI4tdZMg6WBfrLO4awqqU8xPqfu/evS0WaCtoE2if2F9fRiWINGnSxKw3UlJSkJCQ4OsR1wa0qcTCxyxFhHMOrneIpVIKPH9pK+nAtNsdtjd79myDVSmaqXZFiJN9UIFpe15lj4tDsbL/h6R/lQYBKrrHU7ruVJdS/fr1w6233lrocJhPuUKFbJm82Nx22202TvGijRs3Rt26dYsnnCf16quvIiMjA1u2bMH8+fPzuOUfDB061FR6xhlnICYmxsSPxKG02B6Jvh7pNqnb1PGy9oN1sK6y1lMTy/N8ffPNN83Qp06d6rcwNswKPHARMGHCBFB3e/bsaVqi7rIfV155pUlXpgMXTnRiREVF4bTTTvPr2htvvIHp06f78SRRPghQt6njZa2NdbCustZTU8p/+umn5rrN6/dff/1VKYZNO/HPP/+AOjht2rQi50YV3Wku1omTvR3aBvaPtoI2w54n8YpDgLpNHS9LCyxPKksdNaGsdZ3evHkzDuc5TltEByKdaRbOtAmDBw+2kpUmZL/S09PBmwtWpzjnueSSS6xkhYec33HjCW9uVHhjlaiBYF2hXpOC5ZWJpzrhmpffwuuvvlFq+uCl69EdJf+JQ7HkmEkJQaBGIhASEoKnnnqqSAcZL+7FkSOIvBBfeumlZqHAdEUSL2Z0Dlht0Hlgxcs7POecc8wduhEjRpR31cWu73BiW+xOiaAgUAgCdPLT2U8RhkwzfjiJC3IuzO1t3nHHHYiNjbWzKkWciwMuErhYsDrEvj/44INWUkJBoMojwGvZb7/95hsH4+T5GEcwQt3jTQh2gXMKLtIZP9zEdoM5B9g/2gjaisPdpyrannS7CiHAeX2LFi2glDLE65/VfT5xoJSXr1R+SHmWs+Ss0C5vr8fKt4cdO3Y0Sd5I4NxAKeV7yurmm2/2WyexLbaplLcPY8eONWXZhlJenlIKlKEs85Xy8iljhPXB3j/eILBsIGWU8sqzjrVr14L5SimwrsB8q41evXr5Nlhwg8bxxx+P5s2bGxyV8tbH8mzHqo8h07o7xfpr1aqVb+7EeQkdsIfT6VusTlYroXrocMbpGFQGOn1wRzQoBSbiUCwFN9f/OgAAEABJREFUaFJEEBAEiocAJ7nR0dG+C5T9YsS8Bg0agBdk1nbuueeCsuQzzYseL45KeS9s9jzml5TonLjiiitw8sknm6KFTf4D27b3m4ULy+cFWClvn+3leBFmWilv3vfff8+qgpK9DmLA9igYODF4++23S4wt62KdSnn7oVT+RIhtCAkCRwqBSZMmge/X4Y4a9oF3s6k3jDO0649S3smy/XxmPuXsPKXyz3OlFDgpZ32BxAm1teOZtkgpZSblrI+LctZtL1OQjtr5SuXXwXaVUn42jraOdk0pbx+p31YblrxS3j5bspT/999/Td+U8pZjmyzHMuw747SrXOicffbZpk2lvLJKefXdjpG1K5Tlqh5Jj6s7AqtXr0aXLl1g7RTmuf3333/7hs3zX6n885u6Sr2lPijlr3OBskp5y1GvqGO+SksQsZwL3LHE3ZNsm31Qyls326RuK+VN8/pL/WMTgfxAZwBlSNZYlPLWwTrJJzEe6Bxg+3wkUymvvL1Nq4xS3jylvLaUfBL7RnmlvPmcZ1jpsuDEuoUEgeIgQB3n9Usp7znIOHmBZemc4qtJAvnUF94c5Hw/NTXVZztoQ4LtZKSzizcGrN1zfGqKehBYr5XmZgHWZaUZ8tqrlPf6yjSJdRx33HGMYvv27eaRbrZFneXGA6s9znm+++47s8OSdXMexDULZVjYGg8f0WY9fIcjr+20NZSx6tmzZ495ysJ6SozvfmZ+YF/ZhlWGTkTWOXPmTMyZM8c4FdkmseMTZ9wk8ssvv+CRRx4BQ6aZbyfy+EQWeWyT9dEeksc8jpd2kn0hJmJPiNQRIs8KfP/og3hw5HgsKccuOMqxLqlKEBAEBAEfApycn3TSSeaxZF5ceHGcN28eOnXqZB5l5CLdelyIhXih5J108lm2bdu2ZtHMbeG88PHidMEFF5iylC8J8aL7wQcf4PzzzwcvcCzL+jj5Z9xOvNhxAsALM/vMtjmR4YWVckXlU44XYspaxPZ58Wc9rI9j2rp1q7k7aMlYIS+8nHBQjhMh3uFjf9guL8bkU5Y7uGbNmmUmKZwQsG4+6sg8YlgQtqybMvyfsB+BEw3mVShJ5YJAEASo89SJ8847D8cee6yRoL2gM4EJTkr5fh6e60zzvOWkmAsKvpOH7wzkDmTqDPWF+kFd4XlulaGNKWinDuvhhJ4Te9ZPok5xIcPFOXWYPFJhOso+sW+UY7vsM/vOdtnHdevWgfrJ8dI+cqzsM/vKBQkdDCxLXbbsCJ0nfNH7wIEDjc3gC9TpbLX3lWXYhtU2y7JeLgDstoD5tCMcr4Xb8OHDWVxIEKiUCPBVJYMGDTILZauDvCFoxYurc5beUi9pF6hzrIO6smvXLqOXTJeUuFC2ynAxTX0P1E/qnNWeJcvQzuecg04NuzOAdof2h7aNfeachHrP67hlKzh+q25rbJQfNmyYz5HCtiyycKAt4ByAZVkfnRaUoW2w28IxY8aAtoLynDdxlxH7RVkhQaAiEKBO8vrF85PEOHnB2uLNQOqElce5Ms9/pjnfpz5aOkq7wWsv8+xEHaAu2nlFxXm95ZwiUI47ha026NTkXIQ6TL2y+mrtsrbWC3a9Yv/5XnXOE1g362K/qdu8ccA5CdcF9vkR5Uish0+IUZ+JlzVuK6RMYcQ+WrrP+Q/nHpRn2KdPH7+dl+TbiXaINoJtcy7DOHnsP9cqHCvHxvkZy61Zs8bM9Uq7rmMdQqVBYDfmjP8Wn0+YhZ2lKV5AGXEoFgCMsPMRkJggUBoEuAjgxc26kHbo0MFcPHhx5UW2OHXyIsqLUXFkC5OhU6JZs2ZmwcCLHC/MlLcu6oxbxL6xj1zos8/WO4iKm8/JC+++WfIM2T4v/pz0sD7y+Bgl04xbxIstdwuRTzmrLvaHCwlLjiHHwEkQ4yUl1seLPstxUlTSiRTLCQkC5YkAnfvXXXeduUPPBSvrpv0gn3ESJ7vWbgTqqbWg5su/hwwZQhHzblSe35YOWZNvZnKRX9hCmBN4OhY4Eae8RZxYczLMdHF0lHpJ/WQ/LD2jHeOL0TkG1mPZx2ALHubbSSlldm7ygwu0Y1yUkKwdlXbZYHGO6+uvvzZZdptqx81kykEQqGQIUN/YpVNOOQUkSzfpMLDymF+UzlHveb2nrDUnsRbZ1G8umJlXXlQS/bTapL0L5gxgPm0JbR7jJSFrjFYZYsY5BtN0XjLkXIP20m4byLeINteyWxZPQkFAEAA4d6bDk/Nz6hAxoR5z3mK3OdRdpRToEGQ+dxjSSco5PucALMc1AtcKJGs+Qz7rYhnaANoVzmlos8jjTQbKWMQ+UIb10kbSoWflFTfkuofrH8pbcyY6OGl/ySuMuJ4gHiTGiQFvhnLuwj4RJ46DDlHaFK6VmCY+hdUreSVBIAu7fhuHRx59KCg9+ugHmO92IMK1EJ/myby+IKskDQSVFYdiUFiEKQgIAmVBgJNWXswKqoN38QvKI58LYO5WJHHhbS3KmVcaYh3c4cCyvIhxQcE4L8r2hQQvftaig/kkqy/WxbGwfMoHI2tCECzPzrMutpwocOKhlIJ1oS0KM3s9hcUtRybrVUr53vtSWBnJEwQqEgHaC+oVz3m2w5AOOca5+GU+4yR7HhfA1FnyqacMy0qc9NJ2cULMmw9WfeSxH8XRUbuNscpxkcDdl6yP9ZDPOG2bUgq8o880H8eyxsQ0iZNvLiI4Rk6+GZJfErJwo22hPbTaKE1dJWlXZAWBsiDA6xSdYtRLkrX4ph4wz6q7KJ2z5CoitF+b2dfSthHMGcAx01bQHrFu6jF1uIA2imRb9iuYIOsNdFAEkxOeIFCZEbDbAs4reK2zdJRO9PK45tFBxuu4hQPrDHYz0srnjRA6EKnHJF7n2U/mc57B+Q71j2uFVatWgU495tmJ9oH6y/IW0aFpl+FNRjoU7bySxmlzrJu6XCPxZg3rIJ9hSYhPWvTt29ds5mA56//AuFDFIJD00YU48Y63MP6b8UHp229nYYtu2uHZhnl5MrdrnmaV6U8cimWCTwoLAoJARSHA3UdKKXASbV3QStMWL/qckHPBrpT3fSz2hQidEqWpt6LL8FEKa9LAsDR3GoP1MXDiQ1zG5r0kOpi88ASBikaAk2ROXDkRVkqBIR0GbJch8xkncRJuPaJLveYNgaOOOopZhrjgtk/OOYnnbgBmcpJc0KSYOwj5rjDKWcSbCNRDKx0YMo+6aZFdRy3HPfvPPqakpJjdl/51wDySaJVnyDEF9pF38QN5gfUUlbbjRptHm8odk0WVk3xB4EghQEcAHQKW010pBcat/jCPMla6MJ2j/ljOSOoY5wXW4paL/eLsvrHaCQyterjg526/wPzipgtyBrCvtAHcLURbwnaKW6fICQI1EQFeu3mN47yCN+M452ea/PLAg9d11mmvy25juG5hmnpLGc5BOBdhPJB4bbY2OdC+HThwwO/RYtbFMnQ4Hi6HP+0h7SLb/eyzz2DdDGW6uMQ5lfWos1XGGouVtsKC+Fa+hMVEwLMC3366Ik84HLFNmqJpADVrEocII5Gf32f9ijK/T1EcigZUOQgCgkB5ImC/QFr18mLKiyrTRV086Eyko4sT57JM0NkWnRF0QHCxbhH7Yl0subjmhY+y9gmA9fgB+RbFxMSYL7ExHSyf/GBU1HitMnSkcMxMW4sUxsubOE4uqogN2+PCLCur7Fvey7ufUl/NQIAfY+G5aOknQ6Z5bhIBLqTtjgPaBOZxUs+Xp9vv5tP2LF++3Hx8iZNz6hTfTcb6Au/ms2470aHIxbudZzkorV2CrI9tU6YwHWWfrMeGLrvsMtidd1zgsD7WwZ0K9rGRV1Fk3wkxffp08whpRbUl9QoCZUWAu3r5MRbaAzvxPGbddBbQwcY4qTCdYz4d/rwJQLtBPaZ9YF28FvKaSJmSEu0Fy7Ncee1+Yl0WsX6+c4x9pkOUtsPKK01o2TN7WTop6KygXSMu9jyJCwKVHQHr/LX3k3rD6zPn+pbtoP7bZexxytrTnDOwXjsvME77cdVVV/nYbPPNN980cw865Jhhv8lBefJ4vef7lBkyTbLkeDOUNok8i1iXtV7hfIftMI/zFWvtwjSpoH4Hjo+ydmKdX375pY9Fe8gbsGRw/cR5FePFJdbHV9hwJyfrsspZ9odrQcpw/sMxk2/JSFgWBHZj63bApTri+j+WY8HUqZgSQJP/fhFnOtzICDkdz+TlzZ4wHN3K0qwuW+0dinqM8icICAJHAAHrAskLBi+cvDjzYseLR+AF0+oeL5CUDbz4BaYpb9XHeEHEiy0vaIHt8QJnXSw5kWac7bIeq992PvOsCUBR+ZTlmFmXRdaEgHXykQby+dgh04xbL3Hm7kEuSsh74oknwP4zTgcriXGLiCUxsNIMg+FEPsnClhMgqy5rAca7qOHh4RQTEgQOKwLcHcvdezz37Q0zbekCHQd8dMbKt+cFm+zSycDFt7WQ4KsTWMYqX1DIL6zyY1CW3lGOuxC4mKeNoN1gPVa/CtNRyrIM6+BigDaAcZI9zz42TrBpryhjJ9oT2hU7j7pPG2DnBcbpRLWcHczjooB4Mc6+sR+MCwkClQ0B6gIXpFdfffUhXbOuwcywL7B5PvO8Jj9Q58ijDvEGInXHsg2ffPIJs0pF7KPl7GN7dhsVWCHb5o078qm37APjdgrGpxz5lhzT1rzB4gWG7JflHAicE9htgJVnhbRrtG+B9Vn5Fp/OADpqrLSEgkBZEbj77rv9nkyYNm0a6Dzn/IDEOHlsh9djOr45l+W5ThtAPsmaS9N5x2s3yymloJSXoqOjzbya+njppZeCdbEcZVkfyzFNHaMtoRzTgcR1DHWROqOUt272qX///uA1l7aIZahP1kfR2IZSCg0aNMD555/vtwvRmov31+WpoyxrEevix9VoY9hftqOUAncysn7O5+395sfe7HMY5rNt1sfyHDfHxXURx0Ee+2Ofo1CWae5M5A1cpotLrJtt8N2J7J+9HMfGDzyR1759e3BjBj8CQz55QmVFIB5xsUCWsy26tS5rXSUrLw7FkuEl0oKAIKAR4IWXFzVeiHTSXJSZJp9pEi8kvJDygsGLOu9AcccOdw9ZFw/K8IJMee5I5C4eXjx5AePdcl7UWY75JLbHCxXfVcKLPfPJ58WUF03GLeIkhGWXLFliJir2vjHO9ixZTlR4kedFmH1iv9k++ew783jBZd+KyueiguVYN0N+zIHl+LVXXrzZV6UU+HEFtsHHMOwODy5weKHn2Nh/pRS4COLuKo6R5Vk387ngouOEuJDHSQNlGGc/g2HLPnDHl1LKTNgoyz4zFBIEDhcCbrcbnDzzfOZ5q1T++zy5SKCTm3yrP5SjPCer5PHcpv7QVjBtEctygUF5pbwTfaW8ob28JW8PqReWbVHKW4ZOQzrmqH+WbGE6askwpP5S36ijtAHkWcT6uFuKaauvdE5YDj/aDdoP5jM8++yzYY2dYV5CcdkAABAASURBVEH2z3K2sMyoUaPMS+BZh0W0LVyYsG8WT0JBoBIg4OvClClTzDWb126ep3a9ta7rvP6xAK99nHtY1z3KF6RzvM7RplBeKa9+K+UNrfKs007kK6V87zJmu2xDKe+rGejso32wOxFYnnMcfsyEceo35xAJCQlMgnVQf6nHrJ/5zCA/0BlgORqYTznaKI6Pact5wjj1mnziwbkKnQGsm+NlPvmcO7FN7tTivIP1KeV9jJxp2jXK0oZecMEFpp9M0wbyIxH2uliWeUKCQHkg8NJLL8Fy8ttDnqskO8+K83ylnvGGm8Wzz6WD9Ys6Rt1jHnXWKseQ9TG0iPmB122WI9FZxrZ5HbfkGbIO5tuJc3H2i/kkxsmzy7AdthesPOWsfJa3iLgwL7APgfUH5rMd1sf+W9gxZJr12alz585B3+dolwmMs262wXYD85hmO2yP4wjsK/OFyoCA6oFb3n4LH7x0PbqjgJ/qhGteLkKmgKKFscWhWBg6kicICAJBEeBFjxeDQCLfXoAXTV4wLDleZHixscuwjJVvXYACy9llWAcn5wytcgytslbdvNiSbxHrsPIYt/hWyH6yXcowZDpYXlH5BbVrv4iyXn7NkW1QnnXaKbB/TDOfY2RZixYvXozFmqw0Q8pQlsRy5JEsPidCduwYD/yfsKyQIFA4AmXLdTgc4LnHc9Mi6xwN1BUrn/LWuUpZ6g91tbg9oZONToVg8qzn5ptvNrsG2I7VZkFt2HWLskwH1muNI5iOU5ZjYFmLOMlmGeaxPovPkH2yxs6QafItYl0sx3Gwz+RThrLk2+nEE08M+j5Hu4zEBYEjhcCAAQP8nAv285i6xHM7kKzzn/pDPaJcSfrPmxB0pAWWYb2BbdnT1DXqXGA5pu1lKffDDz/4xmWNyS7Deilnr4/6S1nmkRjn+Bi3y1rjJp/5TAfWzbKsj30jPpS1iGnySSzLOqw8tmPvO/m0T5QVEgQqIwJ0kNPBHqxvssM2GCpeHm9CKOW9uctXTvCGrWUzvBJyrOwI1Op1Ok4f3BEN2FFXFlKTkpBkKAWZ5KEeOpxhkzG8sh/EoVh2DKUGQaBqICC9FAQEAUGgmiPAxbC1MyjYUAMf3wsmU9143NVlPerFRQJ3G1W3Mcp4BIGiEOCuX+7ODSbHnYZ8hDFYnvAEAUGg6iDAGwPWbn86v+1ERyOfAuA8oeqM6PD11JofMeRNhA4dOhy+xqWl8kMgayumPn4Oju3UCT2P74sTDB2Dzl364+r3FyEZ5f8Th2L5Yyo1CgKCgCAgCAgCgsARQIB32PkoIB9DtC8k+M4vvg+IjwQfgW4d0Sa5OOCjXnQm8h2uskg4ov8OafwIIMBHffnaAL5KwW4XGOerB/gKBfvOwCPQRWlSEPAhIJHSI0BnIW8q8rF8pbyvNFDKG7JW+25cpoXyEeCORL5Khtj17t1bnmTIh6bqxHLX4/NLT8KNX67EAZd/tx2Z2zBz7DB0HDEV5e1UFIci5CcICAKCgCAgCAgC1QEBPuZH54D1njOlvAsJviaBHzypiU4D4sH/7Q033HDIy+DJFyozAlJBJUeAj+3x/YN8H7FSXpuglDckTx7hreT/QOmeIFACBDgP4M2CQBJnYuEgcn7EVxwQN2JYuLTkVkYE1r9+DZ5Y5jRda3jOQ3j1u89wR3s3Mp2nY8R7w3FqPQ9ivrseN/6eZWTK6yAOxfJCUuoRBAQBQUAQqCIISDerMwJ0DnBCbCdOkjlZrs7jLmhsXBgQi5qMQUHYCL/mIED9pw5QF+xEe1FzUJCRCgKCgCAgCFRLBDxbMevvrWZo8ff/gX9evA6DOzdFQogHbhWOpv3vwVtvD0dzLTH+q5+wS4fl9ecor4qkHkGgQhGQygUBQUAQEAQEAUFAEBAEBAFBQBAQBAQBQaD6IyAjLAEC6/HfKmV2I953eZvg5boMwaXtXWgydxYWo/x+4lAsPyylJkFAEBAEBAFBQBAQBAQBQUAQEARqJAIyaEFAEBAEBIEjh8CBJm1wVNThbf8Qh+I5w9+CkGBQXc6Bc29923c+W3GGe/anH15Nk9YEAUFAEBAEBIHKh4D0SBAQBAQBQUAQEAQEAUGgSiNQH80aA7Hbt2FnAePwLP4GX61xIvGoTjiqAJnSsA9xKO5KTsO6HXuFBINqfQ6URlmkjCBQORCQXggCgoAgIAgIAoKAICAICAKCgCAgCAgCGgHVET17uRHhWojZ/+m07Y+8D686Hb0v/RBbNP+YswehhQ7L6+8Qh2J5VSz12BCQqCAgCAgCgoAgIAgIAoKAICAICAKCgCAgCFR/BGSEgsBhRuC4C65CLc82jPvoDyQj/+fQvEUz1+OAC9jb+yF8eXWz/MxyiIlDsRxAlCoEAUFAEBAEBAFBQBAQBAQBQaDqIiA9FwQEAUFAEBAEqiwCfUdj3tp1SBl3OhLg/YXXa46mTZqiYffTcc1rfyDx0+vQwenNK6+jOBTLC0mpRxAQBAQBQUAQEAQOJwLSliAgCAgCgoAgIAgIAoKAICAIBCKgmmHY+9MwZepU/DP+DTw0uA0iytmZyCbFoUgUhAQBQeAwISDNCAKCgCAgCAgCgoAgIAgIAoKAICAICAKCQPkgkIXUpCQkFYtSkFk+jZpainYoGjE5CAKCgCAgCAgCgoAgIAgIAoKAICAICAKCQLVGQAYnCAgCVQsBzyw83a8PTji+b5HU46RRmFaOoxOHYjmCKVUJAoKAICAICAKCgCAgCAgChxsBaU8QEAQEAUFAEBAEBIHDjYA4FA834tKeICAICAKCgCAACAaCgCAgCAgCgoAgIAgIAoKAICAIlA0B1QnXvPwWXn/1jUPozecfwvntw3T94Whx2Si88dL16I7y+4lDsfywlJqqPQIyQEFAEBAEBAFBQBAQBAQBQUAQEAQEAUFAEKj+CFSVEdZDhzNOx6AgdNqQ6zD210WYcm8rbPryDXwf3hQNynFY4lAsRzClKkFAEBAEBAFBQBAQBAQBQUAQEAQEgSOEgDQrCAgCgoAgEIBAOJpecSPOwm58/9T7WBKQW5akOBTLgp6UFQQEAUFAEBAEBAFBQBAoEwJSWBAQBAQBQUAQEAQEAUGgAhGIikOE8iB2+zbsLMdmxKFYjmBKVYKAICAI1BAEZJiCgCAgCAgCgoAgIAgIAoKAICAICAJVAQHVF49Mn4OFM8fg9HLsrzgUyxHMyl2V9E4QEAQEAUFAEBAEBAFBQBAQBAQBQUAQEASqPwIywpqEwLp3h2JA//4Y8M4K27BTsPy94ThT808++x58mhiO+rXCbfllj4pDsewYSg2CgCAgCAgCgoAgIAgIAoKAICAIlA0BKS0ICAKCgCAgCJQUAc9WzP59ATbtqIdLzuvoK5300f/h/OcmYV3iNuxY/QfGXXo5Xt3syy6XSLk5FNs3qYue7ZugX5eWFUbR4aHlMmipRBAQBAQBQUAQEAQEgfJAQOoQBAQBQUAQEAQEAUFAEBAEjhwC6/HfcoW9TfuiT8O8XqT/gaefW2kSsT3OxRntwxCSuwJ3fjzL8MrrUG4OxTWJe7BgTSKmL9tUYZSelVNe45Z6BAFBoOYiICMXBAQBQUAQEAQEAUFAEBAEBAFBQBAQBKoNAilx8UhA3m/aj5iYq7Cz9XB8+O2LeOXbZ3Gm8iDun1k18SvPeaBIIAgIAoKAICAICAKCgCAgCAgC5YqA2+NBrkuT24PsXDdy8uI6CU+5tiSVCQKCgCBQHARERhAQBIqPQDziYoEma5ZjlYulkjD+s98YQZdrrkA3xqJ6oNfRbsRu34adTJcTldsOxXLqj1QjCNR4BJIPupCSaSxBjcdCABAEBAFBQBAQBASB8kdA+w+Rq72FWdp5mJ7txprdmfh91QF8Mm8P3pm9Bx/O3YMflyVjcWIGMnS+S8uyDB2PBfZGMgQBQUAQEAQEAUHg8COgOuKE4z2Iyv4JY+57Ea/dfRkeme9ErqMHrupfL68/qTiQouB2huelyycoN4eiUykkRIUjKiwEDh0vS/ciQkMQp+uqFR0B1sk06yRBfoJANUdg/JJ9eHtWktkhEDhUTv6zc2WvQCAukhYEBIHSISClBAFBoGYh4HUKAokpOfh28T48PmkHrvl2E+77LRFvayfi9ysO4I+1KfhZOxc/WrgXj/21Hff/sg1JqTlYtiMD65KyYJyLNQs2Ga0gIAgUgABtikcf9B94w8FO5BkqoKywBQFBoLwQCMfJV1yJ+rq67b+8idd+2aBjwM4rH8aNDU0UWPYbvt/mwI6j2uKoPFZ5BI7yqIR11E+IxtXnHYcTu7VCXGQoWaWi2MgwnHVCR9x4fl/ceOHxmk4w6fjocMTovFJVKoUEgSqEwK60HCzcnoFZm9LAizC7znBbcjZenLYLXy3aC3EpEhUhQUAQKAkCtCM7tRNhceJBLNiagQ17ssDdSSWpQ2QFAUGg6iLAhf72lGx8MDcJd/+8FV8vS8Z/uw8iI8eNCKcDjWJD0aZ2GNrXCUe72uFoFheGuDAnokIdWLkrE09O2YkHfk/EM5N3YO3uTPNYdNVFQ3ouCAgCZUXArRckSXrdsnxnJibrGxFfLdqPt2cm4fXpu/H+7D2YsGQfZur1zHp9I4JPX3EeUtY2pbwgUAMRKN6Qjx2NX188B83NBsRwxAweg0UP9vCVTQ/tiQdefQN/PTMMLXzcskfKzaFYJz4aw04/Bsd0aoGoCDOKUvUuIToSFwzsjsvO6YPLzu6Ny8/pjaGDeqB+Qgyiw0vvqCxVZ0pQqH/31ljw1QNI/PMpP1rz40hcfFr3EtR0+EVfvud80+cJY685/I1Li34I8A7f3oxcpGa78e68vUjNcpmdAHvSczDm752YviXdTOxVXinK62u5cTzyIu2N85gnIIEgIAjUeARoEdKy3Hhz5m7c88s2PP33Djw7dSce+mM7RkxMxPo9mcbO1HigBABBoBojkJXrweTVKXj4t0T8suoAslwehDsVujaIxAMnNcBr5zbF2DOb4IlBTTD69MaGxuj0K5r/+MBGaForTDsdFehAmJuYgcf/2qGdBfuDPk1RjWGUoQkCxUSg+orRBmTqmxAzN6bhoYnbcL+eRzyhbzK8MTsJ45ftx+/rUvHXhjT8uuYAvly6H+O0c/GxP7fjnp+34ZV/d2HjviyxG9X39JCRHWEE4s95CX/9tw5r1i7HwteGoYMzv0PRR/fHoDNOx6nt4/KZ5RBzlEMdpooQfWeTTsXoyPAyPfIcHupEwzpxqF8nFnVqxRhqVC8e4aEhZarXdLKCDnTIffH8tWhYNw7jf1uAJgMfNfT6538jLCwEL44YisrsrOvRsZlBplXzeqBj1CTkUOEIcJFPJ6C9IU74SeQdyHThpX92YeKKA+YivCk5m2y0rJXvsE/JdGOpnthPXZeCaZqW7zionZBuIycHQUAQEASIQI52JLysJ/F/rU/FAX2TgruRMnLdSMt2Yb2e2D81Zadq3hbRAAAQAElEQVR2KmaBNonyQoJAjUSgmg6a84zkg7nedyPqG5V79dwiRs+1z9ILisdPbYTHTmuEvi1jUDs6BE6HAuceu1JysDc919xoiA13IirMiZa1wzHmjCa4rFstNIoJRUaOC3/peQcdk3wdC9upphDKsAQBQUAjwB3OtA9/6BsSj+kbki9M34UVSVnYk5GLdO1gzNY3KXK0t5GvRCDpaQbIy9IRzj12pOVginZC8qbGq9rJuFivX2g7dNXyJwgIAlUYAUdl7HvgooavZCRVxr7SmTjsjJ6ma7MWrsddL35v4jyM+WQyfvhzMaPoe0wbUNYkKtlh0YqtpkcbtyRh6uINJi6Hikdg094sDP9uM16YuhO/rzyAbdphmHzQZS6+bJ16MH97Bt5bsBf79QKAvMgQB9rWizA7EmduSsN9v27DU3/vxCszk/DyrCSM+ms7bvluC0ZN2o6/Vh8wCwNe1LmTkeWFBIHqhICMpWgEOFmfvOYA5uuJOyf2gSX03B97td35dul+cBdjYL6kBQFBoGojkKJvIryp5wi/rU1BjtuNVglheLB/Q1xzbF20qxcOzjumr0/Dc3/vwvDvt+CBidvwsHYWjPgtEbf/tBWP/ZGIn5fvBx+VptPxgi618PjAxujbNBpnHhVvXp3wyfy9SEzJNrsXqzZa0ntBQBAIhgDnEokHcsyrl96dtwfLkzKRpW9W0skYTL4gHtckKdluTNVrmKf1+uWbRfu0DcoV21EQYMIXBKoAAkfEodggPhpDT+mK+y8/BQ9edSruu6w/BhzT1nyIpQpg5usid/OdeGw7k07PyML4PxeZuP3ww5Ql2LknxbAoyzImUYkOdIJyV+XQER9VdK+kfhsCdWNC0FxP7P/ZnI435+7BLT9swR168r4rPdcn5dZeRV58yagd4cTIAQ0RGarwnV78P//PLuxIzQF3G+VowRx9Z/Cgvrgn68XDfO08eEU7GK+fsBkjf0/EZwv2gY8mcNeBW8vKTgIiKiQIVG8EeCMhXU/cf9A3LGgjChotbczSXQcxR0/wtRkpSEz4goAgUIUQ4HWeNxHemrEb8/ScgOlejaMwelBjdGwYgUw9X/hYOwYe0nOEF2bswuxt6UjWNy/5yhXuNiJxN9LypCy8r29sPjgxEc//vUPf/MxCw9gQjBjQCGd3TMBnC/fihxXJGDdtp74p4TI3PKsQTNJVQUAQKAIBvRTB/K0ZeGzSdnCjA+1KEUWKzKY94vrl62X79c2Mndip1zNFFjrMAjt27MCzz47BgFP647///iuy9W3btuLRRx9B72N7oX27tujRvRtuufkmrF61SttFolhkFUEFOJd76MEHTZ2styB64onRh7STmZmJzz/7DANPOxVHH9XB0FlnnoGJEyfC5XIFba8CmFJlNUfgiDgU27eob963eNWQvrji3D64+vzjcW7/LmhYKxaorFsRceivb7dWqJMQbTJStUNxV57j0DDyDtzxl5aeaVKUZRk+/mx/1yLfvUhH47T37zDvMtz022g8pB2tLMSQaUvevsvRkmce45Ys5f9861ZTF/NI1rsc7W2zLnva6gfbJbFOliVZeewn4+RZ9OkTl4P1W2m2z75Y5SnfqkEtVilkQyAm3Ikb+9ZDgyinuTOn/XzmkQGGNjETDXEonNcxHkc1iMC8rengBZgXdF6e+D5Fqo0WMa8FYByayXp4sV6yKxPf6Av28//uwsN/JOKP1Sm6Pc8hFx3TUCU88CLeq1fPQi+kfY/rgzVr1hzSe15IJ0wY77uQdu3SGTfdeCPWrVt3iGwgoyRlMzIycOWVVxTaR04AOA6Ox97We++9W2C5YPL2shIXBApDgDbif0v2I7EYE/UM7Xj8bU0K9mfk39AorO6qlked58S+h57gUxcZcuLPBUNZxlKWiT7b3bhhA+688w6z8GC/Tunf30z+aX+YLyQIlBYB7hz68b9k7SjMAHcXndQiGg+c0hC1IkMwd0s67vllC37W84GkYug8F//cVTRv+0GM+H07fllxwDwOHaJXEf1bxcKpJx5r92Xj1em7kKZtSWn7fCTK5ebmYuTIR811mNfjgvpAnSyPhTnbmzJlCi4aNhR0EhTUXnH5FePEKG7rIlcTEMjOdeOn5cnYVwxbUVI8uFZZuScLMzemVorXrtDJtnDBAlx37TXGkfjhBx8gJTW10GFxHvDFF1/gnLPPxvfffYfHHn8cK7UT8eZbbsHUqVMxZMh5GPfCC6DuF1pRAZmJidswZ87sAnK97NDQUPTvfwqU0gtALwuJiYnazgwDHY2bN282DkSOb+3atbhLzztu1s7O1CLGlleVBIJAoQjoqUCh+RWSGRMZBr5vsVZ8FBLiosCwtnbMhYc6ka8GFdJ0uVbaoE4cQkOcpk46Dek8NIkCDpRlGe4EXLd5t5HizsbnPpgElj35+lex4L/NGDHue4z5ZLJxKt50yUnYm5yOy+7/EHykmo9X0xHIwo+//otv92OjevE499Ru2JF0wPRp+drtRp5yObkufPTdTHzz12Kw7cmzVoHvd+TOxNe/muarg7IWTdPOzbba8ct3Qt4zdgJio8IxbsRQk83+st9McPflh7ruGx//wlfP5sS9pv/s38LlW3CvLr9x136KC9kQ4LleW0/sHx/YGM1iQ205/lE6Cns0isSZHROwOzUXny/aZ3YlUipUZ57WJhZPD2qM589ogut71sGJzWPQtlY4YsK85yblSHQu7EzLxTtz9+BXsxggt/LT33rinXLgQKEd7dS5M5o3b+4nk5SUpO8M3oyRjz6Kq666Gv8tX4Gvvv4GK1YsxwXnD8EXn38OTgL8CuUlSlo2KioKn376GVasXIWnnnoaEREReTV5gzp16uDzL77UE4K56Kz76uV6jzfccKMpd+ddd3kZ+ti6dRu8/8GHmDFj5iHyOlv+BIEiEeAkPUnr+98b9CSddx6KKEGRjclZ+GPVgWr15Vbq+Icffqgn+mdh8uTJSE9PN0gw/Pabb3DmGYMxadIfhleaQ2IpJ/rs1w/ff48LLjgfW7dswS+//Iqly/7DwIEDzeT/issvw86dO4vfJZEUBGwIUP+3HcjBN0v3I1d7AzvXi9A3MOubm468/o/7dzd26vmEztLXQVtBHY0Nc+D4plGoFxWCwB/luev544V78cbM3WaX48Cj4jCgdQzoDVigHY58LxrbDyxbWdO//vorJowfX2j3EsthYZ6cnIz333sP/U44HjffdCMWL16sb+66C223sEzakC8q0IlRWNuSVzMQyHV5MF/ffFiq9frukxqgZUKYec9qsNErpRDmVIgPd6BupBN1o5z65oUT0aGOoGW0OBIinDiheTSu02uX09rH4+N5e5B4IFvbJM5IgrVScTxLP/uffBIuueRi/Pvvv8YBV5wWOYcY++wYM7/o2LEjTjzxJDidIfi//7sM3bp1M/V88MH7+Pijj0o1toULF2Lbtm2FdqVLly7o0aOHT4aOwkcfeQSrVq308QIj06ZOxWuvvlqqPgXWJemajYDjiA2fliSgcaVUAKf6Jt/8+h/QKRetHXXDtdOQI33oqlORnHrQOP6YHnxiJ+MctN5tuG1XMtnokfcRFZOwHV7+dAp+mrzE1LtrbwosZ2GodnoOHdwT/bu3Nl+cToiNNA4/Fp26eAPoDGXcIvajRZM6pp5ZSzeCOy+5A9PaYUnH5MRp/xlxi8edl4ahD3Ru8svWQwZ0w3p5L6NGpOA/nvKN4kIxoG0slPI//5mqHx2Cu46vj7v0hZyPND8/dYffbqMz2sXh5r710LVxFDo0iMQ5neNx78kN8NjARnjuzCa4r18D9G8Zgzi9QHDk1c9HHz9etBfLdhwsuGOVJOeAdiT+88+0QnvjdDpx/pDz/Zx43Enw+GMjtUNuunHInXPuuaBcp06dcPrpg8H8sWOfDepIYF5py4aEhOCUU05B/fr1/frcrn170w/2wcqwh+SzLB2R991/P3748UecdNJJCA8Pt4tJXBAoNgLccfiRnpzvy3QVuwzfhzRtY5p5V1qxC1VyQU70X37pRbgKeLSHjsUnRo8G79iXZiilmeiznZkzZ+Cxx0aaBcjV11yDJk2bGht28SWXoF69+liyZInZvcRFAeWFBIGSIJCe7cI7s3fjYK4btcKduL5PPb3YB/jqky+W7NWOQDf9f0GrvLRrLdx9ckM8dlqjoPlk8gblVG0rxi/ZpxejwDW96+EYfeMzxKGQnkWbc/gdAuxXSWnp0iV4dswzKMg+sD7qYGkX5qyXu51uuOF68EmK554bi3379rHaMhNtW0U6McrcQamgSiPAmwIrd2Xi1ZlJ4NebV+0+qNcXDdG9QQRCuECB9xfmdJj3sl7dozZGn9YYY89oihfPaYaXz2mOF89qijGDG+MRvS45+6h4xIU7tR1SiNJOxsHt4vDkwMZmDXOKjk9ek4KJq1Pwzqwks2mCDnMcxt+777yDhYsWmrl3o0YF277ALu3dq2+uvP6GWVcwr3btOuZaznhsbCx69+nDqLExb7/zNpYvX27SxT1wTfLTTz8VKX7CCf3A9izBn/Q64kDKAb2e+AkrV63G4iVLce999/n6ZsnxhsqGDfL9BAsPCUuHgKN0xYouxfckntGnA246vy9uvuB4XKEdWt3aNEJEaEjRhSunxCG9otOOu/+YERMdATrsGC+IKMsyzKdTjrsJGW9UL944+lpqJ96v/3gddXTIkc/8vse0MY8vc3ci08HaosOPjj/ubGx/3pPGYUhnIZ2RLFMnIRp0+nVp3wSztBORvIKoZ8fmxpFJZ+eLI4bii+evRcO6cYbHHZYsN0s7GukQDdXOSsqz7//OWwuOkeX6dm2F1s3qgnKUFzoUAd7pP5CZi6nrUvHrqgN6Up4/Aafvr0PdcH0hboK+2iG4Ny0XXy3ci3X7eecO2vkIdKgTjvM6JyA8xAFe20kOXTDEqVA7KgQtaoWhf9sY3Nu/Id4f1hKXdUuAFgV/2bke/KsXA3wMiunKSkv0onrFihWFdo8X/m7du/nJTP7rL/z999+G17hxY8TERJs4D23btWVgLv5v6EkAJwOGkXcoS9m8KkoUcLLw/HPP4csvvsC7776HG2+86ZALfokqFOEajwDfibhhbyaW6sVAScHYnZ6LbxbvR1aOu6RFK538nj178I5eJNx6221YsHARVq9Zi59//gWd9Z18e2d3796Nb77+2s4qVpy6W5qJPh0Ur736qrFBkZGRaNK4ia+92rVrg0TG7Nmz8MsvPzMqJAgUGwE6AjbsycLavdlmR+K5HRPQLCEUm/fn4M05e5CSVbAzkY3U1jcyo/RNyMb6ZifTBRGdir+sPoAZG9PMu52H65ufN/eui6YJYUhKc4H9KKhsZeBTD1968SUEzgEC+1aWhfmmTZswbtwLqF+vHvqdeKK5sRlYf2nS7PMbr1ecE6M0fZIy1QuB5Ixc837UfQdzsUfPC96fuwd8DztvHnB9QRquRAAAEABJREFUEqrXGk1iQ3Fp1wQ8eXpjDNHrka6NI9FMrz3qaBtSK8qJ+jq/Td0I9NbrmOu1bRh7RhMMbhuHW4+rh4u71caGvVl45d9dSNM3Pren5hhH4qKdB/GtnoPk8L7EYYT0gREj8Oabb+HpZ8bgyaeeBh8hzmu+0GD16lVYv36dTyahVoLfZoDu3Xv48vi01Xff/c9vvefLLCCyZcsWbNq4Ed98Ox5r1q4rkG6/4w5fDbRtS5ctxWuvvY6OHTsau8Mnqbi+4HzIJ6gjSUm7wcehdVT+BIFSI+AodckiCvbu3AJ3XDEAd2m68/JT8MB1g3D+qd1QLz66iJJVJ3vWko3mcWT2ODYqHA20041xO/Xv3hp0AJLHR5dZhnHS7/8u9zngBvRuj8iIMN/uROZbxMej+dEUi3pe+hymBjgFucswkMfy/FCM3fHXvGEt2PtAmYIoJ9cFPhpttcuQj0lT3u4QPUo7imvp/ys/QMMxMp8foGFIOYZC/gjQdbh5fxZe+mc3+PGUwHcY1dMOwRuOrYvYCCc+147EUX9txy/6zl3+BF2ZD7pw1yJrZn2G6KUkI4+UUnpBAUTrxcEFXWujT1Ov/lGWjxWkV+J3HfHu5NSpf2Pw4DP03bVVBV5Ep/w9FU2bNoP1y8rKAhf53BlAXoResDudIYwaql+/gQl5WLt2DRYvXsyoobKUNRWU8JCU91j2vHlz8eWXX+G4vn1LWIOICwL+CNAEHNCT8/f05J/vUPXPBcKcDjSODUFz7SygXdAmwk+EO5iX6Ak9J/q0E36ZVSwxd84cnHXmWcZJzzv3Sil0OOoovPbqa2jZqpXfaNZoW8B3ofoxi0iUZqLPKpfpif6yZcsYRWhYGMJtr0gIDw9Hrdq1TB5t2G+//YaS9ssUlkONRSDX5cFver5wUN84bKb1/JyO8XoBC3y3bB+4c7E8geGHXSb8tx8p2uY01G21rReBl6fvxov/7ER27pG6KVH0CDm/eE079WfMmF6ocFkX5m3atMEX+tpOJ8VrenF/Qr9+hbZX3MyKdmIUtx8iVz0R4E3J7/9Lxhrt8OM8gLTnoAsvzdiNHQeycX//RjihWTRGDWyMC7vWQi29ZuFmhoLQ4IYHOiCbJYTh2j510aZuOJ79ewfempOE07SDMUPbitlbva8jYVuT1qVil3Ywcj5TUJ0Vya+tb+xFRkUVqwnuOMzJySlQtn79+oiLj/flz5s7D3y82scoIjJt2lTUrVsXbdu2LUIyP5vOw1GjRqNJkyb5TB1TSuFMPSfiRgydNH/mCSmn08TlIAiUFoEKcyhG8T2JCdGIi400VFvHE2IiERZSfU5aOvAm/L7A5xQcNjD/LoT1D+Fjv9zdx/S/89aCZRgn0bFnOeDOPqUr9iV7jSnzuNuQuw4Zp0Oyv3ZMMl5SokPP2gnJnY5R4aF+fQhWn/VoNXcfWjsSg8ktWrHVsGvFR2H7rmRTr7UjkmPesHWPyZfDoQis0gv2UX/uABfu/OqyXULbe3TQd/Ta6In51LUpxpHIxxZ5kbXkOBn+a0Mahv+4Fbd+txmfztuLZdszzDsW6SQMdhEOdSgc3zzGqgL8GnS2XnAEk/UJHcEIdw1Nnz4dAwYMgNPmECyqSyxX2DtD7OVdLhemTJnsY5WlrK+SYkbWr1+PKy6/HA0bNsQnn34GPvJYzKIiJggUiIBLK/S8LenYeiD4BLdPk0iMO7sZXjmvOfg6hUhr27KtxpQsF97RE30+Nm1jV1y0gmo+RdsOPk6sFJcz+Y1Q1wYPHpzP0DGnw2l2eutosf9KM9Fn5bNnz0ZhCxDKWLR61SrZPWCBIWGxENieko3FOzLMzcQTWkYjxKnAd6DN336wwMeci1VxECFtbrAzLRd/r001uVk5bqTqG5Xr92VhuZ7nGGYlPPBx4cmT/0L79u0L7V2UdiqU18I8Qt844PuUC22wmJkV7cQoZjdErJoiwI+z0cHHG4z2IR7Qc4MP5u3BdjoVT2mIxvGhcOq1hV2moDjXMCmZuWaTxAO/bjPOyh6No9C9aTS+XrQPrJtlaVM4B/ls4V5kuirvTQn2NRjt3rUbBzMyfFmRkZEIDwv3pXfv3lXs9yPzhsbkv/4CX63S+9he6H/ySbjm6qsxfvx48AkMX6UBEad2ELLdALZJRuiblqGhoSbOQ+3adWT9QSCEyoRAhTkUlfKfwJepl5W48JhPJuOHP707nOiwsz6Ywi7zXYRDBnZnFPy4ibW7zzD0YeriDaCTUUfNB024w49xkj2PzrnbLj2ZbPNo9E8v3WDi9kNhTkdrJyR3KnLHor1cf+2oZFk7j/3gx1bIO/PkzqZNxvk1Z46JcRIfZ2adJMbJW7Bii3Gw2nnkC/kj0Fjfpbv3pAZ4uH9DPKDDW3rXBd8nQrWh5nRtGGkWAz+uPGC+pOjQGae1icW1Peugba1wU5lHX3X5FcctKTkYv3w/HtMOykcnbcfYKTvwwdw95l1J+/UdRd5p1KK6jAdNdLs6Yv7Sst3I1JN/kyjh4XCIz583z3ys4O677wIvpGedeQaefuopcEdhYV9K27hhA+gYLG4fN2/aZN5jRvmylGX54hD/b5MnT8Zl/3cphg4diqeefhpRetFSnLIiIwgUhgAn7InJOZjwXzICFwJWudM7xJsdy2EhCp0bRaJupNPK8oXcCb1dOwlmbUwzO5t8GVUswgk1J9bBus0di3Y+dxIVd0cCy5V2os+FxrKl3t2JrKco2r9/P7Zu3VKUmOQLAj4EVuzMBHcOaj8iejaJMjr817oU8z5Fn1A5Rvjo8w8rks18go841otygo8r/qlviJZjM+VWFT+w8vZbb4GPOPKDboVVTPtBOxJMpjItzMvTiRFsrMKrWQj8sToFezJygw46OtyJFrW965CgAgFMrj+yct3gfOKun7fh+xUHkKrXHpH6ZuZFXWth1a6DWLTjoLFT9qIL9Q2QtaV4bYu9jsMRDwnJd86xvZycbHBtxjgpLjYWkZERjBpyud3mfYomUcRhzerVWLnS+1EVboDYvn27eTf8Iw8/hBP7nWA+HrNuXf7j1kVUFzT76I5HI3AnY1BBYQoCAAoCocIcigU1WB35dBTycWA+mjzsjJ7mfYeJfz6F2y4/xTwSfdn9H4IywcZORxydb9zZRyeiXYZl6Igkj85K1vnk7efgi1/nkYXRt50NOhuZYDhuxFDQQci0naydkNypyB2L9jw6KlmWPIask/24d+wE4+Tk+xD5HkW2zd2NdKBSlsS6WCeJcfKstpau2hb08W3KCAHxEU500Yv5Y5tH4yTtKDyrYwIGd4gz0PBuX9cmkdianI0delGvfYlorR2Bt51QH+d3qYXbT6gHPhJNPgvQicALNh0IfAfJAn1h5uT+2X924YYJmzB60g78oh2OW7SjISJUwSrHnYxZubq0Yi2Vi1yuXPPBFJfL+xKV5ORk89GETz75GBcNG4rj+vTGB++/b95BFtjz1WtWF/tizbK8QNM5wHhZyrJ8UURH6Ftvvol7tJP00ZEjcd3118Op7yQWVU7yBYHiIJCtJ+mTteNgR1rw3Ymsw6H1XSl9YKIQ4uPSny/eB+5UKESsWmTxbv1JJ3tv2hV3QKWd6KelpZXYQbhh/YbidkvkajgCvBmwJTkLLn1p54cP+P6ytCwXth7IPmTBXp5QpWnbs2p3prlZ0SA2FNxXtGJ3FrK0I6E82ylrXXzv6dNPPWneo3rqqaeVtTq/8odzYV6RTgy/QUmiqiNQov5rs4FUbS9+X5Oib0oeWjRcOwEv7JSA2PDiuQ94A50bG8ZO2YmXZ+zWTkoXXNpI8YmpoZ1rgY8+L9yWrttiy/D7ZWkjRkejFvfjV7ZEhw7t/d63uHXr1nL58BKx+3Xirzh48GDQIXN9xA8+XXD+EHzx+efavh+KYbCCe/buhbXm4dznoosukve2BwNKeCVCwFEiaREuFIGTr38VdCzaKdj7Du2V0BHHj6gMHfGRne2L3/Xi9351UpZlKBDYXkFtTV28AcyjPMvZie3a+2vJWGXseZS1l2Wc8iTGSVa5YLLMFwqOgAceLNF345jbSjsPG8SEYplOkw8otKwVBr5/hM6AVnXCcVLLGOgiKOjHywov2nyH0oIdGXh73l7c+dNWPDl5h68cJ/xJ6QU7Hgqq+3Dw1+sF9Ny5cwtsKiUlBWPHPosrLr8MO3fu9JPbtXOXX7qoREpqqu/RgbKULaqdZO0UpSPx5ZdfMhOEOXPmlMjxWVT9ki8IcEE/eX2qnlgWjEWq7YMMtBF6zh5UmDcp+AjSj8uTC60vaOEqwNy0aZOvlz179UIvTT5GEZGyTPRpbw4ezCyiBf/sjZs2+jMkVY0RKNvQXG43kjJcuhIPjqobbh53poNgfyZ5ml1Bf7QXm/ZmmScrujeMRLS+eRmpycWJRgW1WdJqqbeff/aZWezfe+99CAkJKWkVfvJHcmFeUU4MvwFKosYhQB1Zl5QF3lBkPBCArvUj0Kt5NLjxITCPaZbhu935Huek1BzwtSl8zLmuXtPkaiPBtYlD39DkO5xPax9r6jm7Uy0kRAR7UsKDFTsPVup3sXLM3bv3wHHHHceoIT4htXTJEhPnwW4nmObjz5GRkYwWSvzwEt8DXaiQzuRNkqf0TZLx336rU0X/0QnJJx8oOXDQIAwYcCqjQoJAmRAQh2KZ4JPCgkD5IKCvs1i6g3ehlPnYCmvdciCbgV7MezBzSzpW7co0F2d+mbmtdiqazBIcuIMxMSXH54fkXb/Zm9OQqz0KnASUoKoKF52nnYm8mBbVEL8Cfeutw/2+0pia5n2XU1Flg+WXpWyw+ize9sREXH/dtfj9998tFiaMH4+PP/rI/H99TIlUPQQqSY+54/i3VQd87yEqqFvcraRPOpPt0kaAdsEkghz4KONva1KwaV9WkNyqy+K7h5YsXmwGEBMTgzvuuKNErx2gbSrtRJ+7DbKyqxeeBkg5VAoE3B4F6rhTL9qb6ZuTvODvTMlFVin8iR5dh0MBSukDCv/Rb7grPZfNYdBRcbj/pAZ4YmAjRIVVnmXG0qVL8e34b/HwI48gISGh8AEVI/dILswryolRjGGLSDVGgGuRtXsyoZcFh4ySTkR+gCUyNLhOu7W3kLsRP52/F3f+uBV3/7oND/+WiI17snH5MbVxRbfa4MZG3mi4qGtt1IoMMW3UjwlB2zoR2s6YpN9ho14HVfTNEL8GS5HgK4see3yU76MpLpcLr7z6Cvj+Y8Z585JOP6vq2rVrg2SlCwr5IZZffp1oPki5ctVqzJgxE2+/8y7OOvvsQ3YUsp0333yjyPctc2fizz//ZJps27Yt7r//gTLfWDGVyaHGIxDcKtR4WASA6oxAZRwbdxKu358Fvs/s2Kbeu391ovLv2KXnuPHYn9sxatJ2vDp9N75euh8oeo4P+08pZe4G1tZ3AjkxgJ76T9mYjvFL9oMTAVSi32WXX24uomvWrsPiJXPRZB4AABAASURBVEvBiyp3FLRu3eaQXi7Ti4TPPv1U+0j0bOaQ3MrBSNQORYfDAfvjzZwAvKonHXw5fOXopfSiqiLARcCcTelYoG9KMF7YOA5mu7WueCW4aChK9w/muvHV4n0I/HiUt4aqeZwzezb4USTq4/Dht6Jnz14lGkhFTPRL1AERFgQKQIA3CXgjgPOD2HCnkdp3UDv6ijIMRtJ7ULowxZ16jtC5foTZdainD97MQo7cjaSLICzEgR5No1AvNhSV5cebAKMefwwXDbsIXbp0LXO3jvTCvKKcGGUGRiqo0ghwFr1Jr0V4g8A+EOp/A70maRQbYuyBPY9xltu6Pxsjf9+O71YkI8ypMKxzAram5uCV2bvx4dw9GNghDt0aReLkljE4tkU0WCfL8umrPtpehPLuBRk2culJyko9r7GxKmW0RYsW+mbFBNx4403ghxY3bdyIIUPOw/lDhuDLLz43TyVZHe/cuTNKekODc5V69etjwIABeOmll/HPv9NxxZVX+q0ptm/fjlmzZlrNBA2nTJmCJUuWgB+HenbsWNS0dycGBUWY5YJAhTkUPXqVkutyIzfX5SOXTnMnFA0P4/Y8Llb4EtNgeayH+eUyYqlEEKiECKQcdMGpr673ndgAJ7SKgdJ9bJ4Qro/5f3QqLk/KxNSNadis79pxwp+fW3SMj1K/dFYTfHRxKzw7uAn4QmTq46wtadibnlt0BUdIghNnfonxpptvxq8TJ+Kjjz9GoGORHzlJTk42PSzLY0xlKWsaL+BwbO/e+PyLLzF02DA/Cd61HDduHBK3bfPjS0IQKAkC+7XDYOKaAzjId6IWUTBdOwg9eTJ6ro5cHvLSwQKPtkbzt2dgwdYMnyMymFxV4dFO8F2sLpfL6GOwr0CXZCwlnehT3umosKlXSboustUdAU/pBrhZOxT4JESodgw+fGojnNU+DpFOzkqKVx8di3+uTsE/61NBB2fxSlWcVG5uLl5++SW0aNkSZdV3q5eVYWHeooKdGNZYj2AoTR9uBLTN2JmaC67H7U1zvVEvJhSRYU472xfP1nOPb/SNR65NlFJoFBOCfq1iERPqAB+BnqLXLTM2puP6PvUwpFMCQgOchx0aRICORV+FeRE+Jr052fu0Vh6r0gZ82uG+++83zj5uhuCuwh9/+glNmzbz9ZnvLDzjzDOhlPLxShOhQ/LRR0di3LgX/XYrLlq0qMDquLHhnbffMu97HDV6NLp27VagrGQIAiVFoNxmtRFhoXA6HKiXEINObRpiw9Yk3Pn0Nxh657s++vq3+agTH4W9+9Pw6Cs/+viUeePLqdpQhaBWTMQheQ+O+x4RYSElHZvICwJVBoHG8aH48KIW6Nw4Ul9oYC7my3YeLJf+87rF95U8MqAh+IJ2vUbAUfXD0V87LqGvaVl6ImB2NJRLaxVbCRfjJ5zQD9988w2OP/4EX2M7du4AL5ZktNSLBobFJX6BjTuOKF+WsixfGIWFheGBB0aA/bfL8U7mo48+Cu54sPMlLggUBwGXnulPXHkAG/dlaYefXg0UUSg920W1N1KZOW64uaXIpIIfeNOB9uHzRXv1wiBw30LwMpWVy7HwVQPLli0zekh9DAkp37lFURP9unXqIPAL00Xh1aplq6JEKkm+dONII+DUC/XwPOdfSt57E2tHhUApfbEvZuf+t+IA3pm127xiJSbciWt718W9/RogXscLqyWazzNqAd58+GDBXrw3by922F6zUszmy11s0h9/YMniJeX2eB/nGpVlYX44nRjl/o+RCisdApxB8P2Helrh1zelFOpoOxJagNcgMTnL+4SEXyn47A4dlNy8EB/hROOEMM2H34+PP8cFcVa6dYf2VOIND36DCJJITNyGOXNm+3JK+r5mX8EgEaUU6Jy89trrguT6s3hT5W3tTNy2bRuefXYsBg063V9AUoJAGREowDSUvNa2zesiPDwEJ/dphyfvOBevPHJxuRMnSiXvmZQQBKoGAiF6IWD1NCPHg4379V05fTG1eAx50Y0MUdp5r6BQ/J9D1x2my/HizIkCw/0HXaAvgS9DjtMX+eLXduQl4xMSMPqJJ9C4ceNDOtOmTdtDeIUxWIe1wC9L2cLasPLYzv0PPAA+bmDxGM6YMR3PPTcWvOgzfdhIGqryCOxJc2GavvvPLyIWZzCZ+gaCZVbocChig6KpkjZj44Ec/L4qBa4q7FNctmwpPvjgffTpcxxefvnlEjv2DBjFOChV8EQ/OiYGjZs0KUYt+SKt27TOT0hMECgEAfoSY7RjjzsDzXuYFdAoLhThzCiknD0rWyv55A1pGDNlB9btzjTzjZ7No/H4aQ3RvVGkSSPgx8VEw5hQMy/ZvD8TtDOcZ5Sk3YAqyyWZkZGBr7/5GqtWrcQp/U9G+3Zt/ej7777za+f5554z+dyB6JeRl+A1urIvzCvSiZEHgwTVGAG+V1mbjYARehClvYlKHZpDwb0ZLrMRgnHeuON85KC+YUlbQh60ZeB8A/oXrAa9REGEXqPobL8/zj2ytD3yY1aRBHH49ddfQSceuxwREYGbbrqpRO9rZrnCSCmFC4cORaNGjYxYbEysCQMP7MdPP/6IESMeNE5Ipfz/C/xY1YL58wOLSVoQKDYCnAMUW7gwwbSMLAx/4is88caveOWTKXjj86nlTlk5rsK6UCPyZJA1A4H0LBdS83YX2Ed8Xc86eO/CFhjZvyEu7VYLJzSLRov4METoxYJDXyD+n70zAbCrKg//972ZTDJL9n2HEBIIsiYsAYWAoKKigEtFLNi/tlWxWEUFqqIVFIKlrTtobRvq1tYiipWqICBLAiTsO4GQQBJIyL5nMu/9v9+5c97cefNm5k0yM3lv5nsz3zvnfGf/3XvuPfd799zb+hSR5OSEzDKEz//vSvnOPa/JzY9vkG/e/Zo8sHK7iOWZMrxG6svowelS4oflPu9697tD6vRb09CPHj0m6Ev5OuSQQ6W+vj4k3Ze8oYASvmbNmiUsN2BykU7OnVP//d//lVa53wl0SGC3WQP/7cG18vr2Pfw20GHaGLnTfqzgmEB4sx1nop9wR8JjR256cqN0JU9H5fV2HEudr7rySpk0aZLw7CB+lEi3YfXq1fIP3/iGNDV1z+MfVItP9Ovq6sxgMSNddYd+jmVd/aGjwwI9sk8TyGRERtdXWx9Vnlu3S1iKONjO7yNrq0xX2j/HBI4tj766Q752x2pZ9NJW+yEhJ9NHDZLLTh0vbz2oQQZWZyQ937DdXQ4YUWNGBZEX1+8WyrBqZYjVm05XWgvKN1W5X5j3hhGjfLeOt6w7CDCW25ajHa5Q4M5DuwzJZ3tx4275mv0g0fIYlpzUYpDMp2jt4UdODJmttSKqKtUmUoEffsDkxYs0ndVVF1/8qVYrq9B3h4wYMUImT54cljKffMopbYp87LFH5R+v+wf58le+Ih88//zANCZqamqSP911l9z0y5tkos2Not7dyiOwv1uc6a4G3Hz3k/Kb+56Wn/7hYfnJHx7qEXlt07buaq6X4wTKmsDwumqZPGyAZDJqB38JwkXBMZPqhDgeaPzBY0bKJaeMla+9bWJ4JuIHjxguBw6rCQ9MztgJWFVFJfkwuV+9tVF+t3SL/MuSdfLHF5MLBDUzxJHjai1PTJmkr5RvHm5MWw+ddWj+4cIYDKKeuI6Ek/zcE0/MJ9mXvPlCSvCw3IDJBfXH5JzYv/XNbwon/6hz1wl0RODF13fK46/tFC7+O0qXjtuyu+WHuW27ssKS6XR8e34m/Bgu//vR9cLz1dpLV4567iq6zibUAwcOlO99/3oZN25cq2ZibGTCzfLBqqrqVnH7Emhvon/am08Lk/9Syj5o+kH5uw9KSe9p+jcBzv1Thw0ULu63N2blhdd3ScPAKpk8dECXz/PcYbh2e5P8g/0QyZtbueuQN7R+9ITRclx4PEsyb1BVYX4yc8wg2WI/Urxmcw2xucXh4wYFw2Nf2SKcmzlOlPOFeW8ZMfrKNt2P/SjTqnPSwNLjZGjn24ihOrkLMa9q5Zk0vCZcf6gmGassdsLgAeEHBlUNx54jxtcWfU6i2GfXnqz9WNl2+YNlDT9KWJKK+udZhp/4+MeFl0Exz//wX/yFIKoJn9gZnqPOD5lHHP4GOfqoI+WG66/Pr1SC+b/+67/KYbMOlQ984M9k6dKlMVsrl/nNrl27pNhyaur/4he+KPxgetmll8rMGQdL+i7tQw+ZKR/96Eekrra2x1ZstGqsB/osgUyf7Zl3zAlUMIEauxr4zMnj5AunjJP3zBomb5raIH993GhpGNgyZDktDbRf/IbVVsl0m8h/4OgR8s2zp8gPz50qf3viaDljWoMcZvoRg6ryhsU0Es5rh44aJLOn1An+dNz+9q9cuVLeddZZMmf2MfKjf/kX4aRbrE3oecjx+9///vyDiTEavOe978lfsG/csFE42cb8e/Y0Rq8cfvjhMnv27Hx4X/LmCynBo6phclH4khZO/pz06X8JxXiSfkyAC/cfPPC6TcJbDISl4Hhh/S6558Ut8uiq7fJ/z20y42ApuZI0OXPusLy8zZEllRasiH/u/OUO4Pvvv19OOnFuqwk1k+vjjp0jv/rVr2TaQdPy/eHY0lMT/aOOOjpM/qlsx/btsnnzJrxBuIjINiXblAuR97znvd26RCpU4l97QaBysswaO0h4NEqTDdjFK+2HeJssvGXGkKJLCkvp1a49Ofn1s5tl/h9Xy4tmoOSlK+t5ZEpzZpuGyPsPHxGMh8vX75bXLW5QdUbOOHhoc4r953BH8I03/ofwkoRics6557ZqHI8kId1pp53WSs+5ubcvzB9/7DF55zveLlz0n3vuOfLCCy+0alNhoFQjRmE+DzuBFgIa7nC2Q0aLynyEN+xsEpYxW7DNP3cfnn/MSPthgZQSnrd4ol232G8Zwo0LR42tlbcfOlSqM0l8YQHL7LjCy1sK9VzxTDTDZKG+p8O7du6Uxt27u1zN1q1b5dvf/pZceMGfy5o1a2TI0KHhxSntPa/59ttuEx7Dwnxj27Ztwsuj7rv33lDv62vXyk9/8mNpbGyUh5YskffZdc3Nv/ylMEcICZq/nn/+OVm/fr189rOfbTVXwNBIeTzuoTlpu87UAw7Ir9RqN5FHOIEOCDBWO4j2KCfgBPYHAbM3SU21ynFT6+TCY0fJZ04eK/OmD7Zf+dq2hrSconE5V4+1k+9pBw+RT75xrHzhzePl6jMnyvQRNaJKqpb8M0YMlIvfOEZqB1S1KMvE99vf/m945tHmzXYRM/8a+fjHPiZr7eSabh4nS55zdO573iOnnfbmdFQIn/GWtwTdqlWrhOcohYB9PfHEE/YtwQD51x/7uAwbNiyE4xdl7W3eWEYpbnV1tVxyyWflqKOOapWcXyH/0n4xXL58eSu9B7pIoA8nNzuBLFmxXVZs3B3uAOhKVzfvysqND6+Xb967VlZsapSuGgbJzwtadmGt6ErF+ynC7q/JAAAQAElEQVTtY489Kt/65jeFO4A7asLw4cNl8uQp+SQ9OdHHyHHxxRcLd0RysbBixYp8vVwYvPzyyyF84oknyhlnnBH8/uUESiUwdsgAmT2xLhwb7uH5qmYQPGxcnZw0pV5azwJKLVHCRezDr+6Qz/3fSvnI/6yQp80AwHGIacUkq++N9gMmx5JfPL4hGB0wAnDHYuk1lG9K5hrdcWHe1LRHdu7YUVJHeUnb1752lTz33HPh2PXE448Lj2zgB4jCArpqxCjM72EnEAlkbEBPGjpAVFsfKRjrr25tFB7FxIqnmD66pD7Ufsj4+tsmyRHmbtmdlX9dsk6GDayW06YNls+cMkYazLpYUGzITtmPrN4hu7klOmhavvixYvroQS2KXvBt3LhRfv7zn8mO1FjdvGmTYMxjXBY2gePDI488Ipde+nk5ce4J8u1vfSskueCCC+W2226Xt7/jHW14hgRFvjKZjFQPqBY+w0eMkPQKKgyOl19+mXz1778itLHJfnjk+evf/c535epr5rd6azNGR5Zb80MqZXUm3FzRWRqPdwIdEXCDYkd0PK5XCXhlbQmoajAiDqhSOyGJiUpnH8ti6USqbHTzspXhdVWyckvr54KpFXLomEEygYmD+cvt//jjj5eRI0fmm8VJ8wN/9n7B5STKyfTqq78uY0aPkcsv/zvBOJdPbB7Cf/+Vv5eTTz5Zli59Xv73N78Jk/Inn3xSeAj7oEGD7OR/mRkeW9+FYFlDWXubl4nFovsXhV8mKSvK83ZRgCGTtkcdbk1NTSsjBjoEo+Kfvf994a6p9N2VxLk4gQ3bm2TBw+vCiw+6SmN8wwD5syOGy18dN0pm2USdY0tXy3jEDAtPm+wpc6Mid/pyxy93F3XWxzFjxsq4cePaTZbppol+rGD27Dnyta9fHe4K+K///E9Z+cor4U7s/7jxRmF50pFHHhniMT7GPO46gVIIMKbfNnOo1NqPkqvMCHDzExtCtncfNlyGpFY5BGUXvrje5y6iXXuyZqzMBSNjbXXGjicjwnOYH3x5ezA0VtkkZM6kunaXN3ahyv2etLsuzJu4+L/nXnnggQda9en+RYtkyeLFYX7SKqJIgPlCpqoqxDDX6C4jRijQv5xAIJCTaSMGhkcmhGDqizuT71u+td0fIasyKlOH18jfvXm8XPmW8XLVWybI1942QS46aYwMra0WTZWV9mKkfPK1HeGYktbj50WUU4cPxNvj8sMf/kDSKxYKK7zxxgUy+5ij5fQ3nyZr16zJR3/hC38nf/HhC4U7hN/+9nfIv/zoX+XBxUvki1/6kgwbNiyfrpjnzaefLh/5yEfDDQ5DhgyRSz77OTnuuONDUq5jvvCFL8q1135DZs2aFdJwHPn5z38uZ73zHfKZT/+t7Nq1W374L/9ieY4LeeIXN1t861vfLOm4UltbKwdPPzhm3S+uV1r5BMzkUPmd8B44ASdQnAC/JL66udEMD9kw+Y+pbL4vh5gxIYMnKsvIPeKII+WnP/2ZsNxv1KhRoWXctfPJiy4Kt/3fuGCBfPSjfyl/94UvtLrFPyRs/ho6bJh857vfE07IP/rRj8KyofM+8Gd2Yj5MbvrlzXL+hz4kqsWnOF3Nyx2QF1zw5zLr0EPkks98JhgGmpsRHAwaHzr/g6ENnOhRYmA8+eQ3yS23/JpgG+FOpc999hI56aQThbRtErii3xJY+NJW4Y2J/LLfVQjvPnSonDFziJwwtV7+hon+XhgYdu3JyY1L1smWXW2fedTV9vRUesbkFV/6ov2gsLSkKqZNO1CGDBmcT9tTE/1YgarKmWeeKf/9i/8RXrxy5plvE56j9Ic//EGuuOLL8h8//kmHBs5YjrtOoJAA5/UDRg4MjzxhDvDbZzfLsnU77QfEavmbE8dIe49BKSyns/DA6oyce9gwmTO5TjA23PT4hvDihtH2I+ap0wfbj5rFz6+dlVtO8Zyv9+XCHMMDBgiWLfOsMuYC6f6tWrVKzjvvA2FugEEjxg0ePDjMXWbMmCE8+uCY2bPlsssvFx7LQpp9MWKQfx/Fs/dRAhkbsgfbtUG1eVQtkOon843/fWaTrLJrCo4rqai817LJ4IFVMsWMgAfaMWjM4AHCI5xal5RPLpT56Kod8nKRMskzc/RAGWg/jLTk6DnfX/7lXwmPO+hMbrv9jzJ6zJh8Q+bPv1YefuRR+f3v/xBe+MaNDHGc5hO14xk0aJB89nOfk8cef0IWL3lI/t//+3/hpoaYnPizzzlHbv7Vr0Ma2vb0M8/K3fbjxDe/9W057bTTWqWP+d785jfn05OnI3n0sceF5y/GvO46gb0h4AbFvaHmeZxAhRBgPjB52EB5w5ha4U6C2OxhdsKfNa42BsvSPXDaNLn6mmvkvoWL8id5TtoYAy/+1KdKelEBJ+MP/fmfyx133hnK4KR9ww9+INOnT++0z13Jy11EHT2nKX0yZwJA5bw4ZrH9ipmOK+YnDWnJ4+IEIPCnZVtk917a8oaEZ6oyVRepyogM4AqAQrsoq7bukde3NXYxV+8lZ0z+6F//LYz7YuOqUMfkvCr1QhbGf09M9AsJcCzimMSxiTZxrOKYRf2Fafc+7Dn7G4G6ARn5y+NHSf0AlU27muQH978u/BAwZ3K9XHD0CGmoyYTVD3vLhYv8M6Y3yNmHDRXuXLxh0Rp5au3O8Iy0848aKeMG1+xt0b2aD2MA4y4KRoV0A/b1whzDAwaIWH5HbmHdhx9xhPzmf38rGBB+/vP/lAMPPDDfNNrNfGhvjBj5QtzjBAoIqKqw5Pmg4TWiwdzXOsFG+xHxd89tlu54MRtGyfXb98j3F62VHXvaTmgwavLSyOoqbd0IDzkBJ1B2BDJl1yJvkBNwAt1KgOVPl546Tr5g8tHZI+W9hw2TvzP/iLrqbq3HC+tGAl6UE+iAwOvb9thUP9dBivajfvXUJllnhsCNO/bILx7bKOt3Ji8AaT9H8ZiddgGAgaJ4rGudgBPYnwT4nWDc4AHywSNGSLUZCZ7fsFu+d++asFzxzTOHyqWnjJPJQ2q6ZFS0YkL6oQMz8lfHjpKPHjdaqu1XiZuf2CgLX95uxySRYyfWyewp9WLq/dl9r9sJOIG9JKCqcr796FA3oKpNCTwn9S77QXP5hl1t4rqqyJpF8danN8r2xqyYt0324bVVcqQdT9yc2AaNK5xA2RFwg2I3bRIvxgmUKwGbG8gwOzEfPalOzj5iuHzYLgQOGVsr6Mu1zd4uJ1CpBFS1x8fW6PpqCVfvewHp2XU75aJfvSyf+OXL8tvnNoe7lvaimHDHM3cp7U1ez+MEKpWADW8b37rPzVdVK2efi+mwgIzV8c43DJNTD2wIz0S775Xt8vXbV8varY1yxIRamf+OifK+NwwXXqBiSTssi/hhg6pk3oGD5dq3T5K3mFGSHxRuXPy6/NfjG8IdS4eOHiSfPGmMNJjBscPCPNIJ9HECjBdV3adeqqodI3SfytjbzNNH18rMkQOlsHaOKYfZOJ84bODeFp3PR1lHT6wXjit5ZbMnYxV/wK5XKuHGh+Ymu+MESiagqqKqJaevhIRuUKyEreRtLAsCqmoHgLJoyl43Qi2ndaPi+2Hd8H8n0K0EknHBCCm9WNXW6VVbh0svqWspT5raIAP3YRkQdwRs2tUk3CHQtZqT1HRz0pABEgybicq/nUC/IqDaeqyrtg6nYai2jlNtHU6n7U4/1bBs8KMnjJYTJ9cHoyJvav7i71bJY6u22zEkIx84eoRc+45JcsWp4+TkqfXC8xWHDKwKL1kZXJMJF/ssO7z4+NHyz++cZAbD0TJ28AB5ZeNuufy3r8hvnt1sv23khJc9ffbkscGY2Du922tSntEJ9BoB1dajQbV1ODZEtbVetXU4pustd1C1yLtnDZXaAZl8lRlr09HjBskn7EeDQfsw/8gXaEeOQ8fWypfPGC9j7EdS1aTPqioHjxgoJxzQIJlMomvJ4z4n0HcIqLbev1Vbhyuppy1HikpqtbfVCfQwAdXWg1q1dbiHq/finYAT2E8EVFuPddXWYZqVs4kw7v6Skw8aLGMbqvfbDwNcTHzk2FEypLa6FxB4FU6gcgikjw25Yuv49kNX6swo8NdzR8vZs4bJoOqMrN66R6790xr59r2vyROrt4eXJhw9qV4+ffI4+d65U+Qf3zFRvnHmJPkHMzR+9+wp4YJ/3sGDzVhYZYbERvmPJevky39YJS9tTp6hOmdCvfy9GQXG2o8MmSLHy/3QZa/SCZQ1gXhsiG65NVZV5fAJdfLOmUPCc5arMipzJ9XJ39oxYvDATLfMPVQ1PEJhyrAa+ZQZKScOrg7hejteXXDMSGmwHzTazr7EP06gzxMo1+NCR+AzHUV6nBPobwQqcRCX3TbyBjmBPkignI4NQ2ur5IunTxCWHmVsUt6buEfWVcvfnjRWZo4dFCb/vVm31+UEnEDXCXCI4GVM5x09Qj5x/CiZZD9G7GjMyl0vbZOv3/GqfOX3K+X257bIyxt3y+adTTKgKiMYDQZVq+y0dKs2NcrCl7bKP/3pNbn8/1bKL5/aKK9v3yPDzbDw7kOHymdOGSvjh9aIX/x3fdt4DidQrgRqbPyfddgwmTmyRo6bWCefOnmM8FzD7p5zVGXMeDm+Vj554pjwXNf3Hz7MjJm1gr5c2Xi7nIATaE0gGBRbqzzkBJyAE3ACTsAJdJVAbxodxw8eIFe+dWJYqnjOrKHylumD5QzkIHM7kZC2kzRnpOJJ//YZQ+STZoz49rsmy9wD6qXaLgK6ysfTO4G+QmBfxvq+5N0XfjVVKqfYMeKqt02Ucw4bKnXVKnuyIk+/vku+vWiNfPa3r8jlt64MRsMvmOHwC79bFfyfM/037lkj967YJjubcmHss4T6yrdMlA/NHhmWR+9LuzyvE+irBPZ2rO9tvq5y7Cz9cPvx8gob558+eazU1VQJP050lmdv4jEeHjauVr72tgnyLjNiEt6bcjyPE6gkAuUyzruDmRsUu4Oil9HnCfSlQd/nN5Z30AnsA4FSxrqK/dnMuljaYrp9aE67Wa164Q6CYybXyYVzRsnH546RT9gv/DzfCPn4iaMFt5h83NK1F48eSecj/V+aMfGMmUOFO518st/uZvGIfkCg2BhHp2rHBTs2RASqFjYhLuqiW0wX4zpw9zkqY+0Z1VAtF8weJd+0Hwc+fMwImT2hTnhu4m4zFq7b0RSWRL+8pVFe2dwoa7btkR17cjIwozJz1EB5z6xhMv/MiXLZaeNl6oiaYFzc50Z5AU6gDxGIYzu66a6hs6OCqGpQq2rwow+K1FcxXSq6V7yqGn4wqO+F5cd2iJHhddUywH746JXOeSVOYD8SKDa+0akmx4T92LS9qtoNinuFzTP1VQKqyUBmUBf2sZiuMI2HnYATqDwCcWxHN90DdKrJcSGtT/tV24tPp+oZP8Y9JuAYF2tsIh5lYHUmPBsthgvd9uLRI4Xpa6y8aivfGmPsBQAAEABJREFUutozHfFSnUCFEVDVYAwotdmqXUtfarl7k86aImMaBghLGr/w5vHyr+8/ILx05eK5o+W8w4fJOWY4fP8bhsnHjh0lX3vLBPn3PztArn77JDl/9kiZboZF8u9NvZ7HCfQ3Aqpa8nFCtfS0/Y2j99cJ9BUCNsrzXVG1kEleUaGeNgbFU2dPl3e98TAXZ9Cn94F2x2tBhGrfGOgF3fKgE3ACHRBQbX/cq2rIiaExeOwLP6KqJV84WDb/dwJOoAIJqCbjnDGPxC5Ev2oSjz7qop+wavF40vSmWDPCc8r4QaK2Ws1QOEhOnzFE3n/UCLnQDIfnHzNSzpw1VI6YUCcNA6vCDxT2u4JkyCj+cQJOoCMCqsk4Z8wjMW18cVMmk1yCt4rLWayJqorYv/jHCTiB3iHQy7WoqqiqMP6RWH3aH3WV4CZHs1RL519yjrg4g76yD1zzmbPz+3P0444aXp/a6xOvDe3gSQ9m/IiqxZqEBP7lBJxAnySgqsIknzGPSPMnm82GEz/BtF5VUQVRbTsxCBH+5QScQJ8gEMd+dFXbjn9VFY4XiKqGiwXV1umAEcvAXy5CM6syGpYccjdyEAvbv7T0oFxa6+3o7wQqof+Mc9XWo0dtNKHnGIGrqq26opocN1opPeAEnECfIsDYR1Rbxr9qi7/SOtvGoFhpHfD2OoFSCai2HagMZmk+uSd+CR/VlrSqyck9HR8S+ZcTcAJ9goBqMt4Z44hqEqZzqi1+yUmzgYCYFlFN0mQyGVG140VLlPucgBNICPSJbzsEhDGumox51cSlc6r4c0m84BdRTdyciKj9iX1UzWeCzoL+7wScQB8jwNhWTcY5XVNVnCCqKvaf+AW/Bn/IY2ECqiqqitfFCTiBPkYgXmeoJmNcNXHppip+jgaEKkcyldNUb6kT6DkCYfw2F6/KYE4CqolfVcPJnSGuqkmkfzuBPk2gf3Uujm3VZHyrtBgGMRQyAYCIquK0EuIQlKoqqorXxQk4gT5GQFXz45sxj8QuqtoxI8eRJNEQp6pJwL4JI+YNZai2xKFzcQJOoG8QUNUwxukNYx7Br9r6GIGOOFXFG36wJExANdHhd3ECTqDvEFDVoseHSu6hGxQreesVtt3DXSag2vbkni6EEzuCTrXlAEDYxQk4gb5DwEZ3SSd41eSYoar5zqtqq7z5CPc4ASfQpwgwH0DolGrLuCccRRV9DLW4qug1KEIZ2B5NFxT+5QScQJ8gEMa29SS6qpqfH5g6/5/hWQL5UOJRbUkb83OYSGL92wm0Q8DVFUcgjm/VljFfcZ1INdgNiikY7u2bBOKg7bR3NqgL06i2DPSSyyksxMNOwAlUBIE4xlVbxr2q5tuON6bJK80TJvzhywL2z7ORzPF/J+AE+hCBjGbCHUT5LtmYt/8QVG05TnCMQEKEfam2xPHYBFOFf9KkYoLOv/oHAe9l3ySgmoxoxna+h3aQsP82RsVsFm0+VZt4YkKK8EXIxQk4gb5AIJfLtnTDxrf9t4Qr1OcGxQrdcN7s0gioJif3YqlVW8flUkuVYvowyMNXoimWJonxbyfgBCqZQHpsB78dH1RbjhF4ORSoJjrSqCb+dL9VteiFQTqN+yuOgDfYCQjGQNWW8R2PAaoa6BC2wS8YHjWTwZs3QKpaGpMchVhqVcKhSAv5vxNwAn2FQJwnqLasZlC18d7cwRAvKhnuUGxRS/hYOrU4jiWqKtmmrB1DUsaHkMi/nIATqFQCjG1+S1DVol0gvmhEmSszZd4+b54T6FYCDFRVFVXNl6uqEv7MRUka3EJRtVQmOY4EhZEeLjMC3hwn0AUCyQxfVLVVJo4FUWKEiv1lMqKqQcXzFVXVJv0UElThy48TAYN/OYE+Q6ApfVdBQa84TqhqOC7gR1RbwvnkrQ8TUniXUj6de5yAE6hIAk1NTW3azfEgKlU1es3VcMwwT/hPp0PRlDVjYqv0aF2cgBOoVAKM8T179rRpvqoGnaq2OiYEZQV8Zcqmjd4QJ9CLBBjQSKwy+lVbBrKqxuhW7p4ik4VWCTzgBJxARREIJ3e70Oc4gHATUXCtFy2uBew/axN8dDkzLuBHcrnm+46ay7BksmPnrmBkDHHEuziPfroPMB7KUboyNrP2Q+KOHTtDN8jHMcJm/QX7dNYMhFnThWTNfjs2pLY7ecgbyrBku3b5cQIWLq33E+dRmTyyNj/g3G9D244DOVH7y1kgvT2z2SYOAZKzYwr3KJMnHU/6kM+OG5ZVdu3aLa3iTd+nwt4f3759YB9grJYijXuaRFVDUhUVafZL/sMRIB+oGI8bFCtmU3lDu4OAqg3egoI4Mbcd0KlElkdFg0JVZefO5OQeFP7lBJxARRNg/O/a3SiZquR02LJcUUW1RTIsT7KeqmbC5E9VJZPJiGqSJu1XVWls3CMWI6r27eIc+tk+IKkPY6yYpJL0qLdY3ejSlap2PE658OdCgHFOPtXW6dGrJjriEVXC0uo4oaphLBBPnt2NZlywiynVRK9a/q6qt1HVGag6A9XWDDAFZIOhUMI4V20dz5hHbBIR4jkOZWxugU61dVpVFT7xmkNVQx5Vd1WdgaozUN2/DBifURjLxSTG4xK/fXvywyThQlHVoCJd8FTQV6aC2upNdQJ7RUC17XLEdEGqLfFxEKsmgzqdLvq5QzFOGKLOXSfgBCqTQNYu5neb8a+w9RwLVLXZGGDmBEunmhwr4uRf7KNacKywKwrizZHtO3dZiv3+7w1wAr1OQFU7vfhljBXKvja0sDzCqp23paN6bejLDvshkTSqVpYo3iCUz3hX1eZjhcWZXy2NaouONKSV5o+qpTDJZrNS7PjTnMwdJ+AEKoQA4zsaC1RtfNsxgKajV9X88UHV4jL8MCmtdBwjVJM5hthHLb+qCsueOf5kmw2VFuX/TsAJlAEBVRulnQjjH2H87tixS7AhqFo+G9/pLqhqCKqqqGrwV9KXGxQraWt5W7uFAANbVcOAVdVQpmqLq9riD5EFX+TfZr8w4BZEdVPQi3ECTqA3CDCGC8cyuii0IWsX/BgUot8OHJIsVUKD2VCE9C0hCUsdCW/bviPcqUi8S2UuYfPt1vXtxr5fiqiqDacWIU+aN+FSJeYjvWpLmaqKqiSJZRS6jXsaZXvzcmeOBxSWjHx8EsZ/NtsUxn3OLvrT+UmPoEtSW3o8VgB6vFu2bpc9e5pCOaRzyTkLO+n4flBZ+wGrEnbu2s2QDscCPDbMcYIw3rN2nGC78rIVO/iFdCFs8wziQ0L7ivmijuPP7sZGS19ZTOibi2+zvrgP2DAt6V/V5iAmjXv2hJsMVNXGcTbkZZyrqh0KNIRF0Ji32TFfxfy7QbFiNpU3tLsJxAMc5eJXjQMaTSKqmh/o5gtKfkXkxL5rV6NNeoPKv5yAE6gwAlm78Gfyv5vlzpnkVBiXOzPGq6qqwthXtZGvEvyZTJWN+ZzwBldp/qhqiFNNXAsI5WSsTGTzlu02ebA8zfGqSTpVd1WdgWrfY9A8NIo6nGuRYpGqLSyIby8dcWmJ6VST/Om46CcNEsPFXNUkv2qL29SUlS1bd4Q7iRjPjG3GuGqSBp1q4lc118a9qgppSKuqeE00lKFKOBHiyY9sNqMixyTVJE7VXVVnoOoMVMuYQXPbOE4whhnLQdTmFM1xhFVb9yFTVWW/LOSkyuYUqsRJOEaoqsT0pgh+wsjWbTuEaw+xjyp5XFSdgaozUO19BjYM2/1nroGQIGs/FuyyHxq22DleVZMxrcnxQewT05m35d/StQQqw2c9qoyGeiudQHcRUNU2RalqYigwN4ls/YsSJ3ZExf4sjarK1u07ZNfu3WYsyCZZ/NsJOIGKIMAJnIk5E/R0g9Hn7OQf3NQdIiFNzub/FqeqYcznzCCJPpfLiqqG40cStoTmycdLTtZv3GzHikbh7Y+5VLnub32cdR59n4dqcg61IRL+4zYPgdSXapIuxuOmosN4Q4eoJmmLxUedapKG9KUIFwH84LBh05ZQF+Xkx3RqDAe9HQNwbaiHY0Pw2xdloDOvlZHFMTfZxjxqAUUsk7QbrS5+4MBfShs9TcLSOTiH/bUPMFZ5CQvHCcYzkh7TIWzHi8TNJnMFmzuQzwLheEHbVdvOIUIam07E8igDo8SmzdukcU9TPi/5XXwM+D5QPvuAajKeWXmwxX6Q3GLGRMavqtqFhNjQN1dE+KFAVc1n6tQ8gm0ZlBX05QbFCtpY3tR9I1BsgKomA5mSVZMDgA1rgkHiYFdN0qkmaVQ1HBAwSGzdtjM848TO+yGPfzkBJ9BtBLq9IJ5HxMkdUU3GMZWYT2xQJyJi3mSsZzKJG44fll6aP5pJTp+qappk9Ic0zSFV05taVUNZm7dsC3c6sSyKCwWE6wwXO+IaJ+fQfzhkwwV1zi6IbcOL2ohhjCX9Jy69L0gqPsZFNx1HnqjHH+PQRUHfsdCmrGDU487iVscIa6qqtVNEVGmzNH8swnyqSZx58/9JjKTSR02iI6RqZZlHNcm/iePEth1mMNiTNz523OaEm6dxDr4P9M4+kLUfFhGefbppy3bhOkBVk3HePJYtIOlPzowFXE/k2EiWNsZZcrGcYaxnmucaMS64llZVrWMiqhqkcc8e4ceHDRu3yBY7VmDQ3LWrUaLwQ0iUXbtNXyAxzt3d4gycQSn7QGfjKI49XMYjxwTGJz80cPMCYx/hB0ZVlfiDojR/TBWMiwQ5JuBWmiRXRJXWam9vGRMoz6apaquGcVJX1XASbxWRCnByD2fxZh15GOgsU8LfrBYOFus3bJYtdiHAiZ6JhktWnIEzKJd9ACPinqYmwUDAWGVyoKphcs44Nh9OG0mOASIhPp3e/BwD0NNHsY+qhUyYNKjasaVZxwTCvGGyQBtYFrXeLgS4ENmydZu1aZtdkGwP7uYtW8XFGfTVfYD9vVjfNm3eIlFiGsLptFG/cdPmMEZiOKYhPTrcKDEu7ZImhvFv3dY89mwsbty8VRibXKQzVhnLjF3GsGrLmFZNxrqqhujwxeTAPORRVVHVMOaDOnxJ+KgmcaqJS5Sq5qca5OdHh81mqFhn8wo/TvjxIO6v7u6ffSF9nNjEOXrr9uQ4YS6rDhizYXDbYFYtfpxQNT3GxOY0MU9wLY78YU5hhwJVDccP1cS1LCHMcYh05FG18iywa9du4TnQm+34tYVjGWLt2tosW+y6pK3YMc+OL1tc7LrNWXTfftCXWdpcvWAs5ceYjbU49hiH23fsCobqOG4ZrzZUJd5pjDERnaqiTsa2+cL4l0RnwYr7d4NixW0yb3B3EFBND1qGvc3n7WSPWlVF1U7WFqYuVcUJOtVEr6JBx5eqiqqGJY0bN20VLgJeX7dJ1m/YEiYdwTU/+mLy+vpN4uIMfB/o2j5QbCyldRgGGHthLK7fLBtsDPJLZByznLwRwrjJUUBExT429tFhLMxls6awf3TmJx5BTxr8iM0WJJcjLSUlkvytw2QAABAASURBVOMKwCIzdnywSAoJQjCbbbIfI/Y0S2Ozu0ca97To8UfhbgiXPXlOzqL8WRTuuxjy+QGucQ9tT/b5REc4kXQYf1oabWzsacqGMZLW42d/iC5+hDB5MNCx9Ii6E11SV6O1AyEtaRjvjE2bDYRxypgNY9fGcI6xnBLGei7XlD9eZBn7zceInB0nolAGaXGtGHOaTEo/TjQ1JW2ljbQ/cfcEBml/o7FBos7dPX6saOyEgcfn9xHGTpQ4dghHfxx7HEea7MfJUo8TWTvPix0bkrHPuBf7sd2OAXaMkObjRZJGLJhtPp5kQxrTJMchO+6E448VEo5Hli/G0Y5ELNJSRz8zELEALoK/RUjoIiBzEecg0jkD21FsPIkJ4wmJfm48QBiTFi3BtW/LYV5Laf8qKmKR5hU+uTCGibaRzfHB4oKeLxNVS29uJf27QbGStpa3dZ8JxEFMQdEfXVUbwDbaCeey5rFEqhgQs+Zr+ScGUbE/iyeGPKqKV1Q1CDqbB9gkIdc8ObBoDiImal4XEWfgDLpjH7BBxplZ+IRxh8ckZwNQMypqZ7ogKqLNUpXJSIaA2KdZF4LmFxOLFsKqdgywcsR0mkn8sdzEpXCr3tJkLN5KE1VtJTlRU6t9Z4KIfauavzldErb45rBq4hf7qCZ+VXdV+zcD1crqfxyLqul2Z9irJfmFXsIYVDSt0qioJmJRIS3p8asqThudqubzqJrfUmVwVSRTlbHRKRafMVGTxDWNnZttdIZ0iR6disWbiDDe0bcWsU+VlSkWH/4zlt7KwI9oxtKb4E+EcCYk5yvJaz7Lo2pxzWItEbEManUjgl8zopqkScKJX7XFFfuotoRV3a/qDFSdgWrXGNhQyo831Za8Ii1+tTEZwqlxythVTadJ/JnUcSCTqSKb8NFmfXCDQiQfr2J+FdW2Qj0ipk/VrerHCFVj4iKqzkG15xiIfVRbl2+X9OESRMM4ZCxmRFTCJ5Mxv80+ciEkoqp5Eftk7DigavMMK0Qtv6msrJiaUOUIPa2c1npLncA+EFDVorlVVdRiuPhhGAdjYtAlg9yixII4QVTVwpr4JUmTQWcacwQRiw7HBrUSzS+mtH/BRbJ28LAYO8yIf/ouAe9ZDxKI46e9scR4TlefDuNH0vH40akyYCUxNEgyvrlzifjo4k9EQzobzhZUmwiYY//pcOKXMNZjmwmE4wwKSx//VSkjJ6pJG9DTJgS/ixModwKqGvZf1cSlvaot/hgWQWdTUBXB4GdJJJxH8UjLJ5mQJ2H8jAXcRGN5M1ZGc0BVm8swfZXpVezDmBJRDYG8m2nOp6pBZ9/5QZqTvNd85jdFMo6TslBm7UdHVbXxLyb200JzGlV0uaBT1XBMIC/pc/bbpKqGOMpAL6L5NGIfK4bDQxC+/DhhUPzfCfQwAY4rSKxGlXGZE1WNqsTNicQxaV6GaBAiGc+ICHklfAhH4RiAqBKfk0SfE1UNxwTiEp3VkQvZQxoRDS5xYh+iolB5bI9F5f9VyZMT1Zb20z8kn8g9TsAJlESAcYPExHH+gKuajDFVFf6S8agimvyQKar8h7kJA1lVJflwDMglXlE7BmQtOieU2aysKMdmXBXV3h5urBff1wmoahiwsZ/JAaK1Tu1CAz3DXG2QM7gJW9aYLSmjWaGqQa+qljopy7xBxxf+pAwRVRU+qqRLJg05Mb+JmM7F+DgH8f2ghP1Ako+qGi7Nn4QZa6qJTjVxRXAz9t0iopzsVcS0av7oMmlXVVG1cZmzMSoqmUyVqFpeE+JFkjjVlnRqcapJmFxiH1W17yL/6KNYHVwUqGjIpua6OIFKIMB+mxbaXBhO66IfFyGtSsb2e/u28SP20SCaHwU8s5gQLhP1KhuLuISjHjcRy2z/xEkODWVLviyxsYYWlzLSfotCbYkZ28lEn/M+IvZRVfvmPyeqGkREhY+qimoiHB9U2/pVrVwSSxKnqhbKmYio4pe2H/RRSGqiosZL7FtdnIAT6GECHBQYabhB4njElbYfVW1W5kRVg4ioiImqSiZjxyTzSxCxTxKHXjXxq8Wp2rdJGOykCn7zFP6jj5KzSBPLGbLhupRKwNM5geIEwri3cRVdUkV/sXmE2HgkuY1G+7fzfnPAZhXJ+GeSYL8uqlpJJiKJq6ohPs45pMI+HNkqrMneXCfQfQQ4iYfSbCDHQYwb9eE4EL5CKvvKiaoKd1I0n7GFT86+yCeiIiYqDK1mv5rhggOIiKhqELGPec0veRH/OAEnsM8EknFoo9PGXPSHQm2QEkbCXY2peHRISBdmCkl+0qEjLptNfj0kHAV9lCRe8r8yipWTs0lDTKuq0RvcXHP91ixLKUJdxfxR564ETs6hfDjkT17s2yZsm6jDj8RwdNFFiTrcnNj4sDLULrg1g9+GiYVz5oi5jI9MVVUYJ5mqxEUf44UsllcsbU4ItEjOykiLWBqklc7SxH9VtWgV5gGqKnxyYSzbJYGN28KxnoSTuCRtW39Mk7giiZu0ICmbnBLqldQnZ/UFMR2p4YCLpP2E+5U08/A+ix8Xe2BfSI+ttD+MRRuTVmX+XzU5RqDItXOciOM9Z3mRJC17r22/Zh160vESOVP5McIgQcjF9hFnsd+Oc3ZSlrTE/REdfo4P+INI208yj8hYtBkXJSuakeAXG+T2nxrntp1NodpyPJEK+li3Kqi13lQn0E0EOGmni+JErpoMYlUb9DaoYzxpVZp1prdosaDEj9rRAcmJpUGZSw4K8egX8odMkj9wqFqJKSGbixNwAntPgDEccxf6+RWROBuaYViqKsEgMS0uYxUlrg11O9/n8mM26tNuzINriSVnRsdQgVUUdCTmAiNIzo4QpkgKDn5aEUUsI37cKITTEvWV6Hqbc2z8Pifp/RM/YwAR28/zYfMzHhADYFG5IGl/EmfnUMOUzdqXRTJM0SOqGsYik/OsjTNVDWUkcZbY/rMhX4veVKJKK/AlQnqEEO1UVdEQsDqtnfiDmB61hLGbTbwWb8M07MrkFcLEmBvC5s9a2ygfwW8qCXGWBr+Ym4QtFKq0L/NKrMfiqV/MRfCnhcoJ40YhnJaodxe2Lr4fdLwPpMcO/jSvGMZNC2MTQYcrcfzaWGbsp48TMQ3jPsRZmmx4sYsKrgUFPfHmCcejxG8x1nTizGfNsuNQqCcX0pAWofy0WMIkPjbC3HQ8ftK45Ayri+8HHe8DjJeMzQeiEGZ8IviR/Bi1PSr+p3U5G7c5zunNI5M01BrHbxKHtnLFDYqVu+285b1EgEGPcNBIjgWEqBwNgr9FiE2Lncs7P163ZC8Xn7fDCZQtAbWBmJb0GEMfwpZGothkgDEp9lFV+275V03COAgn9nDetySqmpRgLnqMGWESYWEmApYkxDPRUFWCQVTV9CZWqaq5QYjKiXlNVIR/C6iqqKqEZZoqeX8Mi+miqKqouqg6A9XyYCAqkhbNqERBr2phEbwtgs5E7KNq8c1iwfy/qgrjLdPsin0Ix3FowVbxqkk5xKsmftIQxkVU1caZxYl9bJBTnppXVUVVRexfwidn5+ysBXOiqonkRMwnqirxo6qiFlBVUVXLkwuu+SRIWmf+vM7y8K+qls4kJ6JqbhCxT87CYqL2Zf9BryEcjwuqan3JBBEVSYuqiqqLqjNQdQaqHTMQFUkLYwxRtQj7j35VFVUNaVXV/GKflrGqarqciH2Lqkr8qGo+rKrJcSKTkTCXMFfsWKRqesugqvm0Fgx+00h4HHtznDkWlbM4MVH7sn9TqmoI017RRIcfIZwWVRVVF1VnoOoMVNtnIGpD1i4q7GfQ8K2qYe6hGYvgn7CJeUlqiXPCx1Tm4M+JqgaxAmy4q1jA3KRE5iHS/FHVoG8O7i9nr+p1g+JeYfNMlU4gPYDpi2rLIOYCRNUGPBEmSdqccABQUTtYmAgf05lDesS8+X9VJWUQ8sd4/KpJXeiicJBxMXwgdbF9zFl0NB7iuImuqo03E6MWTsaqFraANospw1gknPa3hHMhnrhctsVPmIhstglHclkzMljZOfu10YoWXFUbz6GxpqFAE6YJWUuTNX3O1Dm7YECHhIK4OghxpGgRSxr+SYcQCHnJ3yzoXJxAORNQtUHQ3MA46Wa/V1VRNbE4NeGf/RsXUU20nCcRdLgZ06smcaotLnriYzpVDeUTptxwh6CNGxuooqZEzJF8wMZhTpLxF67YbUwG1xLmzB/E8jOGQyob0+jy+YVDNbEijHficpbG1OEfPzriUODHjfkJE0fZlJILdaG1kLUhtCW0gxQtEsqwrySlpcVP3pSYyv+dgBPohEAYcwXjJj2uyJ5rPkZEV2xMhrFpYzRn/iCUYYnDKLVjALo4zk0dUhHO2lwihC2Nqs0dzCUc9M3lESYtQjmdHyNCKqsj1B7cUIZ9EYOY1w6D5qOdzYLOxQk4gfYJdHR8ULUBa1lzdnzgeICLoM4kUXaoyIVxl22ysWmn6mzz2DNHVFXC/MXSZsyvyvEgF/TUKxX2cYNihW0wb273EggXHBRpo1vVRrX5VVXy+hC2r+Z/G+rh4MBgVyV9rjlGwkEADWKJTCEiFrDDiWjGPPaPH4l6/FHQuYg4AxFnINIegzheoku6tD8dLtQXxsVJQNYm9YzpMJptnMZ0uPFYQBrClCn2aWq+MEBP3ujiRyxJ+Cc/5WbNUGkzfcmZG+PtsBPS8IU/0ZM6kSRMbIugc7GtYMCcQ7lyYPKctZ2W9iWuzaxt9ze9Tb5zJoTVNAh+JGfjEBfJ2fbNmgGftIgNnFAecUEsbQ6xskI6S48eHa7aOA6nXXPxhzLMgMiYJ0yanOVRtQSUbH5zBB1j1Jpm84Acjrn0gVjLZelCGnPjmMcllnbgkgvBH3WkIV9wLS9+hDQI6Rj1WTs+UCltiPGWnCRB8Cd6UieShEN0/gudi20FA+YcnEN7+0B+wDR7SGej3EItY8t2IQsn/9FPOsYoY5UxS+qsHa+SVFaCJQxpzI1jPsYTJp1tFRyJYeLJQxg3SkhkXyE+uFYb/3asII2p7LjFdyJWpYUtAY1rlpguSZF8o3OxrWDAnINzKLYPJCOl5Zs0NrpNkYyvnM1BLBD+VZO5RP46wfYrTQIiFpcjbK7kPzb7MV0yrq088xNFWFXxVpS4QbGiNpc3dl8JFA5oVQZtzsY6blJ668GckxhuHuvh9CxiBwI7mQsfO6CE3JYgZ7EYD3GJQqizpYwcqnCyV1VR1RDmi3QuRg6OLmEf8f2h7f7AWEkLjArDaV304yKkTdxcGNs2ZI21SDa1zzFeSYOrqoJLOC2Ugx4XIa7QzeuajxVWBdWJHTIEP4Hgx17BocGU9h/icCnPxQmUOwHGCBLbyb5LOO7/UY+LHlc49SEWwIl6XMTUUlVVFcYCYX7JJ10sM4TNYkhdpCM9gh6XtLjpegiTPxEL2ZjjzoH8OCTMWFQ7v4eMIsFoQFKriHzmlUI3reOYQDyCPx2X9hOpM+9tAAAQAElEQVQfw3m/HydA4uIE9isBG+o2xm3s2/Eg8Zjfjgucq8OxwvT4zQnRNLaU44SqHVdsjDPe24jpVZOjFnGhTBpiHsKIeaWlHmuTKUI7QkMsnGqjWF77xwliSf3fCTiBfSCgqqJqY9jGG2Mra2NWxMLmMi6R/PGBNCL2c6d5VGwMZi2lKdr8q6hqojXH/kM4jvckojK+3aBYGdvJW9k1AkVTtzdA0duQD4OYwZyxixQb/VZGLujMkwTxmIT0djTJ4bcDiYgdUOywwZ0PdtiQROzb0lgg/OfzmA6/KjWFKP9yAk5gHwkwptJCcTGMHyHc4ibGRBuOeUNiS1zrsZvN2kSA8WoDngkDgo7yVG3sWyH4Q36OB6QzHROLvIRIvqxs0uBtTkdeBJVwLLF46nDJiTOoLAbs7y3bjH09EcnZOMmK2FAysT7Zvp+1/RwxryBZiyRvtlmP2xSXCVne8OZTERshImQgTBqGGunwI5SBhB8ILCk6hHS4Vo3tVyKq1iaxoqxy4sIYNH8GvbUhnKEtbEkskX3jN4npqMO0QhjBH8TSYKREaGfQ2RdpEPNKyGvpQtjckA43RPJlVVobgs/0pIsSdGJtt3jKcbH9yVmEfcr3he7fF8TGmtgnjj/cMF7R2X5njg3W8J24Nl6Jj+nYJsQSRkJxlgY9xwhc0qMnHgnpKZt04eBkGvOHdOaNbsjbHCZfFFRiBRLv0v37hDMta6Y9fixk/MV9QOwThiZfjDlzGYemlrSrGmYUdowwdjamiWsRUidisYmnAr/doFiBG82bvPcEVJsHtRWhmvhVE5fBbccDUVXhLkNLEg4Iqm2HiSaRdlyxo0cIJBN8U0g40NgBw44ckuPnQ0tblbEyTEdSxCIs2vKajjwuBslwOAfnsK/7AA8gV1EbX2mWOTSSC9YEizIDhZiRQ3LpNIk/ZxN5JXVzXN5PtI3XHGJpCvOSz5KEf/ykI4CLRH90o44wkrVjBVLJEwr64dK/CajaiDGBgqriBFFVRlXw86Vq4WaJY4G7CzHoqargV42uiGqSPpOpEs0kflWVjJ1bVRM3Y66qxWXsfGzjVNX8zSLNH212wxi1cayaaFQTN7Yl7bbyW57mIux4YgcJ+4/HglBmql7yoYvxuCHcXAB+0hDERaI/ulFHGOEYgfhxAhoulU+gfHvAGGOsIelWMiYRdGm3lb+j44QdI0irmhyn8HNsiMJxgbIR/CHeAriIeSXtRj96hPYitJ+wixNwAt1LQNXmC/ZfOPZUUdo1ho3xWKOq6SzAmDRHQsjiVVVUFZVJciwwj/0zqTCnwv7NylFhLfbmOoFuIND6IJAMaFVtvnsiGcyqiT6LEaK5TvyJ1hTNHspCsnaAqK6uloEDa2RwQ53U19VKQ32d1NUOlFqTurpBUl9fK7hpaWioFRdn4PvAvu8D9fWDbHwNDJLmWW/jDmmwcYl+8OC6/JiL/nrLix/BT7oohBHikCFD6gU3xuOmw/iRqC/0Ey6UIYPrJUphnIfrAm/nUAYcbOwUbgfGRloabLwVSr2d/9BxPhxYUxMuiMN5M3V+jRfAOdMRh3DOtVOrTbwzIU847ZpCVS0sds7Omms5TUd680n8JHlzIU1VJiMDawbYOXiQnZdrZbAdCxDaFMTOw+k+4G8wXexroT+GcaOk06IrDEcdLpKOL+aPurQbjxG4ab37y3Ns+Hap3O3CGIvS0XbsaCzHONwosSzCaT9hBB0ugh9pz09cocQ24xbGebhy90ffdvt32zEnSMtgu76P0tA85yGe7cRcY4DZA9JzELFPLvxqIDafsflL8zxH7MPcxZz8v6rm/ZXiyVRKQ72dTmBfCBQbrOhUWw9aVRvk8cLEXBEVVRU+pM9Evx0UCCPEDTIj4sgRQ80gYAc8u1CpHWRGRBP0dbWDzKiYCPp0GD86l4SXc+h+Dv2JKeMpSux3YTjqo5seo/jRkwcXKaZD7+L7qu8DyT7AeEkLP6ClZdCgmvCjGrr6usSYN3L4EBk2pEGqq6rM4GfT7HC+Fc6syTnXwqrJuZdzLOdaFZWs/SVhvhNR1WBUtOigIG2UmgHVMnzY4CBcYNPOWvuBL90mwmxL4tKCziXZxs7BOfg+4PuA7wO+D/TXfSA9N8Af5g02l4humFM0X/cz1xg6pF5GDh8qXEOoapib8GWznTBfUW3RBX3O5j8mqqa3+Q+6SpJMJTW2n7TVu9lDBFRtkBaUzUVHVOFXVVFN7oRgPKMjHlc1uWjhYIAOqcpkZPjQwVJvv05gbFRV1OFgETz+5QScwH4lwNgt1gBVFdVEYhpVbZW0PX2rRB5wAk6gSwQYZixVHmDGvmFDG6TefnSjgDje4jmWOxWjPsYRFoapnaCjjrsAUBGHDsE/2H7cY2LPnQKqMQUxLk7ACTgBJ+AEyoqAN6YPEVBVqarKhBuKsBNgI4hzE+Yw0c/8BT+imtgZiJcK+7hBscI2mDd33wkwaAtLQafaPJAtUs2oaE4wDBKHn8uR/IWOXcxkMir8AoGbsbyqKqpKUhcn4ATKjICqhvGpmozzOK5ppqri5IU4BIVq6zh0Lk7ACXQPAVUNjygYbD/KUWJ63KlqGLPoM5lkuqqqBCUdVtV8upifCXzhnQEho385gW4j4AU5ASfgBJyAE2ifQCajwbDIj6f4maMg2Vw23JKomsxfVFUq+ZPM0Cq5B952J7CXBFQ1fxGimhgZ0kWpaj7InRL8iqDakm7okAY7SFTlyyAxBwlEVYNe1V1VZ6DqDFT3HwPGJMIYRVSTtuBPC2kQ1SReVdPR7q90At7+siSgqlJTMyAsDeI8SyP58Y6xyLk377IgOhfm4BIn4yG9/cBHevyk5c5E7n6kHBcn4AScgBNwAk7ACexPAvwIOnRwQ7hRibmKqibNYf7SLImiWZ8EKuY7UzEt9YY6gW4ioJoYBbnwQCg27ab9xCGqlscuZjgIEF9fN0iqMm2Hj6oGQyJ52hPyu9jlX/MBtCMWHuecSt0H2htv6FXbH5fp8mNaXBcn4AR6jwCTbV7YwovN4pgUFVG1L2n5EJcPWZSqfZki6gfW1AjPTTSV/zsBJ+AEnIATcAJOoCwIsASaF7ioNs9bzK6Qblicx0Q3HVfu/rYWkX1rsed2AmVHgIGpmgzeYo1Lx6sm6dAVplXVcHHDhQ9vcCJNWgrTtxdWTcpRdVfVGag6A9V9Z9DeeCvUp8csfuJVW+on7OIEnEDvE+DcWjuoplXFjFFVbaUTScKq9kOf/TAlzR/S1tUNbLUcGl1ztDtOwAk4ASfQMwS8VCfgBEoggP1Am+cwxZJX6pyl2wyKe/bska1btkg221SMj+ucQFkQKDZQVTVZQ9VeC+2CJdf8KwL5eS4TFz6qKqotQlyUSy/9vMw4eHobmTnjYIlyxulvlrVr1rRX617pL7vs0nz5f/zjHzst44c//IFceOEFsn379k7TlpqAPtG3YuVSD/rIgPpLLbcn0sEotoV20b7uqIdyKC+WzXZB97Of/bQ7ivcy2iEQx19HrmrLmFVN/O0U52on4AR6mUBNzQDJZe2Ma+fdsCKAc282a9+JztSSjG+x+WZW1BQsf0anqmHlAH5p5/Pb3/62zXm58Fw9Z85seeKJJ9opYe/UnOtiPfg7K4Vz0+lvPq3b5wjMTZL+te0fdcY29kTdnfU5Hc88gjbQnvbam07fFT/8KRehDuq65ZZfdzvr9tpEfdR7wQV/3i1zL/qDUB8u/UKog7p6s2+0oVyk1P2ZuRnbAmYIYwTd/pyvsd3YfrSLtnQHU/pF/9LSneV31sb0vom/s/Qe7wT6IgHsBwMH2jzH5i70z2Y2YpMavCnRlL8yvN1mUNy2dYusfGW57N69uzJ67q3s1wRUNRgDIwRVDV4uRBAC0cWflgHVVelg3q+qoUxVDbpzzj1Xnnt+qfzPTb+UIUOHBt0ln/2sPPPsc/KL/7lJBg8ebMcQO5TYQYW62pPHH39cFi1aVFLaz3z6MzJ58uSS0m7btk3uvvtuWXjffbJw4cKS8rTXxlL1tbW18r3vfV+OP+GEHqnvpz/9idCvUttz6qmnCtuk1PSlpKP+j33sr0P/Hnr4kbC9zzjjLXLUkUfII488EvSxnK5s233JE/P2dTcMsuYvVc2PR9UWf3N05TneYifQDwhkbKxW2zmWSbdq87hNPV6EY1jEQBob5Pav4a7E8Mu/dj6tPWHuXHnk0cfk3nvvkylTpgifeL4OOjuHoutMuOjHWNNZOuLPP/9DQr34S5Hf/e7/ZMWKFXLzr24uJXm3pDnttNPk+ht+0C1lFRYCJ3gV6tsLjx4zRv75m9/Kz53aS9dVPYaMG264QW765c1hfvazn/1czjvvA/LNf/7nrhZVFukxNjGvmDv3RKmEvnV1P9gXyKXsz/BjvkY9HBOYs7/1rW/Lz9fQl5PwQ8f999+/V02aP//asN/H65HPff7zcuON/yF1dXV7VV5XM3X1GNjV8j29E6gUAu09liXOb6JbKf2hnZ3PvEhVgnCHIgfmpj17wgVzCVk8iRPodQKqyRKp9GDFb2a9/H6rqkXbFdKZ8a+qqrhBMZ1p/Ljx8tlLPhtUqi3lqWq4+Dn88MPl5JNPCX7VRKfa1t2xY4d84xvXhl+xVdvGq7bVhUrtS7VtnGqLjknJIjMkWlL5/e9/12lbVFvyqrbvHzN2rNx2+x/DRKW+vr5NuejGjx9PtW3iVNsvV7XjuDvuuEP+7//+b6/KDI2xL9WO61DtPH7ZsmXy1FNPyZve9Cahr6oqb37zm/MXaqpJGXuzbfcmj2pSn2r/cm1z+r8TcAIVR0AFQyHnW7FPcO28aydoC0mIw4MesZ/2CVp0zuLU/LlwDjBP0f/a2kHy+c9f2u5FNIas973//UXzFir/4bp/kFdffbVQvc9hjAa33357KOdu+9GPuXUIdMMXRoXFi5fIG97whqKljTFDXjQ4FE2wF0r682//+q97kbN7s8ARnrNmzZJp06aFwtneGBUnTJwYwr3xRZ23Nc+R9tWY8+KLL4Ymjxs3LvxAvL/7FhrTztf+2A8625/hF+drcVuUYohsp4vdpi62j7D/Xnvt/PCjeXdUdNBB07ujGC/DCTiBAgKdBeMcJ5nDtE2tylymrb6cNd1mUKSTLDtRrTwItN2lbxJob7DS28I41bb7btCEL3JIcqGSCks7n7/99KeFCUE70UFdSpq///uvSDT6hUzd+PXYo4/m75hYsnixdOXugW5sRrcUxUT185//XLeU1V2FfOPaa4UlN7G8w+0CDkNzDO/Ntt2bPLE+d52AE3AC5U4gnIbtHNvq/GxhO/m2arqqiqIJX2ZWxOiYaNC2knRZp556WrvGtJjpvPM+2Gka7gb75U03xSzd6j7++GNy/PHHhzIxdmD0CIEK/GJe8befulg2b95cNq1nTsW5NDaIudoxRx8TgxXlLlx4nxx11FF5A3m59q0c94PUhpbO5mvptPvLhhietwAAEABJREFUzz7L9t1f9Xu9TsAJdA8BVRVVbSnMvPbfEq5AX7caFCuw/yU3eeOG9fLg/ffKS8teKDlPpSfctnWrPP3U4/LoI0tk165d3dadV1evlPsX3iO43VZoBwWpljhMwwVJ64K4EEHQqpZYDolLFCZZPCclPtOEZ5zErPjjBcvH/vqvhHSkx0gV0+NGfcxXiks5B00/KNypwd0ILK16vMgzowrr4iIqll8sjnJpT2G7MPjxHCT0PLNlq+1bsZzopssjDb/GIvjJR/5/+qd/zD//Cj7kpewPf/hC2bxpUzC+srSYdqbLI39MT5725HOf+2y+fMogHfnIj9AG6otlxzDponDnB3ckEma7xTRctGBERk+ZXd227eVJM6KNtI06XJyAE3AClUpANTnfcv5FpNX5OTEgogpx1klVbT1BNx3/qoqzV8I5gGMqEo/jFIQeAwR+3BiXPv+RB+nq8ZjjOeV+5ctfCcuxOa9hNEKXlsK6OE/GvO3FcQ6hTUi6XWn9H/7w+3Q1wZ8uL/aVCDhQFnLllV8NcxT8zAHIg7CcmPkFctJJJwp1oScNaRH86CizPaFdpEViX9P1o6dPnJ9pYwyny+MOtA9/+C+CivMvaSgDBedmztGE0SP4KRM/QttJi54wUqzfbAfaSDzCMt8Y/mebw9Bf9Lj0G8GPDsGPjroKy6I96BHiHnnkEWG5c2/1jXppA+2MErkUxtFn2khfiu0HpC+UNFvKj2VQDn50bN9ic8FYFu0hHcJ+E/XF3FLma+SjD2wXyqR+9rO0Dj3tQ4dLmHaQN82LOPqC4Ccd0tk+Qlnss5THvPLUeacIQl6EsiiTdOkw6fdW0tuCciknraMe+obgj1xoB+1BhxBPXhcn4AQSAul5CxrCCP5KlbI1KGabmmT7tq3SZG5PwGWJ9sNLHpCF997VoZCmO41p3dGXNWtelQcW3Su43VFesTLg/+ILz8mmjRsEf7E0fUHHAFbVdruiqvmLFNIi7SbuYsTaNWvCs3tYasOzW3imz+233x4m3JyQ//zPLwgXFBR7/Q0/CMuI8X/9a1cFPc96Oufcc8Nzllh6RVypctvtt8mBB04Ly35YIkO+f//3fwtLq/EjTAKYuFAHdfGsqf/8+c/DnYztxZHv777wRZy80E/uUBg2dGh4ZhXLzVhunU9gnnR5sDCV8Gssk2TSY/TkworlZXAiHO+qHDtmjJx//vlkCXdckv/88z8k9Ie280wc+IUEHXwtWrhQ3vOe94Zna50wd27+F2uWiFEOWf/6r/863LnCkpj/+PFPrI4FIUxcWr5sF4OUgY52n3vO2cIEi+2KdHXbtpenvqFBeP4Pd7HAhX5ypyaTXeouG/GGOAEn4AS6QIBzLcLSIFUtmhM18RgbSYsUTbgXSi6cMRZyTOUcwo9E/HDFsXXu3BPDuYZieQ5ZXELMeRjDGXkQ4jlfcw7EX4rwvOSxY8eFFQ6z58wJWeJ5NwTsi/Iw0Jg3nFM5P3H+Im9HcTyGhfM4+aLQTwwV9IN+co7lnBXjC8vjHMj5HD3n2RPsXEnau+68U374Lz8KXGAQf6D81N/+LdH5OQvn0/hcSOYVCHOgkKidL9pDu2gf7aSvzA/+8i//SgiTDQaclzEQ/fu/LxDOz4SJSwu6mAc92zgaQghTJmXhR0ifDqPrrN/MW677h+tCn0n/93//9/JhM2TCnnN24RypPR6c9zs6v8c7V+Pybdra032jTe3Nrdqbx8Gg2H6APi2MrRtuuCHsQ+wX7Fts65/85MfhDszO5oKU1dn+TJpC6Wi+Rlr29fR4i2OAOJbLs12Zk9I+jNJs++v+8R+Ffb09Jl3ZR3jUTeGc8Y4775L/+q//DvtYrJsyqfPvv/pVuf76GwIz2rg3AkfGBvsT24L5NjrGBzrKZFywzyH099bf3hquKTraZ8nn4gScgNi0JRcEFqqatzUQrkQpS4NiY2OjrF69UpYte0F42UtPga2qrpKDps+QE048WY6Zc4IMGlQrgwcPkbknnRJ0Uw84SEhD/cOGj5Bjjz9JDjjwIIL7TZgwv752jRla98iGdet6rB2Zqio5/MhjpKFhcLfXMW78RDl+7hsFV8rkw50OsSkwLvSjQ9QicM3Z538mkUy8x48fH078GMYwumFUZKJIuLASJiu33f7HYFzEP31615+BwoSQyTmTUCYgPOuPejBKUS9+hIfC4/KAaupK19tRHHnSEvvJRQOTaSb8XJyl06TLo00wYQLDRC6mY9LEpCqGN27aJK+ZUZa2NZhhLepxYxlcKPHLKhMeJlrEtSdMXk844YSwLSKT2K54IRYv7GgXL7OhL8XKo34edo2Rj3aThokxEy38Xd22lFcsD9uL7YZRmO3J84Iov9gdLehdnIATcAKVQIDzLEJbeZwOrohKNpuV+Mlmc8FLOiQEuuGL4zvHeo7d8ZjKuRbD1n/8x43CsbZYNZxjMHpxviEf+Yul60jHo0h4PAZpOPfiMk+IBjrC+NFhcOT8l663ozjypiX2E118nhrn2HS7C8sjHXWjJ1+UP/vAB2Ts2LExKC+8sDQYRevrG/K66IllnHfeB4KKcyX9CIEiX7SHdhE114y5hOP8IBr3brcfYzFIMb/hrjSeU036YoJRhB8eT2g2hrJdo7G4WPqOdMX6XZj+2mu/IewTt9ncjboL49vj0dn5nfN8erkz5VJ+T/aNuQjzs2JzqzhfYr+N6dhOtKvYfoA+LcynMM7H/YF60vHRz/aP+wO6OBcsZX8mfaHQVuosNl9jf2JfZ5+P4y1uL/Tst+wD7EMcGyh70f2L5ITjT8Ar7TGhrSFB81dH+0htba0Um/9RN8bpdN0YMPlBgj41F91lhz7zrFE4z7Xxxryd+Ts64s5+99nBkHl785iLfaE9ne2zXW6MZ+h1Al5h7xCI9oQ4d4kutaf9hCtBMuXUSADu3rVLVq96RV57dbUZsxqCka8n2pi1SWl9XYNNeMaJKpu1dS2qKuMnTBTS5HItE9jWqXo/tHnTRmncvVtqBg6ULVs2hbs4e78VlVljLm01bO6CKts+F/YBVfxJRDotflUNaZLY7vleunRp0YI2m6FsjRnKikY2Kzmpc8cbvyA2q0p2OOH/5Cc/EZYGsxwhlkG9TFApiPJXr16Nt410FNcmcUrB5LDYJCddHndE0iYmq3GSmCqiS14usvgFlbIok4lWlwpIJWaixKSRSSUG0heXLZPTzzgjlaLFSz0ImjhBvv6G5M2ZGBW5i4S49gQepW5b9hO2G+WyPbkTknB7+1Z7dbreCTgBJ1BOBFRVuPuQuZpqcv7lXCz2wVVNdMSTTlUtpuWfNC2hrvn4oYrzT7FcnBc5RheLizru5InH4qgrxeXC/De/uUVOOunE8OgNzocxXzRMEMZYh1tMOoorlh4dhgMMoPgLJZYXz6OxTVFfmL6UMMY1zomcT+krP/qVkq9YGuYU3P3HeQ+DDvObE088KfwwWJgevv/8T/8U1OTDiMTdV9xhFvOHyF7+ao9HR+d39sHm5c6htb3Zt2JzK9rD2KAx7CPMudhnGEeMJ/SlCn1heTH5S82TTtfR/pxOh5+5GoK/vfla3NdpD/2if6SP+mhgw3jKS/l4pA9zxu5kQn3FhB/BTzDDeDTuvfbaq4KuWNpSdTzuatXKlcKY4DjG3JI5Jjri6BvzYeK5ZmA+zIonyu9onyXexQk4gRYCqhpsC+n5StrfkrL8fWVlUGQZ8quvrpJ1r6+VESNHhjvYBtTU9AjFGiv3oINnhg3ZXgWqKqQZNKi2vSS9rodPw+AhMmzYCOFOzrVr1/R6G/pqhTnJha6panD5UtWwjzDAEXTdJdzxUKysziZDTL5PPvlN4fmHcelBsXLa0932hz8ISxO4kwJJ/5rNXRlM5tJ50xcyaT3+juKITwuTTSZYaV2hn/7QJoRfqpngFabpSpiJb7xg2JulwOltFCeNN9xwg9x3371FlzrHtrEkKN1XLhjoW4xvz93bbcsFEf2EG0K/26vD9U7ACexPAl53SQTsdMw5V7XlHEw+jIe4hXGE0XeHcDcQqwWKldXeD2OkxTCBwQF/+m4nwqUIjyL5529+SziGRznn3HND1mgwCIHmLwwYhefr5ijpKC6miS6GAQwBMVzMxWjBXCG2izvhiqUrVcc5kbLoH4YajLCl5iUdd0xx5xR+DCi0D0YYFTu6O/FPf7pLuJORfAjGEZgz7yK8v6QjHsXO7xhOaWv6btne7BtzDOYctI25FSslaA/CXIdti3RlHseciR9TuXOVpcTsG5TXVSllf06XWep8jX2s2BhgH+LuRQzkN9/8S5k2re1Ktr1lkm5nMT+G8WhQ/9TFfxPqRlcsbSm6n/3sp/LMM8/kk15vP4azHZHbbv+j0Fci5849URgz3LX42GOPWr3TUOeF/YL9g3wI+0s+0j1OoJ8TUNVAgHkLoqrB1hCU9qWq9l1Z/2VjUMxmm+Q1MyauXfuajBgxUiZOmioDBw5qBXh/oeUX8FUrX5aHltwvuLSDX2niC0t4Yctjjy6RRff9SR5afL9s3bolvHBk8QP3Bd3jjz4ku3btJFteeCHJkgcXhuc33r/wbln6/DMCg3yCIh6eKUk548dPkNGjx0h1dbVs3ryxzTMOMTQuf+kFob1r1rwayqYO5JWXl+dL3r17d3jpCnqeJfnAontkpfUzn6DA8/xzT4f2khZZ+cqKkAKXMEIaBseLLzwvlEsf6euzTz8Z0qbbxtLtoLQv6n1g0b3h2ZCrVr4izzz1hDHbZTH795++ID3RimigioY2fsXl11yWA2NIY7LMpJm6t23bKjyEevHixXL77bcLFzv19fXCyZz4UoULntWvrs5PCsjH5IMJCf4wIfrVzeHX/aijvjgB5wHkTGTbi4vpKCtKnHgw4STv2jVrwsVOjKf+uMQ4bdCkrmLlxXxplyUoMXz77bfJrbfeKhdd9Ilw4cAEiGUh0slnlf0iy7hmUgtXJkRsI2nORzlMGpmsHnnkUc3a4g6/5r7rrHcKfSVFLPME+yWZi5+92bbF8kw/6KCw9CRuN+qCGezwuzgBJ+AEKo5AajUB51+kWB/QIzEu7Y+6vXE51sc7cKKhjbu+uYBmqSXnLAyLsWzueluxfLlgmEDH+Yg7dzhXEC5FOG7fc889bS7MqY96KQtjGWVxXuL8lD7uc27HKNdRHHnTQj85p6GLPw4Wtntus+GAc1q8uz7WRb7OhDsfaT/pWCKKwYJ2Iuji40Twtyf0PW6H2L4Pf/gvwjyFPGwP5hCk40dAwuiLyebNm4W7ruhDjKdM/LDGjcI259zNHC3qesKFBULZaR4sfS/czuwnnN9pc+Fy597oGzyKza0GDRokbAP6UGweV2w/IG1a2L/Yz5j3bt22rdU8MZ2uPX8p+3OxvNTZ0XytlDHAMm/KfvjhhyUatNkPO2JC+lKl2PyPbUH+uJ+oqkw78EBUJckLL7ReJcWY+NG//E3b8LcAABAASURBVIsccsghEo8LHNOoB+EH7zinnTZtmvCoHdhxvKOvVBrbkj42xX2WeBcn4ATaEmDugrSNqRxNrxgUd+3aJS8tWypPPvGo7NixPf8QyoiJOxNXr1oZDIojRoyS8RMmyYABA2J0l93uzrDmtdXyshnidu3cGdpOe1944dnwwpLG3btk06YNcsihh8u0gw6WxsbdsvS5Z8xtDM9lnDR5qmzfvs0MjKvyzVplBrNNmzbK4UfOluPnvkmmHjBN1q17XV40I1w+UREPdyNiZK2rb5DBQ4ZKbW2dbN+2XTZaWenkK19ZLvBk+ThGuzFjxoW21NbVBca0h/QvLH02tO3wI46Wo445VmpqBsqrq14JOuIL5aDpM4X+cIfAuPETZeKkKSHJePMPGTpMJkycLNMPPkQ2bFgvm61Nh73hqNBH7jiFC4lj21i2TRjBULr2tVct70yZc9wJZpDdHPYT4npbGNCIqrapWrWtrk2iAgUnYCavmzdtCjEsL2YpBydlJj/8Mo6hjSUFpMOYOH/+tSEtJ+g4GeGh3mec8RaZOmVKMCZysn7f+94rRx99dEjLL/xMBuJD4VHyqzEncvwIE9aP/fVfCWljG9CTDz1+hDbSbn4x51dV2k7buPPipJPeGO7May+OOzt4CD3l0MZLPnuJMPHg+TCxHH59ZsJIGuqifu52oC7ysAQq1pXknW/706YgV3zpi4JQFnLttfNtf90uh7/hDcGwxuSGi7JTTjlFxo0bF9JSFv3jQdoYaqm3UKibC0jqZlusMuMiv5CzjdJpueA44y1v6XRJCeWRn75SP2WOHz9eWGLFdkW6um2L5ZkydapQDxcd37j22rBM7lpjcskln0032/1OwAk4gYoioNr2fIuGH3iLdUSV2GIxxXWcDznec84hBefFYi/n4NzBMfx2+yHv3/+95SVc0YDwDTvuHnHkkcKxmGM8ZZGH5xRzXKZ8zss/+cmPhfMT8eThvIcfwc859g+//72w+iCet3E//OELw7mPdLSRO7gwLjB3wFBHWbQPgyDnUc5Z7cXRDtpDWXF+8OUvf0VOsB+6KJtyWEZLuaSL52/6jY5+kSbWle7TDTfcIJ/73GfzfSRM+zmHY3igPIwT73732eFxRtRDWWwD5gPnn/8hmtVGjj/++PCCFdpLevp7/Q0/CM8kTCfGkEo/cNP6Qj+GEu4yow+Uh2AAY9VGnB9wnqe/MGF7rHzllVAMYbZVZ/3mh1/Y0WcyMidizocflzB+4klXU1MjxXiwLYud3z/+8U+E9HPN2Es5UXqjb8xX25tbsf8x96FfbFfYxjljsf0gtju60ejIOPnLj35ETpk3L0TdYPsWTK+1uQ3zPoR5IIIfIQ6jV2f7M2lCoakv2gzn9uZr7BftjYFYDD8Un2DjiHkdc7Wob48JPNj2sCIt+wT7Bn5cwviJJx1+ysaN1wOxHvYT5q8IftIUE+b1HGfgRfw37NjFNorC+GYscnzhOuScc88N45n5K+OAcRHLp26M+hzjmH9THkI8LNHH8q+17cacND1uvmF1M5bI053iZTmBSiKg2nbeoqrB1lRJ/aCtGb56UjBqcQfbutdfN+PXVnnppRdk584doUoMN7t37w53/XF34oiRo80oNUl4PmBIUCZf48xgdtBBM8LzfGgSdwYeYcbAhobBUlVVLePGW5ttQjB02AipMaMc8ZOnHBDSDx8+Mri7zfBIXoyRa9e8KuvNgMjde9zFt+zFpeEuw61btgg8SFcojY2NsnnTRhltxkHiVFXglctlhfLQRTngwOlC/aoqGBMx9mGgxQDJZByJaWus3YMG1QbjJCcR4nLNDzqPaaKLIXGiGQ3r6utlw/p1sqv5rksMmnusfePGTwh3lGI0bjTDKvGUT1uqqxMDcWxbLBN3x44dZoDdLTtsv1DN2MT8QBlUWz7LzGmjattBj74z4aTM7f5puS21bICJyuLFS/JLnEifLpPJCHlJQ1pO1uSPuk9/+jP5vBj5yE8cEvPE8mJZxFEGZRFHPnRpoRzi0nmIJy16pFgcZVI2aZFoQCMfYYR49PgR4torj0lLOi3LyBDyIcSRJl0vbUf3pS9dIem0tJd6CgV9FMpEaCNlFqbFYPq2t70tf2dEYTxh+kN55KccykNoF/FRSIM+bqd0enSF25Z8hXnQpfNRXmRCnIsTcAJOoFIJqJZ23lUtLV2aQzyWcsyMwnGX82xMxzG7vTiO8zEOP3nS6Tn/xOM/+sL6Yh7y4Y9lpdtAWwjHONx4fC+Mow7KQtqLIw1lIJRLOs6VlIkO+e53vyfE4UdPPOmiDj3lUE+6T8STl3iEMPnITznocAmfd94HpTltmL9EPWWmhfykw6hIeZSBwCudDj/z1zPPPNPmyGMIFhXOlbSdNuBSFsJ2Ii5mot5YH+7tf7wjtJO01N1Zv+fMmRN+PCQ9ki6fegijR+j7hRd+uF0exdKPGjUqpKedsc2ko0+90Tf27fbmVmk29A9etJF20Vd0uITRp4X+wJs0MKIe/OgKmVI/QjwSy6Rc/OgQ9h/y40dPfLpO2keb4UedpENgmU6XbluxeMqlfMpK58OPjjxRqDOmjzrqpg2kxyUc4yiX9LEc+kN7SBvliCOOlLkFBuYYF136FMtsz411kSedvlid9IN20l7SRyGMPtYRy4ztj3ryxzzuOoH+SkC16/OXcmTVowZFDIcvvPCcbNy4XsaZUe7AaQfL1s2b5eUVL5kBqTFYYDEkvs4y55Gjwt1v3IFXjqC6q027zQiHsW3K1ANl7kmntJLkLsGaolVt2LBOuLPw2aefyC87ZllzLpcTlmlivCuasUCJwXCnGfBQHzrrcOEuwrWvr5HHHl0i3EmIviPJVFXJ2HETbPvtlldXrwpJMWjyXMe47YYOHSaqKs8/97Q8tPh+YQn4jENmhbTFvsg7YECNrHjpRcHIyj7BnY4DBw4sltx1TqBXCfArKr/gckfLT37yk/zb+3q1EV6ZEygLAt4IJ+AEnEB5EOAOSO4q5c6rX/3qZjn88CPKo2HeCifQCwTY79n/maMuvO++sHqoF6r1KpyAE3ACbQj0mEER49cLzz8rW7dslgkTJplMlJGjRsvUAw+SjRs2BOPR6lWvhKW53GmX3MVW3aaBfU1h9r9gSN1ihlWMgaX0L9vUJGteXS2Tp7Q1Qo4wQyx3P3IHaCllpdNs3LBeHnnoQVm98hUZZ0ZCykrHt+cfNXK0cJciBkjumsRAyUt0Ynru3Dz8iGNk2LARwfC43AyFTz/5WLvPiMRweNjhR8nYseMtTU5WWXuefPyR/B2QsdzecFX7xi8FeVbu2WcCcRkOSzRY2savr/tcqBfgBJyAE3ACXSPQfH5W9fN018D1zdSsGOB50ixF5s26hXdt9c1ee6+cQEKA54Vu3rRJWB59/vnnJ0r/dgJOwAlAoJelRwyK3C2HEYnlvRgQx5ihSDOZcNfaKDMqTpg4SV5/fa288vIKGTV6jEyYOFmqqqpDfC/3v9erGzhoUFgWzV2bvIglLnHesWO7PPfMkwKzwkaxpLjJjIojR40qjBKWQKtmZP26tcFQ2SZBOwrq4xmKdXX1cuTRcyRsoxIn6ZmqKmEpNXdaLl/+olRZeOiQYfmaeG7jq6+ulENmvSE8u3GkbXMme+vXrcunSXu4w5JnbB540MEy57i5tj9MCsZEykmn601/obG3MNybbfG69i8BLlIWNy9L9yUa+3dbeO1OwAn0HwJtzrv8ImvdL9QXhi2J//cDAvy4F5dWspyyH3TZu9iHCXS1a+zzLB9mDDAWuprf0zsBJ7D/CRTOXwrD+7+FpbUgU1qyrqfCUMWy3lGjxgjP3oslZDJVwvLnSZOnyPgJE2XylAPMwFZ8mW/M0xtu055Gyeay0pTNSmNjY5sq91g8G3nnzp0hLpttCmnJgx8lLmHKwI8uySfStKcpGPyqq6vDnZrEYTBjie/Ce+8KdwpWD6gR4omLwgtLWArMXX81NW2XALO8eJAZKVlW/NKyF4QlzeRtbNwd6qN+wrQdwd9kbc9ZPwkTjxFz86aNwsOKma9v2bJJWGKdtXShL3Cx/pM3yugxY4WXvGAMHDFytGSqqmJUcNeueU1Wrnw5GBsbGoaYm8lv59i2aEwlw6aNG4T2i+Rk8OChlr5KBtTs//2CtkWBF3xi2F0n4AScgBNwAk6g+wlwvu1KqaRX1a5k2de0nt8JOAEn4AScgBNwAl0mgD2BeUuXM5Zphh4xKA4aVBuehzh02HDJZNpWgdGMuxInTZ4qAwYkL+vYn3x41t+jjyyR3bt2hRfHLH7gPuFFMrFN+HlxCht+zWurhecYPvrwkpCWPE889rBgHMQljBGQ+FdXr5Rnnn5Cmpr2BAMdy3gpk7cjT556YL7vGTOyYqA74MBpROcFY92TTzwa3ni8Zs2rwei4y9oYE+B/zNrN8nLaRn2PPrw4tG/1qpXBoEi7aT91s0QZg+OLS5+T9evXhZe6bNu2VR5avEh4g/To0WMtTzYsSWcbPprqI+2gPbFu2oyxmOcmjixy5yRG401mJHxg0T2yauWKsD/wchhYx7bxDEjaRpkjzfAMpwfvv0+WPv+scMck7SHOxQk4ASew7wS8BCfgBJyAE3ACTsAJOAEn4AScgBPoLgJtrX3dUDLGraqqqqLGxFi8qnYYL734OXjGoa1ejsLLUjD6xSbgRxdl5qFvkKNnH5fPc+zxJ4Wl27gxDfEY1Y6f+6Z8ujcccXQoUlWFtyXPOe7EEHf83DcKLyHBSBcSNH/x1rrCMnneYHO04KeeWCcuYdqHPwrtp+4YxsWYO+2gg+V4ax9y0PQZYakxfpYq19bWtekj7Yl1427ZslkwEg4cOIhgXljGTvmzDjtCTjjxZKGfsCBBIWvaRrkHTpseGFD/cSecFN70rMaJPC5OwAk4ASfgBJyAE3ACTsAJOAEn4AScQB8m4F2rOAKZimuxN7gsCLAkmjsWR48eUxbt8UY4ASfgBJyAE3ACTsAJOAEn0LsEvDYn4AScgBPovwS63aDImnBVf45NX9yleJFLfObjM089IUOGDpXBQ4b2xa56n5yAE3ACTsAJ9FUC3i8n4AScgBNwAk7ACTgBJ7DPBLrNoKiqoqqye/eu8CxCniW4r9LY2Jh/ycg+99QL2GcCLMmurh4QtvPIUaOFJdOqus/legFOwAl0RsDjnYATcAJOwAk4ASfgBJyAE3ACTsAJlA+BbjMoZjKZ8Ibipc8/I48+snif5bFHl8hzzzwpvL1YKvHTB9vMMxuPPHpOeC7ijJmzJJOp6oO99C45ASfgBJyAE3ACTsAJOAEn4AScgBPoAgFP6gT6IYFuMyjW1TcIL+I44MDpMvWAg7pFJkyaLIMG1fbDzeJddgJOwAk4ASfgBJyAE3ACTqAnCXjZTsAJOAEn4AScwN4TyOx91tY5a2pqZMSIUTJ6zFgZM3bcPgvlDB8+Uii3dU0ecgJOwAkawbULAAAQAElEQVQ4ASfgBPopAe+2E3ACTsAJOAEn4AScgBNwAmVAoNsMimXQF2+CE3ACZUnAG+UEnIATcAJOwAk4ASfgBJyAE3ACTsAJ9CUCxQ2KfamH3hcn4AScgBNwAk7ACTgBJ+AEnIATcAJOoDgB1zoBJ+AE9oKAGxT3AppncQJOwAk4ASfgBJyAE3AC+5OA1+0EnIATcAJOwAk4gf1JwA2K+5O+1+0EnIATcAL9iYD31Qn0awLZbLZf9987330E5s+fL6oaBP/1118vS5YsaVPB1q1b5eyzzy4ad8stt8iFF17YJk9HCupSVSFvOh1h1aQ98+bNE+pNx1eCnzbTdtWkH/SpUEf/4QxT4or1a/Xq1TJ16lShrPbSUEZ9fX3YfqQlT7Gyyl0HD9WEV1f3pVL6Bj84qiZ1sE1KyVduaWi3qra7T8T9odR9AdbsP+Trjb5SD/Wpati3K3V/7Q1WXkf/I+AGxf63zb3HXSLgiZ2AE3ACTsAJOIFSCdx7z73Snry07KVSi/F0TqBdAhgTbr31VtmyZYvkcrmQ7pJLLglu4VdDQ4PcfPPNMnv27BD1pS99SaIx4KyzzpIFCxYEfalfF110kZxyyiltklPW4sWL5d3vfrf85je/Eeptk6gHFBicvvjFL3aLAZM203b69+tf/1roE7o777xTLrjgAkF36aWXBpYwJa5Yl8aPHy833XSTDBs2rFh00LE9li5dGlguWrRIyBMieuErvQ/sa3XwuOaaawKfru5LpdQN4zR/tkkp+bojDUZApDvKot3sP3fddZfccccdbYr85S9/KQcffLCUui9897vflTPOOKNNOV1V0D+ks3x9ZX/trJ8eHwm42xUCblDsCi1P6wScgBNwAk7ACTgBJ+AEnEC3Esi++pzs+sWXZMtVbwyy/foPyZ6FP2tTB3cKYZC47rrr8kY7jDo///nPZdWqVW3SpxUYEu++++60quL9zz77rDzxxBOd9uPhp1bIJ6/8ucw866tBzv2bG+Snv3mw03wVk6DEhpa6DzSZnXrFxt2y+JXteSHclLWIEuuq9GS/+MUvSurCfz2yXj75yxXy3v94McgNC9fK61sbi+bFMF1YLttk8ODBHRqgixbWDcrCtnRDkd1aBGz62jGrWwF5YWVBwA2KZbEZvBFOwAk4ASfgBJyAE+g/BLynTiASaHr6Ltn2vQ/I7sf+V2T39iBNq56SHbd+Q3b+52UxWXBvu+02mTZtmsycOTOE4xd3QJ166qlhSSXLJlkmivv+979fWKr4u9/9Tk444QThDqnp06fLj3/846DnbsdYBn5VDXoMl1zMU4aqdnmZY1wKy1JsykCef/750D5VDUumYxruMKSNCPXSnhinqoIfXbo99A9Dw8knnyy/+tWv5LDDDsvfeUnatNx826Pyzk/9QH75pydk687dQe5/5mX53Dd/JZ//xk3ppJ36Yxuon7sjEfyqyZJc1Zb2Uhh376lqp0vLuUtMVQUWlBdZxG0Cg5jmb/7mb8L2UNXAkXpinGrrumJ+yivcByJr8qdlt1kTn3h1u6ze0ihNuVxeCD/52k7ZtSebTt6hP/JSbdmH6Itq0s7YbvYP0hJHW9trG2lICyNYqSa8YznoX3vttbCfkQ5Wqi1LjWN+1Zb20AHqVU22IWXB7cYbb5R3vetd+f2PdGnZvScnl/92pSx4eL0sM+PrDuOC/PqZTXLxr1+R59fuTCcP/re+9a2yadMmSfcPo/isWbNCfPxKtwd/1NM2VZUPfehDURVc2qua9Ik7X+FA/6Mbdaot45s86T6m2RAXCm7nK7aDbUAdcZuRTzXZJrE84s8+++ywvJ94ioz5VZP9AB1CvGrSxlL3V/K5OIH9ScANivuTvtftBJyAE6gcAt5SJ+AEnIATcALdSiC3faNs/9mn2y2z8cnfS+Pt3283Ph3B8tCf/Sy5q5El0MuXL5dvfvObYSnlqFGjwnJKlvNiXMAgccUVV+SzR6MFS6jRf+tb3xKMDZ/4xCfCsmqMAixpzmfoxMNdk9yNdfXVV4d6yX/UUUcJd1ZiZOPOqJjmnnvuEYxA1Eu7ad+tt94a7rikzoULF4b48847T77zne+Epd5Uv3HjRvnTn/4Ullk/+eSTRZcNr1i9Xi6a/98kLyo/+f1D8oP/urtNHIYk1cTApKqBBYlYmkwb8CPcLYrhBm4saYXvRRddRJT84Q9/EO48487R5bYtMLCEiCJfGITh8k//9E+BESzmzJkj733ve8NSa3hgMCYN9bA0FveTn/ykwOtHP/qRwCpdV+E2/elPfxq2BW0kD8tYizRFlq3fJTvNWFYsDoPZSxt2F4sqqvv6178eln/Dh32JbQgf9g36Rr9p99FHHx1YnXvuufLII4+EZeXFCoQ/y8kffPDBkJ68X/3qV4X9ib6zT7zyyisSx8GkSZPy+wvLhIvt0xi34MsjBGDKPkpa2kiY/bRYW65fuEYee21HsSjZtKtJvvyH1W3i2B/mzp0r/DBAJAbpZ555RtjWhBGMjfQBZvTpe9/7XjAco2c7086PfOQjYf8iPdsZgyTpYXzllVfm+894Yt97+umngxGaNOxb1L9gwYKwVJ0+sk0+/vGPh21F+eSBC+UXE7Yb+2JH+yt9jduK9tIXlq//93//t9APth066mJs0A/qim0sdX8lj4sT2J8EMvuzcq+7pwl4+U7ACTgBJ+AEnIATcAJOoDwJ7Hn4lk4btvOuH3aaJp3gwAMPbGWgSMe158eAcfHFF4doDCgYG3AxNGAMxBATIrv4hfENIxAGDwwZGLHwp4vB6IEx9PTTTxcMQtzthOEBgwOGFnQYOTDcYVQjLfEYNdLlFPP/z+8eKqZupfvxLW2XPmNkwbARBeNSq0zNgQkTJoQ7zjAM4U8/N5Fn3MGvOWlJTpoRddLHwnIxGsEUNsOHDw/180xHKuDu02XLluGVYts0RHTwtcUMYRt3NnWQQoT4rbs7TkMBGIkef/xxof2E6Q/bkjvyMCZiBERP+KGHHhJcDIVsX/QdSWRL2ccee6xg3MKAdcABB+SzMQ6ok/LOPPNMeeqpp6TYPo0+7oPwZt8iT76gIp4NO5rkd0u3FIlpUWFUXPjSthZFs482YcCED30+5JBDmmMSB2MfhlBCbGe2N6zQY4ykbYwDGJCG9l922WXhDkBcDHTbtm0T+s8+Qhr6xZjmDkDSoEsL4+vhhx8Oxw043nXXXYFXOk0xfyn7K+2kvfSFY8mLL74o3bW/FmuTiGudQO8ScINi7/L22pyAE3ACTsAJOAEn4AScgBMwAtlXn7fvzv9z618OiTC6cUGOISIomr+4ewlDSHOwy87mzZvDHYHpjNyhNHbs2HDHHEaQdFy3+psLwzh05JFHSiaTEQwPGFEwKkYjHYYSDB/NyUtyHnt2ZafpXnh1vWzcvL3TdMUSYCAdOnRouFuO5de88ASDT7G03a3D8AMvuGEowijG3X0Ykqhrc5Ftir4jae/OxMI8Oxu7/izFdHsxdLE9WQZP+zE4YTAjDYanwvr2NYwRG2lvn8Yo15U6VqzfVVLy5RvapqN/GDjZtxnHhY8vKCyYdiOF+nQ4bQDnOIBRPh3P8QEdhlyMr+m46Ge/4Y7BaETH+BrjusulH0h37a/d1S4vxwnsCwE3KO4LPc/rBJyAE3ACTsAJ9DsC3mEn4AS6iYCWdimiWhUqxICF8QXjEXfFoeROJ5YoY6QhvDfCRT5LPSkT4dlovOgFoc6ulkkZGIxKyReNOfEuSO6sw4jIstOYH0MT/pgGAwnPZ0TXkdTUVHcUnY/LqOb9XfFgoIIdRhjuCousMMxwN15XyoocOssT07HcGsbUi8sy37Qxk3YVblPSdlh+ruuGwsLy2PYYjNBzV2m8Iw7j2ZAhQ8LS9Lg9f/nLX8rEiRPD0m7u2ivFYFwqW/iTlvbAAR4YqQv3afQsK2Yc0WaMwtFPuJhkMqXtL+0l44cBxhhGXwyM6TqIY99nH0f/+9//XtCl2wlL7uokHj39o58I5RZuZ4y13E3InYrkKZS4PboyvuJ+WFhWYfill14Ky85hyj5aU1Mj3ba/FlbmYSewHwhk9kOdXqUTcAI9RGDVmo3iUpSBc/F9w/cB3wf61D7QQ6cRL9YJ9CqBzMRDS6tv+IR8OpYuYqjBCKCq4WUr8a4jnlHHckVcjAsYcx599FHBAMmdfxTCslheysKz5zAgYBTjbqRYJuUef/zxcsQRR4SXUqgmzxD8wAc+IH/3d38XXuzCs/swEFAeQhkYNHlByjvf+U7h2Wq0gzxnn3220A4EYwc66o3PTONZaaoqGJQwpHDHGssvaUcs8/Of/3x4LhyGH1UVnrX37ne/OyynJW17L2U5YuZEmtehHDZ1jAwZXCvwou20m2co0id03C1Je9HRfvpOmthWOKqqqGp4oQ0vk4hpeFYl24L0uJRHYzAWsR3Q87IcykdghDGOugjzUhH6Cte4fJq7EFVVqAMDzbhx4ygysIAdZVIX6Qu3aUxL3bQhZEx91dUkhuuUqqi3ria5hGYb0mbaqpowYLuRCUMZ+yV3zKkm24z9hzgMn9yl99vf/jYYGNnOGAAL79aDV5o/9dBv+si2gh1++gtrOMGLZ3JSzznnnBPuHqUujGkY32CrquG5mOyLMGNZMa6qCm2j7TEtfaSstBwwoiYdbNd/0MhBIY59iXoR/BieuaOV5dpsB7YH/aA/tINtBxNVFZY/k572w4J4nkk4YsSIMK5Jm97O3LX60Y9+NIxTuMCQvrCdVDU/FmkHetrEvsy+VDi+QuPtq7CNbAeEMjvbXzG20z/azfMdTzrpJCtRumV/DQX5lxPYzwSSo+F+bkTx6l3rBJxAVwlc/YPfybHn/4OLM/B9wPcB3wf68D7w0S/9uKunB0/vBMqSQPXsc0Rq6jts26C3/G2beIyKXKgj3O2DAQRDCMYbdLiEYzrCLF/G5e4ljC+4pMVQQQUxbdRhZMQfhfTcCUk41kk+hDLQI9TBXV74yXPzzTeHF7sQvuqqqwQdfsonLzrC5KPN9IXy0UWhbWk98YQR/Ah+ykvLeW8/Vqrau02sOeH/O3tu8FE3bYh10qdCHW2lLtLQfu6o48UwhBFedrJu3bpwBxZh+h7LxKU8KsNAFDlQHkvKSY/QV1zk29/+dr4s9OT94Ac/GHiSjz5TJmWTPgph9OSJunR/qJs2UF5a6s1QOLKuOq1q4ye+bkByCQ2DWH7apV4y0j7aSRwuYfQIeWM70WMoLWwTfSAN+RE4UQ5+9Gk/rNGjY18fNmyY3H///YEVdcU6SRMlciA+6vCn08YwuiiDB1bJubOGxWBR9/Axg2T25LoQB/tYPn6UbFv6i9AO4pcvXx4MrNRJGMFPegSu6GCFwABGUU/c+973PkGPH5d46iScFnSUjQ6XbQA7wriEqRMpbCPbgXRIum76RN6oJy9LqTHwoqNO2kO7CEchjD5dVjotfGgD5bk4gXIjogErugAAEABJREFUkBwNy61V3h4n4AScgBNwAk7ACTgBJ+AEypvAPrZOq2uk/s+/Le0ZFWuOfZ8MeOMF+1hL/80+Yli93Hjln0t7NsVPvu+N8oF3HrtXgLjz65//+Z9b5WUpauFddq0SVEDgwOEDpcEMi8WaiiFt2oiBxaL6ne4jx4+SN01tKNrvSUMGyMVvGlM0zpVOwAn0LQJuUOxb29N74wScgBNwAk6gQwIe6QScgBMoJwKZqUdJw6d+KQPf+GHJjDwgyIBDTpXa982XgWddXk5N7da2sJSUZZMsO2VJZbcWnips3nEz5L4bL5GPnTNXZkwcFeRdb5wl//6V8+Xyv3pbKmXXvNxRxdLTuDRVVeXf/u3fpKfupGKJKktMEfxda23pqavs6viwsbUyZViNDBlYJbXVGRkyqCqEZ40Z1K5xtvQaejYlhl6W+rKEGJdwT9V42Wnj5NMnjpHjJtbJlKED5A3G58KjR8h3zp4iE4bU9FS1FVEuj0Rg+TnL0FmWXRGN9kY6gb0gYIfMvcjlWZyAE9hrAkwaedOYqsq8efOE29wLH6zNJHOexTVPAva6Ls/oBJyAE3AC/Y9A+jzD850gwMUNz5lSTc496fMLF+eqGp6BxvknnVZVhXzo0un8HAVVl+4ioINHSc1bLpb6T90UZNAHr5Pqw8/oruLLshyWWbLksTeWM04eN1y+9Il3yB3//rdBvv/lD8oZJ5X4/MoO6LEskz5EYclmB8n3KSpdF/59KqyEzOMHD5BDzUB2xPhaOXT0ICFcQrb9ngRD75133hmWOuMS7slGnT5ziHz5LRPk++dOlfnvmCTvP2qEDKjSnqyyIspmyXTh8ueKaLg3slwIVEw73KBYMZvKG9oXCHAxxkOI4/NmeCvZO97xDtm0aVO+e1zk8YY/FCwdwXVxAk7ACTgBJ1AqAe4Q4llmU6ZMyWfh4ubJJ5+UU045Ja/Dw3mJN3/yLDTieCg9+pgWHX7ycxH//e9/P7yxsjcuVGmHixNwAk6gMgh4K52AE3AC/Y+AGxT73zb3Hu8nAhgKMSBeccUV+eUg8aKPuNgsLurmzp0rvJHttttui2p3nYATcAJOwAl0OwGMhAsWLAhGwmXLlgl3HmI8LKyIOxS5U3HixInhLaCF8RUZ9kY7ASfgBJyAE3ACTsAJ7DUBNyjuNTrP6AS6RoC7DV988UU5/fTTW2Xkwu3KK6/M60jHA61Jt3DhQkkbG/OJ3OME+ikB77YTcALdTwBj4QknnCArVqwoWjjxPItr0aJFggGyaCJXOgEn4AScgBNwAk7ACfQrAm5Q7Febe7901ivtIoFnnnlGMCgiZMXAiOviBJyAE3ACTqAnCPDDFsZClkjzkgiWQcd67rrrLpkxY4bgLl68OKrddQJOwAk4ASfgBJxAMQKu60cE3KDYjza2d7X8CXAXyNVXXy2DBw8OwpvBfNlz+W83b6ETcAJOoNIJYFS86aabpK6uTp566ql8d3iG4h133BH0n/zkJ4XzVD7SPU7ACfQRAt4NJ+AEnIATcAJdJ+AGxa4z8xxOYK8IcMfhtGnTpNBAyJLm66+/PpTJ3R/f+c53wpvZeGMeYV/2HND4lxNwAk7ACaQJ9ICf89Sxxx4rs2bNalX6nDlzhOf/siT6sssuaxXnASfgBJyAE3ACTsAJOIH+ScANiv1zu3uv9wOBhoYGueSSS+SrX/2qLFmyJN+Cyy+/XLiAQ/HAAw8IF274ES7ucH3ZMxQqX7wHTsAJOIFyIsAPWryEBcHPuWbYsGFy6qmntmnmpZdeKhdccIGwJHr+/Plt4l3hBJyAE3ACTsAJOAEn0L8IuEGx4+3tsU6gWwnwMPuf//znwWioqqKq8pa3vCU8M5ELuquuukrSd3+wzIxlzxgZ/QKuWzeFF+YEnIAT6LMEeAbihAkTwktWMAByfrn77rtl7Nix4VmIPA/xsMMOky1btsiZZ54ZdDxqgx+9fvzjHwc98aRD8D/00ENy5513Bmacp+rr61v9OBYi/MsJOAEn4AScQGUT8NY7ASfQBQJuUOwCLE/qBLqDAEZFljNHIczdi1yooVuwYEG+GuLQIdwdko9wjxNwAk7ACTiBdgikzx2cPzi/vOlNb5Jt27blH6mxfPly4bmJnFtIg5CO8xF64tEh+I855hjBJYxQ1uzZs9tpgaudQG8S8LqcgBNwAk7ACTiB/UHADYr7g7rX6QScgBNwAk6gPxPwvjsBJ+AEnIATcAJOwAk4ASdQ0QTcoFjRm88b7wR6j4DX5AScgBNwAk7ACTgBJ+AEnIATcAJOwAn0fQKl9NANiqVQ8jROoEIIjBxWL3/57hNcnIHvA74P+D7Qh/eB4w4/oELOSt5MJ+AEnIAT6EUCXpUTcAJOoFcJuEGxV3F7ZU6gZwl85ZPvFBdn4PuA7wO+D/T9faBnzyZeeu8R8JqcgBNwAk7ACTgBJ1CZBNygWJnbzVvtBJyAE3AC+4uA1+sEnIATcAJOwAk4ASfgBJyAE+jnBNyg2M93gP7Sfe+nE3ACTsAJOAEn4AScgBNwAk7ACTgBJ9D3CXgPe4eAGxR7h7PX4gScgBNwAk7ACTgBJ+AEnIATcALFCbjWCTgBJ+AEKoyAGxQrbIN5c51ARwSefH6VuDiD/rgPdDQuPM4JOIGeIuDlOgEn4AScgBNwAk7ACfRXAm5Q7K9b3vvdJwlc/593y1s+8T0XZ9D+PtAH2bzy6oY+OZ69U07ACTgBJ+AEnIATcAJOwAk4gXIl4AbFct0yqXa51wk4ASfgBJyAE3ACTsAJOAEn4AScgBPo+wS8h06gUgi4QbFStpS30wk4ASfgBJyAE3ACTsAJOIFyJOBtKkJgyZIlUl9fL6oq8+fPDylWr14tU6dODTpVDe68efNk69atkk6vqnLllVcKcapJOsoiDYJfVUNZlBkK9y8n4AScgBPoVQJuUOxV3F6ZExBh0lM4kVJNJkRf/OIXw8RKVeXCCy90XE7ACXQTAS5U0hcl+JcuXRouRFSTCxVVlTe96U1BVBMdFyxcuCD4VZOxyjjupqZ5MfuNgFfsBJyAE3ACPUWA8+S5554r27dvD1V89atfDQbDxYsXy4oVK4Iufp155pnS0NAgt912Wz59XV2dvP3tb5c777xTLrjgApkyZYpw3p49e7YgP/zhD2XVqlWyfPlyGT9+fCzKXSfgBJyAE+hFAm5Q7EXYXpUTgACTnkWLFsmRRx4pTKpyuZwgV199tVx00UVyzTXXhInTggULSO6SJuB+J7CXBJ599ll58MEH87m5eHn66afbXNS8853vlLvvvjuMQb94yeNyjxNwAk7ACTiBLhFgjvud73wnzHExCGJYxAC4ZcuWYAhk7ov/3e9+t5x++unhDsWhQ4eG9MRt27YtGA4LK40/EL788stuSCyE42En4AScQC8T6HGDYi/3x6tzAhVL4IMf/KBPjCp263nDy50ABkXubOAiBbn00kuFCxkubgjjjxc1hX3xi5dCIh52Ak7ACTgBJ9AxgbPOOksQUr33ve8NdxjOmTNH0vNdzs3Ez5w5U/BfcsklYaXOvHnJEmji0sL5+EMf+pBcd911wnk8Hef+8iHgLXECTqD/EHCDYv/Z1t7TMiXA5Iilzrhl2kRvlhOoaAKMrR/84AcyYcKE8Cwnli/TofYuaoiLQl6/eIk03HUCTqCPEvBuOYEeJfDUU0/JJz7xiTY/nLPEee7cuWG5Mz/wcRcjDbnrrrtk7NixYYk0YYRl0jNmzJBf/epXYWk0Ohcn4AScgBPYvwTcoLh/+Xvt/ZjAhg0bhF9qBw8eLPfcc08/JuFddwI9S4C7D5ctWxYq4WKFcRcfDh+U9pW+qLFg+C/vi5fQRP9yAmVH4KQ3niTtyQEHHFB27fUGOQEn0LMEeJYiP84V3lGIbuHChWG5My3gbkZWDCA8/ofzNedm4hAeQ8IPgrjxeYzoXZyAE3ACTmD/EXCD4v5j7zX3NwIF/R0+fHh4hiLGjje+8Y0FsR50Ak6guwjw3FIe2s5FCs904kHvt956a3heE3UUXtSgQ7ho8YsXSLg4gdIIMMa2b9su7UlTU1NpBXkqJ+AE+gyB733ve+HuRDp0yy234ARh/sszE1nuHBSpL4yPGBVTquDlfM5zGTE2sjya83eI8C8n4AScQDkS6AdtcoNiP9jI3sXyJsBb7a666qqw3KO8W+qtcwKVT4A3Q/7pT3+SYcOG5TvT0UWNX7zkMbnHCTgBJ+AEnECXCGBAZI7LI0dUVVj6HAvgBz78zINxWTmgqkIewhgLeZkL/rRwJyPGRpZF8zLDdFx3+L0MJ+AEnIATKJ2AGxRLZ+UpncB+IcCE6sILLxSWjOyXBnilTqDCCXCXYX19vTCO6ArPafrIRz6SN+IXXtSQJi1+8ZKm4X4nUHYEvEFOwAmUIQEMg+9617tatWzWrFn58C9+8QvhZS1RcfrppwsrCMijqnLccccJjwXiBS033nij8BiS6dOny5133imsMiAfetUWIyQ6FyfgBJyAE+g9Am5Q7D3WXpMTCAQwDJ5wwgny6KOPysknn9zqgdP8OnvZZZdJnCCpaphMkZE7pXBdnEDlE+jdHrCc6thjj82PKy5iMBLGVhCOFzUY8OfNmxfS+sVLJOSuE3ACTsAJOIGuEeA8y2MQ0oIulrJgwQJJh1lBsG3bNonpiePuRQyIUUc85+i0jjjSxnLddQJOwAk4gd4j4AbF3mNd2TV567uNAIbB+Dw3JkZMoGLhPDOGiVGhMOmKadx1Ak6gawQKL0gKxxPheDFSmJYx6hcvXePtqZ2AE3ACTsAJOAEn4AQqnIA33wmUQMANiiVA8iROwAk4ASfgBJyAE3ACTsAJOIFyJuBtcwJOwAk4ASfQmwTcoNibtL0uJ+AEnIATcAJOwAm0EHCfE3ACTsAJOAEn4AScgBOoSAJuUKzIzeaNdgLFCUyfMlo+/+enufQoA+dbbvtY8dHgWifgBJyAE3ACTsAJOAEn4AScgBPoKQLdYlDcvn2bbNu6VXbv3i1NTU0ltZVnxO1p2iPbtm2VTZs2BtmyZbNQzo4d20NZ2Ww2lJXNllZmSFzsy3VOoJ8Q+NQFp4mLM+hv+8Bb33RYPxnh3k0n4AScgBNwAk7ACTiBTgl4AifgBHqFQLcYFOvq6qW+oUFqamqkqqqqpIarqlRXVYuqylYzJK5a+bIsX/aCvPjic/LC88/KsheflzWvrZZdu3ZKJlNVUpmeyAk4ASfgBJyAE3ACTsAJOIHKI+AtdgJOwAk4ASfgBCqLQLcYFLnbcG+63djYKK+9ulo2rF8ntbW1MnbcBJk4cYqMGTtOBgyokdfXrgnidyjuDV3P4wScgBNwAk6gRwl44U7ACTgBJ+AE2hDY2ZiV3pY2jXCFE3ACTsAJ9DiBTHfUUOoy58K6Nm/aKBs3rJdhw0cEY6Kqyq5du6TajInjxo2XhsGDQ/z27dsLs3rYCTiBvSLgmZyAEwZd2HEAABAASURBVHACTsAJOAEn4AScQM8R+NWTG+U9P36x1+SK363quc54yU7ACTiBiibQs43vJoPini63krsa16x5VQYMGCAjRo6SrVu2yKpVL8trr66SV1evlB07d8iIEaPCkugtmzd1uXzP4AT6I4F7liwVl/7HoD/u695nJ+AEnIATcAJOwAn0SQLeKSfgBJxAhRDoJoNi11+agkFx65bNUjNwoFRXDxCMi017msyIOFJ27dwp615fG+Kqqqpl965dFYKzbzaTl+PwjMuHltwvuH2zl32jV/956xL5s8v+3aUfMXjs2ZV9Y+f1XjgBJ+AEKpiAN90JOAEn4AScgBNwAv2NQLcYFNuDxlLorVu3yJrXXg3PSWxqarmTUVWDITGXzQpSVVUl2VxW9uzZIxgbM5mMNDU1BV2mqqq9KvaLHgPbiuXLZMmDC2XRfX+ShffeJYsfuE/Q8SKZV15evl/a1VOV0qeXV7wUDL1sm56qx8t1Ak7ACfQiAa/KCTgBJ+AEnIATcAJOwAk4ASfgBPaSQLcYFLnDkPoxNmFswyjIsxExrGGIwl35ygp5admL4SUru3btFIyII0aOlJ07dwrhsePGy6CBg2TLls3hjdGjR48V7lRsMgMjb5Gm/HKQ3bt3y1NPPCqrV6+UUaPHyJzjTpS5J50isw47IrT9haXPyY4dfeuZj+PGT5SDps8UjLz7dxt47U7ACTgBJ+AEnIATcAJOwAk4ASfgBJxA3yfgPSx3At1kUKwKdxZu37ZNXn99jWBExODGsw8zmpHGxt2Bw47t2+S111aH+LVrX5ORI8cE/YYN66ShYYhMmnKATJo8VSZOmiKDamtlw4b1UlVdHQyMUgafbFOTPP/c07Jt21aZNu1gmXrAQVJt7aNpdfUNwag4YsRIgi5OoCiBCy+8MDwXVFVbueeff77Mmzcvr8O/detWmT9/fl6Hv2ihrnQCnRBYvXq1TJ06NexLcd8iS+H+WF9fL7Nnzw7pVFUIL1myRBD8qhrKoTzyuzgBJ+AEnIATcAJOoBUBDzgBJ+AEnEC/IdAtBsUd23eEZ+txJ+LaNa8FA+LgwUNkghkGJ0ycZBenGRluhjaMhSN40Yqo7NyxQ+rq62TYsOGyadNGwfg4dOgwGTlqtNRiTFy/Trab4W7o0OFSVVVdFhvk9XVrhec+Dh4yNNydWNgoVZXxEyYVqj3sBAIBDIR4Vq1aJcgpp5wSXPzTpk2TO++8U6655hqpq6uT6667zozsDXLppZfKBRdcIL/+9a+Dn/wuTqArBDD+nXfeebJo0aKwf911111yxx13CHr2uXRZxx57rBDPPjdlyhRZunRpMDBiZPzhD38Y9tfly5fL+PHj09nc7wScQIUT8OY7ASfgBJyAE3ACTsAJOIGuEsh0NUOx9NxhyN2EvGBl7NjxMnHiFBk7bkIwFg6qrROzs4UXrAwxg+HoMWNlvBkZWS6cyVSZYW6sVJnBkDc7b9u6RVg2vWXz5vCSFspjWXRT6tmLxervLd2GdeuEJd1DzQiqqkWrpY8Hzzi0VRzLpJ9+6nG5f+Hd4XmLDy2+X1gSHhNR5vKXXpQHFt0T4u9feI8sff4Zq6vlZTfZbFPQEcdzGx9/7KFWS6sbGxtl+UsvCC9OWb3qFSGetK+vXSOF9VPPypUvh+qpmxetkI87S599+snwXEjaWtgGMrB9eFbkA4vuDeleeP7ZsM2ohzw8TxJ54rGHSS7btm6VB++/N/Tr4SUPBF1//WpoaJAFCxa0McZgnLnyyisDlosuukgw6tx2220hjNHnrW99q5x11lkh7F9OoJlAyQ77151mrMZ96qmnBEPhnDlzgnGQ/ZExjWDMPvPMM4MhO104hvB58+bJyy+/3GbfTadzvxNwAk7ACTgBJ+AEnIATcAJOwAn0HwLdYlBkCfCAAQNkzJhxMmLkqLBEmXAmkwnGpohTVcMS4VozMtY3DA7qQbW1Id+uXbvsAvcVwTj52qurLJ8IdzNu3rwpPHcxJN6PXxjeeDYifRpYM7BNS1gKjSEtCsY1jGwY+ogbPXqsHHfCG+WYOcdLTU1NMA7ywhou5F984TlZ9/paOeTQN8jxc98oY8aOC31+xox7xFPZiy88H4yQMw45VGYfO1dYSv7IQw8GQ92TTzwaXgizetVKady9W9geGHWrq6tkz55GeWHps7J9+zY5/Iij5ahjjrX6B8qrZnREF1648vLy8LxK7hIdN36CtfOkcEcp7cfISP1R1q9/XerrG2TOcXOFbf26tXvjxvVmGB4T2k/f6urq5dDDjghZ6s2INm78RBkyZKi8weoPSv9qlwBGR+5O/O53vyt3mhHosssuk1NPPbXd9B7hBEolwPLmG2+8MZ+cuw7nmaEQBUbDhQsXyumnn04wL+g/9KEPhTtmuVs2H+EeJ+AEnIATcAJOwAk4ASfgBDog4FFOoO8TyHRHF/c0NkpVVZVEI2JnZapqPgn5hg0fIdy5uGXzZln58grZ3bhbxpthq2Hw4LAUerMZFfMZ9pcnlzMjZy7UHo18IdD8xV2JRx41W7ircuDAQXLk0XOCkQ2jHIY6jIrcWcjdibx4BkNjXOq9Yf06GTVqtHB3YyZTJVOnHiiDBw+xvm82A+t6wdi6xdgMGlQrw4ePDJwnTJocmE894CA57A1HykHTZ8jkKQeENtbVNQRjH4ZHjHk0EUMf+WuDMbdBMJDmsjkhnudBZsz4O3TYcEEytOGAaVJjhtONGzaYUXIPRQQZOXJ0WJaesfQYFkVy0rQnuZOSvKNGj5WdO3fIunVrQ3r6iZF4tBlJ2T+C0r86JIChhzsV3/GOd8jFF18s4315aYe8+nukqpaEgLsRWcq8YsUKwVCdzvTss8+G4MyZM4PLF+lmzJghv/rVryTeMYvexQk4ASfgBJxAnyXgHXMCTsAJOAEn4ARKJtAtBsWSa2snIS82GW2GKIxqGLpGjhojw0eMkiozbDU1NUkum20nZ++pM1VVZmCrCYY4Xi4jRT5V1QPCnYOqKqoJWp4DiYHxmDknyNyTTmklEydOFoyLe/bskarml7tQbKaqKhgXs9kmoa4qC2PAy+aywothSFMzYKCoqmzbtoVgXlQ1tDOvMM+hsw43o+NRsvb1NfLYo0uEuyFNnf9X1bw/emjzoNpaaTTj7u5dO6O6jYtxtdEMyjFinBmCBwyoEe4ypa0YE4nDEIrrUhqBWbNmyfbt292QUxouT1UiAe585dmdPAeRuw9jNgyGc+fObbXcmaXRvIwF96tf/Wp4MUtM764TKCcC3hYn4AScgBNwAk7ACTgBJ+AEep9ApverbKkRYxQGNZ7Jh0GNF5pMmz5DMC6W491sDYOHhMavW/d6uGswBDr5wgiIwW3nju0dpsSQmk6AATGEzdiHwXXU6DGyc8dOWf3qqmDUXLPm1eDW1ydLx0Padr42blgvLI9evfIVGTduQrh7sZ2krdQYdKuqqqXaDKWtIlIBtiGGz6jCEMmLdbbzxu91a4XnTjY0DAl3VcY07nZMACPO73//e1m8eLFgACLccY6Ki/UG7ycCDQ0NwnMSp06d2sp4+Morr7RZ7kwTx48fL9/5zneCcfuSSy6RtBGSeBcn4AScgBNwAk7ACTgBJ+AEnIAT6J8ESjQo9hycXTt3hjvmMEwNqKkJS33L0Zgo9pkwcbLwfECW9L68YpnQZlN3+I8xDYPb0qXPynozRMY8GFF5EU1dfb1kMlXCcwi5oy8W1rRnjxnyqmVw87Mmx0+YKIOHDJHVK18OL3dZawZFDLDoY55iLs995BmKtJtl2GPGjg93NhZLS51RH4ygO3fIwEGDZEBNTVSX5I5hebPlYfk6z2nkztOSMnoi4SUs3/rWt+Tqq6+WuPT55JNP9rvDfN/YawLz58+XejvOYJjGIMizEllKHwtkn3v88cdlwoQJUdXK5YVAvLDlrrvuEpbit4r0gBNwAk7ACTgBJ+AEnEAfJOBdcgJOwAl0TiDTeZKeTcEdfE1NLc/o69na9q10DJ3TDz5EamvrZO2a1+TJxx+RTRs3BMMiRsMN618XXoKiqnmjHS8uGTSoVnbv2iXPPvOk8BxFXtyy1gyCvKhk2LARMmz4cNm2dassX75MKIe7NnnZyfARI82IODQ0+qVlLwovg5lz3Ilh2TQveJky9cB8PSRqamrCCe0JHvvKZbMhTLtYWr1508Zwt1EuJ7JlyyaJS5Itqaxfv850m60NWXmFF7VYm3nRjqqGfmEM3b17dyiP9LG+6KJD4DNy5KjwLEUMkoOHJH0gzkWCcXD69OmCgQY3Gnp4QQZGnTvvvNO2w5ZwN9itt94attecOXMEw5DzcwJdJRBftMI+NHbsWPnSl74kGKtjOdwJyx2L3I2IwZH9kJe38AxF9k/2R/ZD0qNXVbnlllsIujgBJ+AEnEA5EfC2OAEn4AScgBNwAk6gFwnsd4NiL/a1W6rircVHHDVbJk2eKhjXnnn6iWAkfGDRvbLylRWCEfDQWYfnn2M4cOBAmXnoYTJ06LBg/FNVwcB40PSZUlffEHQHzzhEWNK85rVX5f6F98jTTz4WXnwy7aAZIZ56MAS+9trq8FZnDJJRHn14sRmctgkvfaF+lk6/+MJzsmrly6G/tXX1MmLkaOHNzw8tXiRr164JS8pzuaxs3LBBhlq7QkL7qq2rk2etP/cvvDsYGqcddHBoF+Uue3FpMCRyV+XS55/J12fZQr+pH3+UUaPGSo31nX6palS7awQw5mzbti3wxCXMUlQMNzmz9PJ8O4w7aR16f8uuwfP/LhNg/2I/Yx/CJZwuhDsQeWELusJ9jvQYGOO+SRkIeUjvsu8EvAQn4AScgBNwAk7ACTgBJ+AEnEAlEshUYqP3d5szmUx4o/Ixc46X4+e+KdwxeMKJJwtvVeYORu7KS7eRO/ZmveFIIQ1y9OzjhDdbxzSZTJWQ7/i5bwxlcffh1AOmScbqIU1NTY0ZKkcE4yLhtLCkmGcjHjzj0JCXF78cb21ieTbpVFUwDKJDDpo+QyZMnBTafcisN1gdVSQL0tAwWOIdkMfMPj4YE4mYOGlKvmzKpy4EfxTCpI2ybfvW8NzE4cNHRlVfcb0fTsAJOAEn4AScgBNwAk7ACTgBJ+AEnEDfJ+A97IBApoM4jyoTAtlsk/BMw8MOP6qVYQ/j5IHTpsug2toyaWnSDNrKnYxDhw4PRsVE699OwAk4ASfgBJyAE3ACTsAJOIGeJuDlOwEn4AScQG8Q6FGDYlPTHtm6hWfy5WTb1i3BKFZqp1i6u3PXTmncvbvULH023fKXlsnGDesDQ56DSEdZdsizFgmPGjUG1V5LkxksydzYuG+sn37q8bAke/ED90m2KSvjxk+gWJdeJDD7sCnytU+8w6UfMagdNKAX9zCvygk4ASfQQwS8WCfgBJyAE3ACTsAJOIGKItAtBkVtXpobe46Ra82aV+Xpp56QZct49l5W1q55TZ564lHh7cbnF27cAAAQAElEQVS8JTmmjS4GMvwYEjdt2ig8B3Dpc88IbykeUNO1twxTTl+SCRMmSUPDEGP3kjx4/715ox1vjR47boIULrHuSt95PuKLS58LL2JZvWpleDZiV/Kn09YMqAnLsmtr64Ql0AMHDkpHu78XCHz4nLni0v8Y9MKuVbQKVzoBJ+AEnIATcAJOwAk4ASfgBJxA/yTQLQZF3j6MIXDz5k3h7cDPmiGR5/pJNiejR42Rg2fOkomTpoaXdGxYv06effpJMxg+H178wR2IGBN3bN8mr732qix97ml56cWl4UUjQ4YOlQOnHSzjzGjWPzdP0msMhjzv8LgTTsoveT72+JPkgAMP6uqS4qTA1PfEIs9HTEV3yXvQwTPDcyKPOuZY4eU1XcrsiZ2AE3ACTsAJOAEn4AScgBNwAk7ACTiB7iLg5TiBHiXQLQZF7lBkafOKFctk3bq1UltfL+MnTpJpB8+QCWawGj58hIwbP16mT58pk6ceILyQZOeO7bLshedljRkRMUYuX/6irHx5uWBcHD1mnBnLpsvUAw4S0lZXV/coBC/cCTgBJ+AEnIATcAJOwAk4ASew/wl4C5yAE3ACTsAJVAaBbjEoDhkyVCZNnioHmcHw0EMPN2PgNOG5fnV19YIxMJPJSCZTFe5QHD58pEyeckC4a/GQWYfLxMlTQnjS5ANk1huOkOkzDpXxEyYKZQ4YMECqqqqkqtqfESb+cQJOwAk4ASfgBMqTgLfKCTgBJ+AEnIATcAJOwAn0MwKZ7ujvqNFjzAg4SYYOHRaMhhgPM2ZELFa2qppxMROW6tbXN8iYMeOEZbcjRoyUQYNqgwFRVSX9GThwYDrofifgBNoh8Js7HhOX0hh0xumxZ19ph7KrnYATcAJOwAk4ASfgBJyAE3ACTsAJ9G8C3WJQ7CWEXo0TcAKdEPjdvU/LX3/9v1y6gUEnqD3aCTgBJ+AEnIATcAJOwAk4gZ4j4CU7ASdQ5gTcoFjmG8ib5wScgBNwAk7ACTgBJ+AEKoOAt9IJOAEn4AScgBPoLwTcoNhftrT30wk4ASfgBJxAMQKucwJOwAk4ASfgBJyAE3ACTsAJdJGAGxS7CMyTO4HuIDB//nxRVZk6darccsstcv3117cq9sILLwzxqhriv/SlL8nq1avzadxTHgTidqyvr5clS5bkG4UfnaqG7fjFL34xbGvVJMx2Z3uy7VUT3bx582Tr1q35MtzjBJyAE3ACTsAJOAEn4AScgBNwAk6gXAm4QbFct4y3q88SwNj0s5/9TFatWiWLFi2ST37yk7Jp06bQXwxKGJYI5HI5QX7xi1/IjTfeiMqljAhgDLzssstCi7Zv3y6XXHJJ3iB42223CToi6+rq5JxzzpEnn3xSTjnllCD4x48fL2eddZZ8//vfly1btsidd94pDQ0NZHFxAk7ACTgBJ+AEnIATqGwC3non4AScQJ8n4AbFPr+JvYPlSOCAAw6QwYMHC0alm266SYYOHRqaeccdd8iyZcvkmmuuCWG+FixYIJdffnkwQBJ2KQ8CDzzwQNgmGIanTJkSthuGQYzCbE+Mwci2bdtk9uzZbRrNHYrcqThx4kQ3JLah4won4AScwP4g4HU6ASfgBJyAE3ACTsAJlErADYqlkvJ0TqCbCMycOVM2btwohx12WFjGjLHpYx/7WCiduxHnzZsXDI1B0fxFPOmag+6UAYErr7wybCeMwmwzBP+zzz4b7lZUVUGHgbGwuRgTzzvvvHCHKncpFsZ7uAsEPKkTcAJOwAk4ASfgBJyAE3ACTsAJ9DoBNyj2OnKvsL8TYFnrb37zGznwwANlwoQJwvMS+zuTSu4/BkOWrF988cWhG9yxGJc733XXXTJ27NhWz1dEN2PGDMFdvHhxyONfTsAJOAEn4AScgBNwAk7ACTiBvkjA+9R3CbhBse9uW+9ZGRPAqMgz8zA+4bpRsYw3VidNY5n6Rz7ykfyyZu44ZKkzwtJ1jIs8UzEWw3MUycOzFXl+Jncrxjh3nYATcAJOwAk4ASdQBgS8CU7ACTgBJ+AEOiXgBsVOEXkCJ9C9BHgpy/XXXx8KZYksz1B89NFHw/Ln9773vYKBsdDIhI58IZN/lQ0BthPPUsSIiP+hhx5q1bZLL7201fMwY+ScOXPkiiuukBUrVshlzS92iXHuOgEn4AT2joDncgJOwAk4ASfgBJyAE3ACvUfADYq9x9prcgJ5AhgUMUCh4C7FYcOGhZe0nHrqqWEpdNrIhCHxf/7nf/J3wJHHpTwIsJ2uuuoqUVWZPn16eCv3/PnzQ5i3QNNKlkRfcMEFeFsJxsYLTH/jjTcKeVpFesAJOAEn4AScgBNwAk7ACTgBJ+AEnEAZE3CDYhc3jid3At1B4POf/7yccMIJwfDEstef/exnwjJohOcrLl++PMSpanjBx9VXX90d1XoZ3UiAZeoYA2ORo0aNCs/EPP3004XlzO9617vCNjzuuONCEl7Cw3MTEfzczcidp0RimKyvr2/1rEX0Lk7ACTgBJ+AEnIATcAJOwAnsPwJesxNwAu0TcINi+2w8xgn0CIHZs2fLBz/4QcFoyHP2cFn6HCvDqIihiTgEP7oY7255EFiwYEG4I5FthMTtyPbdtm1bPo7l0Gxf4kmH4D/mmGPy+wA68pC3PHrnrXACTsAJOAEnULEEvOFOwAk4ASfgBJxALxBwg2IvQPYqnIATcAJOwAk4gY4IeJwTcAJOwAk4ASfgBJyAE3AClUTADYqVtLW8rU6gnAh4W5yAE3ACTsAJOAEn4AScgBNwAk7ACTiBvk+gSA/doFgEiqucQKUSOGPuIfL9y97n0g0MKnUf8HY7ASfgBJyAE3ACTsAJOAEIuDgBJ+AEepKAGxR7kq6X7QR6mcC73nykuHQPgyNmTurlrefVOQEn4AScgBMQR+AEnIATcAJOwAk4gYog4AbFithM3kgn4AScgBMoXwLeMifgBJyAE3ACTsAJOAEn4AScQP8i4AbF/rW9vbeRgLtOwAk4ASfgBJyAE3ACTsAJOAEn4AScQN8n4D3sEQJuUOwRrF6oE3ACTsAJOAEn4AScgBNwAk7ACewtAc/nBJyAE3AC5U3ADYrlvX28dU6gSwRuvHmRuJTOYHfjni7x9cROwAk4ASfQIQGPdAJOwAk4ASfgBJyAE+gnBNyg2E82tHezfxB48Inlcvl3f+NSIoP+sVd01kuPdwJOwAk4ASfgBJyAE3ACTsAJOAEn0DUCblDsGq/ySO2tcAJOwAk4ASfgBJyAE3ACTsAJOAEn4AT6PgHvoRMoUwJuUCzTDePNcgJOwAk4ASfgBJyAE3ACTqAyCXirnYATcAJOwAn0dQJuUOzrW9j7VxYELrzwQlFVmTp1qqxevTrfprT+i1/8YkijqoKeREuWLJH6+vqgnz9/PiqXXiYAd1UN24HtEauPelWVW265JWxXtq+qhu2Fn21NnGqimzdvnmzdujUW4a4TcALlRcBb4wScgBNwAk7ACTgBJ+AEnECJBNygWCIoT+YE9oXAggULZNWqVaGIyy67LLh8of/JT34iixYtkquuuiqkOeWUU+Saa64hWmbPni3XXXedLF68WC699NKg8680gZ71Ywy8rHl7bd++XS655JJgEMSYSM1s0ylTpoRtNHjwYHnyySeF7YfgHz9+vJx11lny/e9/X7Zs2SJ33nmnNDQ0kNXFCTgBJ+AEnIATcAJOwAk4ASfgBJxAxRLofYNixaLyhjuBfSfwiU98IhiVMFQVKw0DFEaraMSKd8RhWCyW3nU9S+CBBx4IRt5oOFy2bFkwDGLcRdC//vrrcuaZZxY1FHKHIncqTpw4sWh8z7beS3cCTsAJOAEn4AScgBNwAvuZgFfvBJxAnyXgBsU+u2m9Y+VIYPLkyfKd73xHPvnJT4YlssXaeOqpp8qmTZsEY+KDDz4oH/rQh4olc10vELjyyisFIy8yb948mWeCn6rZPieffLJw5yLhQsGYeN5554W7T7lLsTDew07ACTgBJ+AEypWAt8sJOAEn4AScgBNwAp0RcINiZ4Q83gl0MwGMS9ypiLGp2PP0WBL7kY98RM455xw55JBD/M62bua/N8WxnTDyXnzxxfns3DX6pz/9Serq6uSrX/1qMADHyLvuuktmzJghuCxXj3p3nUAPEvCinYATcAJOwAk4ASfgBJyAE3ACvUbADYq9htorcgItBC666CIREfnud7/bokz55syZI9OmTZOZM2emtO7dXwTuuOMOwciLETHdBsI///nPw12KLH+OcTxDkTwYGzu6GzWmd9cJOAEn4AScgBNwAk7ACTgBJ+AE+jKBvtc3Nyj2vW3qPaoAAtyFyMtWMCguXLiwAlrcf5vI0mWepcidpfgfeuihVjAw/h555JEyYcKENvorrrhCVqxYIfGZmK0SeMAJOAEn4AScgBNwAk6gvAl465yAE3ACTqBdAm5QbBeNRziBniXA3W3cqfjrX/+6Zyvy0veJAMbAq666SlRVpk+fLmvXrhVetHLhhReGclnSjEGR7RkUqS9e3HLBBRfIjTfeKPHN0Klo9zoBJ+AEnEAPEPAinYATcAJOoG8SYD6tqmFenn7JJT/6Mz9XVYlz9DQBHl909tlnh0cUpctQ1TBHJ55npau2LTtdjvudgBNoTcANiq15eMgJ9AgBXuCBMer8888PJ61YSTQ4xTBuTMvz98hDGL1L7xNgQoIxMNY8atQoOeKII8LLWdCrqvziF7+QBQsWhJfsHHbYYeG5iXfddZfg527GO++8M2THMFlfXx8mMkHhX2kC7ncCTsAJOAEn4AScgBNwAh0S4Nqp8GYMjIE8m55VQWRmjp42NqJjVdgf/vAHvJIug7IIx9VjPLIol8sJK5NCYv9yAk6gQwJuUOwQj0e2T8BjukKAu9e2bdsmnKA4aaXzXnnllTJ+/Pi8Kp2WPITzke7pVQIYCtlmUZYvXx62VVqPn0axDYlPpz3mmGMkrfPtCSkXJ+AEnIATcAJOwAk4ASfQPQSeffZZ+cAHPhCus6655ppQ6FNPPRVcvrg5gxco4m9PuGvxkksuER5l1F4a1zsBJ9CWgBsU2zJxjRNwAk7ACTgBJ+AEnIATcAJOoLIJeOudQD8gwM0XH/vYx0JPTz/9dJk8ebLgBoV9Pfjgg/LpT3/afMX/MSYSw6oi7lTE7+IEnEBpBNygWBonT+UEnIATcAJOwAk4gR4n4BU4ASfgBJyAE3ACe0dg1apVcuqppwpGRkpg6fPEiRNl8ODBBNvIu971rvDyxFtvvVVYOt0mgSucgBPokIAbFDvE45FOoLIIvO+tx8jPvn6hS4kMumnrejFOwAk4ASfgBJyAE3ACTsAJ7EcCGATvv/9+4XmJNIMXtTzwwAMdPg+RZyjyAkWefx7zkdfFCTiB0gj0U4NiaXA8lROoNAInH3uwuJTOoGZAdaVtYm+vE3ACTsAJOAEn4AScgBNwAgUEfvzjH8s555wjLFtm1NKplgAAEABJREFU+fLSpUvlH//xH8MboS+77DLZvn278JxEDI/prDx3ccqUKcJzFnneYjrO/U7ACXRMwA2KHfPxWCfgBJyAE3ACTsAJOAEn4AR6m4DX5wScgBMokQCGQIyFvFRFVeXf/u3f5E1vepPwQkRemIjRsK6uTq677rpgcEwXy4sVb7rppqA699xzhTsbQ8C/nIAT6JSAGxQ7ReQJnIATcAJOwAk4gVIIeBon4AScgBNwAk7ACfQUgQsvvFB47iHl4/JCFYyJJ598crgDET0ya9YsnKJCHvISiUv4tttuC/lXrFghEyZMEOoh3sUJOIGOCbhBsWM+HusE+joB758TcAJOwAk4ASfgBJyAE3ACTqDsCSxYsEC44zDKpZdeGl7AEu9ETOvTnSEdaXhZC/6YDpcwgj8K9aTzu98J9CEC3doVNyh2K04vzAnsXwLf+o8/ikvHDJ54buX+3UheuxNwAk7ACTgBJ+AEnIATKJmAJ3QCTsAJlCcBNyiW53bxVjmBvSLw/PK1Mv/GP7p0wGCvwHomJ+AEnIATcAJdIeBpnYATcAJOwAk4ASfQxwm4QbGPb2DvnhNwAk7ACZRGwFM5ASfgBJyAE3ACTsAJOAEn4AScQGkE3KBYGidPVZ4EvFVOoEcI8HBmVZX6+nrhQc+xkkI9b4GbOnWqqGoQ/OhuueWWEFZVmTdvnmzdujUW4a4TcAJOwAk4ASfgBJyAE3ACTsAJdJ2A5ygzAm5QLLMN4s3pmwQwKGFYUm1tYGpPz5vFVBMjFcapL33pS4Khqm/SKa9ewfuyyy4Ljdq+fbtccsklwSBYTD948GB58skn5ZRTTgmCf/z48XLWWWfJ97//fdmyZYvceeed0tDQEMrzLyfgBJyAE3ACTsAJ9C8C3lsn4AScgBPoqwTcoNhXt6z3q6wIYFDCsLR48WJ58MEH5bvf/W5oX9RjfPrNb34TdPPmzQtufMvYL37xC7nxxhuDzr96nsADDzwgq1atCjJlyhRZtmxZMAy2py9sEYZf7lScOHGiGxIL4XjYCTiByiDgrXQCTsAJOAEn4AScgBNwAp0Q6DaDIsaP3bt2ybrX18orLy+X5S+9KCv2QshH/vXrXpddO3dKNpvtpAse7QQqi8AVV1wRDIrppbSxB3fccUcwYF1zzTVRJQsWLJDLL788GLjySvf0GIErr7xSuMsQwbiL4G9Pn24IxsTzzjtPFi1aFO5STMf1tN/LdwJOwAk4ASfgBJyAE3ACTsAJOAEn0FsE/j97bwIgV3Hde5/TPZtm0WiXRisCsYNZJECKbRbHsR/vixd4TgK2H9jxS+IEx1lIAnmfTbzwPYMTJ/GClywPg41xYgdscEISQ0AsFkILiEUgEGjft1k0M5q1v/rVneq53dMz0zPTM5qeOSOdrqpTp7b/rXur7v9W3VsQQhEy8fjxJtm3b7cnE/fs3iV79+ySPcMQn86lh1Qkv5aWZkcqpsYKDyvHEBh1BC677DK56aab0ltp4wWyGjEQWHH9Jz/5SVm+fHlcZf5RRoDt6A0NDfLpT386o6T+9KtXr5YzzjhDcFmJmpHIAoaAIWAIGAKGgCFgCBgChsDJR6Aoa7D10An5h7WHx1QaT3QVJVZWaUNgLBFIFKKw9vY2OXRgvxw6eEAiAnBkJ193d5c0Nx+Xw4cOykGXb0dHWyGqaXkYAuMGgVtuuUXYFguxOG4qZRXJQIDVop/4xCf6ELn96XmPInGVlZXyqU99yj1g2ZeRnwUMAUPAEDAEDIHhIWCpDAFDwBAwBB7cXC9jKYa4IWAIDI5AQQjFhvpjUu+ks7Nz8BKHYEF+9ceOCvkPIZmZGgJFgQDbmnmvIh/7KIoKT6JKsnWZdybycRX8Gzdu9K3Hn0vvI93PihUrhC3tO3fulPBhF6e2/5MRAWuzIWAIGAKGgCFgCBgChoAhYAgYAhMYgcIQig310tHRLmx9LiRW5Ee+DS7/QuZreRkCuRAYax3v5fvGN77hV7Pt3r3bF/+hD31IIBkhrryi5wddrncu9kSbU2AEIANvv/12UVVZtmxZ+trWnz5ePKtPb7jhBv8hnTvvvDMeZX5DwBAwBAwBQ8AQMAQMAUPAEDAEDIFxgIBVYeQIFIRQbG9vl/4+npJIJAQZblXJl/yHm97SRQg0Hz8ur25+STa9sEHa2mwLeYTKyf9lBdyVV14pTz/9tK/MVVddJUuXLs1Y3QaR+C//8i99tt76BPZTcARuvPFGTwaGjGfNmiXz58+XXPpkMinnnnuuf28i707Ez2pGCGDSQ0BWVVUJx5CwiSFgCBgChoAhYAgYAobAsBGwhIaAIWAIGALjCIGCEIqS6vvRlLKyMpkzZ54sWrxUFi4+RWbOmj18YjFH/uMIwz5VefnF52XNM6vTQpj3Qa5d81RaR/wbr7+aTosNOmTd2mcEAjAdOUIPW8e3bn3Nbx3v7hrZ+y1HWJVJnZytzWyJhTTEH8C466675B3veIcPVldXy89+9jPZsWOHXx2nqv7jLV/60pd8vP2MPgL33HOPu6Sl0sKxYDVpLv2FF17ojxWrqRFsL7744gxdc3OzkcGjf9isBEPAEBi3CFjFDAFDwBAwBAwBQ8AQMAQmIgKFIRSzkCkrL5f5CxbL/IWLZO68eTJv3nxZuGiJ0y3yJEmW+YQLnnv+hem2Tq2dJuecd4HMmj1H3nbhcpkypdJjcMrS0+T0M85Ot500cx1OxJ/3toukyhFL6chheDo6OuT1LZv9asSSkhK54MIVUl1dM4ycLEmhEGA1IqQTgj/kW+2ONdtrcdHhPvHEE2lCCz864kwMgTFBwAoxBAwBQ8AQMAQMAUPAEDAEDAFDwBAwBAZAYFQIxRkzZsnMmbM8eZZMlngCLWxdTmhSSktLBZJrgHoVdZSqyry6BVJeXiFdXZ3imCHfHshCSFZVlePHm7wu/KS6u6Wl+bjMmVvncQv6fN1sOz5k09ramq22sCFgCBgChoAhYAgYAoaAIWAIGAKGgCFgCBQxAlZ1Q2A8IDAqhGLttGlS4khDGshqrONNjbJrx3Zpb2+TugUL/GrFBQuXyOw5c2WiEovl5eVSXVMjJ1pPZJCHU6fWCtg0NTZKW9sJIPICwcjW5GnTp/vwSH7Id/euHWLbm0eCoqU1BAwBQ8AQMAQMAUPAEDAECoaAZWQIGAKGgCFgCEwoBEaFUCwrK/erEkEqleqWffv2+PCChYv9yr1Zs+fK3Hl1nlism79QkskSTCecTJ8+U2j/4cOH0m3r7Oj0RF9HR7s0NNSn9fXHjgpbxSsrq7yOD9HwEZXw3sWN69cKNj7S/eB/fsNz8uwvnvSCH1ISMnHzyy9Ka2uLnDjRKhvXPyvEtcU+xNLa0iwvbtrg021w8Y2NDS7H3v/73fHasG6Nf98j5W994zXp7u5y0i179+ySjRvWyq6d2+W1zS8L8Qf27+1NbL6TisBv/9o75N+/8bsmA2BwUg+QFW4IGAJFhoBV1xAwBAwBQ8AQMAQMAUPAEDAEciEwKoRiiyOs2OJMgcebmqS1pUVmzJwlNTVT09ud+ToqW4JnzZ4jrNorKysTViuqKskmhNRMrZUyR642OcKO1Yc0qr7+qJRXVOCVY0ePeJeVhJB6EJAoOjo6hA+2zHbE66Ur3yEXr7jM5VMmEHuQhpCFb27dIlMqK4X4paedLhCQO3dsk/LyCrlo+aUe64qKKS7tSh8uLy8na+ns7JCjRw7LWWefL2efc76kuruF1Yw+0v3s3bPbE53nX7BcLlv1TllyyqlyxNm/9eYbsn/fXk8ktp044Y5ps8yZN0/KXXmU7ZLa/3GAwPlnLpBJL4NgcN4ZC8bBkbIqGAKGgCFgCBgChoAhYAgYAoaAIWAIGALFi8CoEIpHDx8WSCdItKOONIM8rKqq9qsU41CpqiPKymX+goWOuDpNWMEI6ZhIJOJmReuHxKtm27Mj4CAMU6mUNDU1ytx58327IQdZRYjb1d0l02fM8G09fOigQEJCKrICceP6tUI6iMb0qkaHHe9kBKtp02a4/Mr8ykefwQA/JSWlsmDREm9fMaVSksmSdDqO16GD+z3hyApFVh9ue2urj4cYhvw9bdmZQplJl8+MGbPkwosvkUWLTxmgRIsyBAwBQ8AQMAQMAUPAEDAEDAFDwBAwBCIE7NcQMAQmBgKjwtw1NTXIrl3bZcf2tzw5VVVdI6VlZQKhlg0b5BTxM2bOlNlz5sm8+Qsd2RWtpsu2LcZwtOow5VcjstUYDCDiIBo72tulsaFeIBsryiuEFYW0kY+zsPLv4hUrZdXbr8iQBQsW+Y+2LHdxbBffsf1Nefml5/32ZtIOR7q6ugQysb3thHR0tMviJUszyqQOEIdl7hiG/Ct6VlmGsLmGgCFgCBgChoAhYAgYAhMWAWuYIWAIGAKGgCFgCBgCGQiMCqEIOVVff0xYaQdxxgrE0tLSPisUQ01YwZhIJP2W55qaqf5jJiGu2N2w7RnikK3D5WXlfts3RKOqOqLxqN9iPH3GzHRTu1PdjtjrkBOtLWld3AMpyfbmTc+vk5aWFlm6dFmajIzb5etnezqkYiolnvRtamz0br7pzc4QMAQMAUNgPCJgdTIEDAFDwBAoJgQ2bNggVVVVsmTJEtm3b5/ceeed/v5JVeXhhx/2TcFV1bT+xhtv9Hpc1UhPOq+0H0PAEDAEDAFDYBQRGBVCkfryXsDu7i5hmyyr7VQV9YCiqn5wHNCoyCLDtuf29jZPsNZOm+5bgFtRMUXqHfHa0d4uU2uneT0/1dVTBey2bt3iV3hCIKKHROSDKXwEhQ/dLFp8in8PIis8iR+p8G7HMkd41tcf9e9rDO9G5J2Nr7/2il/FONIyLP0gCIww+gvf/Fcx+dcRomjJDQFDwBAwBAwBQ8AQGFsEIAFXrFght912m+zYsUPq6urklltukYceeiijIu973/tk/fr1UllZKXfccYfcc889Ph7/fffd5xcFkM4r7ccQMAQMAUNgfCNQ5LUbNUIx4NLZ0RG8g7oQZ7xTsKWleVDbYjKAPAz1ZcUiflZsVtdExOGUKZUZKwz5gA1kY3tbm2xxRB7vUVzzzGrh/YZ8wKaru1tSTtpcPKsLjxw+5Mi+DmFl44ED+wQCMJFMSldXp7S1nZC3tr7udaTDpqszOiaplMsnlZKUl26/QnTmrNlUz5OfvEeRcl/YuE5KSsukpKREeNcjBpSLazK+EDh09Lh858E1k1q27zkyvg6K1cYQMAQMAUPAEDAEDIEBEGDV4a233urJw+GQgaRfuXKlXHXVVQOUYlGFQsDyMQQMAUPAEIgQGHVCcd/ePX6VHR9p6XDkYn8CeXbs2BHZtXO7YBtVb2L81tZOk1JHyFXX1AgrFkOr2OYMSTe952MsQY/NmWefK7UunWq0ahOCkQ+iVFZVyyxH+lVVV8vePbtk4/pnXd6lUlVd40jDVkcsdvp3LM6ePVe6u1PCysLKqip5bfPLwsA8f/MAABAASURBVLsZwfmVlzd5wvClTRsFwhHB33z8uPBhnEVLlvo8xf2xFX32nLlyytJTZc/unZ6c7HZkJmVvfeM1Z2H/DQFDwBAwBAwBQ8AQGNcIWOUMgXGNwI9//GNfv/e///1+txYEoVfk8YMt6cOqxjySmIkhYAgYAoaAIVAQBEadUGS13Ftvvu4/HPLSpg3Sr7y4Ud58Y4vwdeOurq6CNG68ZFJeXiEXr7hMTj/j7IwqzZgxUy657O0yZ25dhp4AqxbPOe8CWflLl3u5aPmlMm36DKKk3OV3/tsu9h9OWXHpLwmE3znnvk0uW/kO4aMtGKG7dOXbhfh5dQuE9HxcBaFMtqLjEkbwVzmSUlV9HqRDf9mqd8iy088SiEXIRnTIZave6fWUZWIIFBsCvJeI9xOpqvDOoVD/445Uv/LKK/1kHpcwW5BUI2JfVf37jNATrxrpmcyHPMwtFAKWjyFgCBgChoAhMPERYE7yxBNPyA033CB79+6VxYsXy1e+8hVhrjFY61nVCAlJevIZzN7iDQFDwBAwBAyBQiIw6oQi22n5SAvv42tra5P+hHjsWP1WyAZaXmOIgBU1KAKQV6oRCQVRRQImgIHcCjpcCKt8JpPkYZI/AmB6/fXXy86dO32ie++9N/2i87vuusvrmNDjIczWo/D+IlzC1Y58Z7L/+OOP+1cG8D4j7E0MAUPAEDAEDAFDwBAYLgJ1dXXC/G/btm3S1NQ0aDZ33HGHIMxpbr311kHtzcAQMAQMgYIiYJlNegQKQihqIuFX9IwGmqoqiWRS7M8QmAgI8OJsnkAz+YOYok1MHh944AH51Kc+5V++DeG1e/duomTLli3etZ/CIQCm1113nScCOQ7kvHnzZr8S4JFHHvFfVuSYQPIS5nhgExcI35tvvll4eXpcb35DwBAwBAwBQ8AQMATGEoGbbrpJrrjiCok/IB2ofIszBAwBQ8AQMAQKhUCiEBlVV1VLcpRIv2QiKVWVVYWopuVhCIwLBD70oQ8JBFa8MqyIe8973uNVPJFetWqVXH311fLoo496nf0UDoHly5fLJz/5SZ/hu9/9blm0aJHggjsrAnxEzw9h9D1B70Am4mF7ESsV8ZsYAoaAITCKCFjWhoAhMIER4CEmqxKZV7BrhaYSRo9/MGEucv/99/ut0jww3bBhw2BJLN4QMAQMAUPAECgIAgUhFGfMmu2/UqyqBalUyERVZUplpZB/0JlrCBQ7AnyBr6GhQeITvueeey692o0VdGeeeaYnudasWeNXzhV7m8dr/SFyOR6QjPnUkfcUsaWov5WLvXmYzxAwBAwBQ8AQMAQMgfwQ4BUrS5culfnz5wvEYthBwatymHuQCy4PNXlvMzskWlpahDkJNuvXr/evckFH3JVXXmnzR0AzMQQMAUPAEBhVBApCKPIBkbl18/3XhVULQyqqqs9vzrw6744qCmRuYgiMEQI8SWYFYlh9GJ5GhyfRr732mkAoIlQJghHXpLAIsJV57dq1wiQ+35x5hyJb1levXj2kdPnmb3aGgCFgCBgChoAhMPkQYG4Ikci75+Nfa77nnnv8K1rQI7wuh/c24w+CTbaOvMhz8iFpLTYEhoCAmRoChsCIESgIoZhMJmX27Lly9rlvk7POPk9OW3aGnLJ0mZclp5wm+UpIQ/qzzzlfzjnvAp8v+Y+4pZaBITCOEGCLbVh9yFPlSy+91NcOcvFLX/qS1NTUePnpT39q2549MoX/+f73vy/XXHONMOFm4p1IJITVAfGSCHMs4jpWDfAFxi984QsZq0zjNuY3BAwBQ8AQMAQMgcIjYDkaAoaAIWAIGAKGwPhBoCCEIs1RVSkrK5Np02fInLl1Ujd/gZf5CxZKvhLSkL522nQpLS0dtY+9UGcTQ+BkIRBffRjf7gy5+I1vfCP9NJpwIB5PVl0nYrlsNw8fVVFVufvuu2Xu3Ln+vZWsDIDYxeU9lhCOcQzq6uqEj+igu/baawVb/CaGgCGQEwFTGgKGgCFgCBgChoAhYAgYAobABEQgMQHbZE0yBMY9ApBUn/jEJwRSi8pCUuHGyUXCceKR8NjIxC4FMvHyyy8X3jMUWnrOOed470033eRd3mGEhzDvK+K9RYRxCbNdnfQ7d+4UbHl/EfEmhoAhYAgYAoaAIWAIGAKGgCFgCBgChkDxIDD8mhqhOHzsLKUhMCIEeGn2tm3bhO3OvM+PF2jffvvt/gXbIePHH39c2PaMLURW0Js7fAT4AEtzc3N6FSjvIOKdROQI0cv2Z3S4hIkjHIQwEsK4vL+I9CaGgCFgCBgChoAhYAgYAobAqCNgBRgChoAhMA4QMEJxHBwEq8LkRIBViWyr5UXaEFcQWNnkFHHoEEisyYmUtdoQMAQMAUPAECh+BKwFhoAhYAgYAoaAIWAITCQEjFCcSEfT2mIIGAKGgCFQSAQsL0PAEDAEDAFDwBAwBAwBQ8AQMAQMgRwIGKGYAxRTFTMCVndDwBAwBAwBQ8AQMAQMAUPAEDAEDAFDwBCY+AhYC08mAkYonkz0rWxDoMAI3PK/3iNrv3fzpJYv/P77CoyqZWcIGAKGgCFgCBgChkBhEDjW0CL/49N/N6ay6bXdhal8oXKxfMYEAd6/rqpSVVUlfJQwu9CHH35Y+LDgvn37ZMmSJaKqXvCjI1410vGud975np2HhQ0BQ2ByI2CE4uQ+/tb6CYbAwnnTxWT6BDuq1hxDwBAwBE4+AlYDQ8AQKBwCz766U8ZSCldzy6lYEIAMvPXWW311W1pa5Oabb5Y4IQhh+KlPfcrH8173V155Ra644gov+NHxLvdvfetb0tTUJLzrnXe++wT2YwgYAoZADwJGKPYAYY4hYAgYAhMMAWuOIWAIGAKGgCFgCBgChsAkROC5556TvXv3elm8eLFs27bNE4MBCsjGnTt3hmAfF8KRlYoLFiwQIxL7wGMKQ8AQ6EHACMUeIMaHY7UwBAwBQ8AQMAQMAUPAEDAEDAFDwBAwBIaPwBe/+EVhlSFy5ZVXypVO8JMj25/f+973CkQj4WyBTLz++uvl2WefFVYpZsdbuJAIWF6GQHEjYIRicR8/q70hYAgYAoaAIWAIGAKGgCFgCIwVAlaOIVBECLDNuaGhQT796U/7WhN+8MEH5ZJLLvHh7J/Vq1fLGWecIbjr16/PjrawIWAIGAIZCBihmAGHBQyB4kbgj+74kUx22brjYHEfRKu9IWAIFBwBy9AQMAQMAUPAEJiMCDz++OPyiU98QpYvX+6b//3vf1+uueaafrcx8x5F0lRWVgrvWGS1ok9oP4aAIWAI5EDACMUcoJjKEChWBDo7u+WfH9s0EWTYbSjWY2f1NgQMAUPAEDAEDAFDwBAwBAqFAGQg71Jk2zL+jRs3ypo1a2TFihUyf/584R2K9957r/ABl3iZxN92220+nnctxuPMbwgYAoZAHIECEorxbM1vCBgChoAhYAgYAoaAIWAIGAKGgCFgCBgCJwMByMDbb79dVFWWLVsmqVRK7rnnHu/ywRbeoXjDDTfkfE/iLbfcIsRBON555539VN/UhoAhMNkRMEJxsvcAa78hMMkQ4AktX61TVf+Cat4lEyDgCa2q+okX/ritqgrp0BGnGtnxkut4HiEvcw0BQ8AQMAQMgXGHgFVoyAjEx/wwD4BgUY3mAaoqhJkLMCdQjfSkG3JhlsAQKBACN954o0AGhuxmzZrlVyWGcNxlbnvuuef69yauXr1a8LOa8YknnvBmEJNVVVXCx1y8wn4MAUPAEOhBwAjFHiDMMQTGCgEmmKrRZFM1cpmAMhENdWBimq0LceaODAG+cPfKK68I74iJ58Qk6brrrpOHHnpI7rjjDsHP09tgiz1+0rN15Fvf+pY0NTUJk63q6up4VuY3BAqKgGVmCBgChoAhcHIQgGjhPXKs1GJ115VXXim33nqrsHqL+QK1wiXMXOArX/mK8P45bJkrEG9iCORCAMJPVf1DbIhqyD/VKKyqQjzpcFUjPfcH6PKRsBKRvojs2LFDmMOGtPjRYRf82CHoL774YsEljDQ3N6ffwxjyMNcQMAQMASMUrQ8YAoVHYMAcmWAy+YSggpBCSHDTTTfhCMTi7t27vX/Lli3etZ/RR+DRRx/1hfBOmXe/+93eH3Q+0PPDzQUTvwULFvT7QuseU3MMAUPAEDAEDAFDoIgR4MHi4cOH0y0455xz0v5sD2TPzTff7N9Plx033sPUXTUirXjwHeY6qpGOeQ864lQjHeQqc9bx3rbxWD+w5IF0qBtYQlrzVWU+hsKDbYg+4vHfd999fpsyxDU6E0PAEBh3CEzaChmhOGkPvTV8vCDAE20moEwsmGBAMK5atUquvvpqyUVojZd6T8Z6cHyuv/56efbZZ3O+b2YyYmJtNgQMAUPAEDAEJioCfBn3Qx/6kN86CunzyCOPCARPdnsh5NAxl2Neh79YJNQd8pR36rHKsqamRtiVwcNvBD+r2HgoPnF2aJy8I8SCgQceeMCThKz+C+Rhdo0gcFeuXClXXXVVdtS4D4eVlWGrNOQz55BqREgHPTuE8Ktq+tVC475xVkFDwBBII2CEYhoK8xgCJwcBBlgmb0uXLhUmcEwyzjzzTGGVHF9iI/7k1Gxylcqqg5aWln5JXN4pc8YZZ/j3y/AEeXKhY601BAwBQ2AcIGBVMAROAgKQPaweYx6wbt06gXiLV+P973+/3wYN2ViMczZWvSG0i9WYPNDORYryUJWVirZDI370h+e/++67/UpWVRVIw1y5oP/xj3/stx1D5uayGc86zps4+U6fgnDnXIK43rp1q99CDWn/93//9/68Yot1MbZ1PB8Hq5shMNoIGKE42ghb/oZAPwgwMYVARLZt2yb333+/30L72muvCYQiQlIIRlyT0UWAp+5Mcm699VY/yaM0SF1chCf0vBeJrSi8T4mJNXqTgRGwWEPAEDAEDAFDoFgRgCBkVRWrFHldDQ8ev/a1r2U0Bz3zB+Z1d911V0ZcsQRYJXb55ZcL7ctVZ+Y8tkMjFzJD19GnIM5CSghpVvOFMC5zUfQQcGCPbiIKWHB+7dq1K+P9jhOxrdYmQ2CiImCE4kQ9ssNvl6UcIwQgqNjezFYHJhY8kWPS8KUvfcmvVIRo/OlPf9rvirkxquakKoanqRwPbgwuueQST+zGAVixYoXcdtttsnPnTr8aIR5nfkPAEDAEDAFDwBCYWAjwUPett97yX8dl2ylzN+ZsECHxlrISi1VXX/jCF4ryS7isEnvyySeFh6bZbYAotR0a8aM9Mn9Yqcd8k1Wh9Jts4pD+hEzk+Sbn0Ec/+lFhlxYrZEeGqqUeIQKW3BAYNgJGKA4bOktoCBQeAbbSfuMb30i/U4WwbXsuPM795Qihy3YeJnZhxWi2LZMeCEe+xhfeO5RtY2FDwBAwBAwBQ8AQmBgIHDlyxG/H5CEwO0qYJ0AKxVvHQ2HeiYfu2muvFeYT+EdPCp8zpOIPf/hDv0p62NiiAAAQAElEQVQRoiuUAIlqOzQCGoV16Te8l5vXHmXnzMcawZ75Jtufs+OLOQxRCkltCyeK+Sha3Q2BCAEjFCMc7NcQGBcIPPfcc+nttlTItj2DQmGFbT1z587170Lkqfu5557rJ/6Qg3zhma0XrD5gkscNAfHYIfg3btwoEI7Uii0pvEiaPAmbGAKGgCHQLwIWYQgYAkWHACQbOxPYfsocAeKHbc3MGdDRIFzCfEiPLcOQJdhmb2PFdrwLOzEuuOACvyIzXlf04EDbmPvE48w/NASYW0JKX3nllcIqPcjb6667rs+WX0hrHm6zgpH4iTTXpE20Bzd7RezQ0DRrQ8AQONkIGKF4so+AlT/pEOApI5NPCKpf/dVf9ZMJJhRMLG6//faMrbQ8EebpHRM5JquTDqxRaDA3B83NzelVoIE8ZOUh20/Y9hyKhVQkHj2C/+KLL/YvyCaMkBd5hjTmGgKGgCFgCBgChsDEQSDMDxjzeaAI0RPXoSeM4A8Sn0+MVzQCuRXIT3bGQCjmmtfQPtuhMfIjydySOT/3Abze6Oabbxa2/nJ/wHwfUhrSlmPC8YDERUcc6bhnyFWL/3x6s4y15KpHvjpwYFcWbQOD/tqVb35mZwgYAicHgYlGKJ4cFK1UQ2AICPDxjzDZDBNTJqf40ccnoHFbJnJDKMZMDQFDwBAwBAwBQ8AQMAQMgX4RgNSBpGJbraoKXxVmHgrRyK4MSC8Ev+3Q6BfGIUeAMXN+hPk/9wHxOT96bLJ1wTZXgd/+56fk45//wZjJ5jf35arGkHS0j3dF0sfY4j2kxL3G5jMEDIGTiIARiicRfCvaEDAEDAFDwBAwBAwBQ8AQmFwIWGvHEwIQVxBYCH7qBtHIrgx0CH7boQEyJvkgwGpDiGpWWrICkdWVP/rRjwQd5DWrLpctWyYQpI888ojPEr2qCis1vcJ+DAFDoCgQMEKxKA6TVdIQMAQMAUPAEDiJCFjRhoAhYAgYAoaAIWAI5IEAKy4hCyGjg/zar/2aJxBDmFcGXXnllZJtx6rFPIowE0PAEBgnCBihOE4OhFXDECgEAnf88Qfl9Z9+1stkdetm1xYCSsvDEDAEDAFDwBAwBAwBQ8AQMAQMAUPAECgKBE5GJY1QPBmoW5mGwCghUFVZLiblo4SuZWsIGAKGgCFgCBgChoAhYAgUDAHLyBAwBAyBokYgUdS1t8obAoaAIWAIGAKGgCFgCBgCY4aAFWQIGAKGgCFgCBgChoAhAAJGKIKCiSFgCBgChsDERcBaZggYAoaAIWAIGAKGgCFgCBgChoAhUFAEjFAsKJyWWaEQsHwMAUPAEDAEDAFDwBAwBAyB0Uag84V/kxP3/fHYyY8/O9pNsvwNAUPAECg6BKzCxYmAEYrFedys1oZATgR+//Z/ko/9+T3jWv7g//xzzrqb0hAwBAwBQ8AQMAQMgZOBQMeWJ2SspHvP5pPRxNEo0/LsB4FUa6O0/8ffjqlIe0s/tTG1IWAIGAKjh4ARiqOHreVsCJwUBH6+/g0Zz3JSQLFCDQFDwBAwBETEQDAEDIHJiEB7ebW8cbhtzKSxrWsywpzR5rZn7pWxlIzCxyCQ0ISkUjKmMgbNsiIMAUNgiAgYoThEwMzcEDAEDIExRcAKMwQMAUPAEDAEDIHRRaCkTGSsxLWksqxExlIkodJwonPMxDVRypI6ZkJ5407Gqj+FchwAY9mnFiyuk417msdMth1rH7P+FPqug9T+GwKGwCAIJAaJt+hhIGBJDIGAwMMPPyyqKldeeaUcP348qNPuhg0bpKqqSurq6qSystLb3nnnnX3iVVXi+rTBBPXQVlX1eIBhaOa+fftkyZIlXn/jjTd6ddxWNcIJrMFctW8ePpH9GAKGgCFgCBgChoAh4BAoufC/S81tz46ZLLjtEXnjXz83pnLJklpZsbBqzOS3LpstD95w2pjJl391oTuS4+e/Tpk6Zv0p9N0Hvv1HY9qn/seVZ8ly16fGSt5z5tQx60+h706tSObdqczQEJisCBihOFmPvLV7TBB43/veJw899JCsXr1aHn/88T5lPvjgg3L66afLxo0bpaWlRe644w75whe+IBCNGC9fvly2bt0q9913n9xyyy2oJoXQVnCLNxaS8Prrr5edO3d69b333iuQjXFb0hCurq6Wr3zlKx7zVColHAefyH4MAUPAEDAEDAFDwBAQMQwMAUPAEDAEDAFDYIQIGKE4QgAtuSGQDwI33HCD/PjHP84wZbVdTU2NTJs2La1ftGiR/OZv/qbcfPPNOVc0pg0noWfLli1y3XXXCQQhxCsQbN6c+8XmrFoEwxUrVmBmYggYAhMCAWuEIWAIGAKGgCFgCBgChoAhYAiMFwSMUBwvR8LqMaEReO973ysNDQ3plYc0FoLsnHPOwZshn/70p334rrvu8m5R/xSw8qzW/OQnP+lzfPe73y2Qr7heEfuBTCT4xBNPCCsV8ZsYAoaAIWAIGAKGgCFgCBgChoAhYAgYAoZA4RDoQygWLmvLyRAwBAICrERctWqVPProo17F9t3XXntNcq2ggwS7//775Zvf/Kbf0usT2E8GAnv37pWrrrpKIBnjEe9///vl1ltvlUceecRWeMaBMb8hYAgYAoaAIWAIGAKGgCGQAwFTGQKGgCEwXASMUBwucpbOEBgiAmx7huhiqzOrE88666x+c+AjLd/4xjfkU5/6lGDfr+EkjICMXbt2reRawck7FMGZd1bmip+EcFmTDQFDwBAwBCYeAtYiQ8AQMAQMAUPAEDAETjoCRiie9ENgFZgsCEASXn311bJ+/XqBUDzzzDMHbDofEuFLxX/8x388oN1ki/z+978v11xzjd/O/MQTT/RZicj7FRcvXpzxcZvJhpG1dzwiYHUyBAwBQ8AQMAQMAUPAEDAEDAFDYOIgYITixDmW1pJCIzAK+fHOv8985jPS2NgoEIyDFQE5tm3bNtm1a9dgppMifsOGDf6DNWwVV1W5++67PbEYbzy4PvDAA1517bXX2gpPj4T9GAKGgCFgCBgChsBERuDhhx8WVe0jPJxmd8dEbru1rTAI0E/oL6oquITJGZewaqQ/cOCAfPCDH8x4Nzx2QYL9kiVLbB4eQDG3OBCwWg4ZASMUhwyZJTAE8keAyR3v9UPw886/yy+/XC655BI/CC9btkzYnrty5Ur59V//dfnIRz4i+MM250CO1dbW5l/oBLC88cYbBcxoCi4fWoFMBLuWlhbUXvioDXHYoMAlzLsqsdu5c6fMnz9fyI94E0PAEDAEDAFDwBAwBCYiAuxs4dUvV1xxhTQ1NUkqlRLeOc2D6V/91V/ts6NjomBg7SgcArzHnd0/7KZat25d+vVCQf+tb31Lfvazn8ncuXPlJz/5SZ93mYeaYM/74JcuXRpUaReykcUVuGmleQwBQ6BoETBCsWgPnVW8GBBgcseEDsFPnb/+9a/7ARhysbm52U/4duzYIf/8z/+c9kMkYotgF75uTHgyyD333OOxADfklltu8ZgFvNAh6BH8QQgjIYxLfpMBN2ujIWAIGAJFgIBV0RAwBMYIAeaTzz77rEAqPv7442NUqhUzERC47bbbPKHIA/1CtofXPr388suFzNLyMgQMgZOIgBGKJxF8K7q4EFBlG0lx1dlqawgUBgHLxRAwBAyBsUNAVYdUmKr6h1BDSmTGhsAkQQBSke2qP/7xj/0qRfyqKlVVVX63DLs4VDW9xZWdHiFukkBkzcyBwGWXXSY33XSTf9VQ9mpC+ky8jxBW1fR2e8Ihy5/+9KdeT7976qmnhN1G6M4991zbDh1AMndSIeBOFX9OTJRGJyZKQ6wdWQhYcEQIqGpGetXMcEakBQwBQ8AQMAQMAUOgoAioZo27PWHVTL1qZriglbDMDIEJggCviKEprFLkvXbs3mAFGq+IYRfHDTfc4Ikjtqry/ukXXnjB7wwhjcnkRYAdP/QXiMU4Crzj/fTTT/cqVjA2NDT4bfZslb7ggguEeCJZGbtmzRofN23aNKmsrJQnn3xSPvCBD8grr7yS1/vkycckTwTMrKgQUM2cv6hmhoulMUYoFsuRsnqOCQJMsMakoFEspLwkKeNZxP4MAUPAEDAEDIGhIpBK+RQTYZz2DbEfQ0BExgqEzZs3+6J4/c4999wjrCC79dZbvY6fT3/60/KP//iPfgXjnj17jOgBFBOPAOQg71XkXfBekfXDu8rr6+s9aYgf4jCY8A5F0oewuYaAITDxEDBCceIdU2vRJEbg65/5DXnrkc+Pa/nq//71SXyErOmGgCFQ5AhY9Q0BQ8AQKCoE+NAfhNCHPvQhv8WZrar440TPmWee6dvECjM8rFTENTEE2DL/jW98Qz71qU/J7t27+wBC/NVXX+0/ggihePPNNxsh3QclUxgCExcBIxQn7rG1lhUQAVsRUUAwxzwrK9AQMAQMAUOg2BDId9zN167Y2m/1NQQKgQBk4sqVK4WVYldddZWwxZmtzqxUjOcPgfiJT3xC/vAP/1AWLFgQjzK/ISD0F96B+PTTT/dBgy3PEI1cixFsMdq7d6+wchG/iSFgCPRFgPOlr7b4NOOTUCw+HK3GEwQBVfUvSc11gufSTZBmWzMMAUPAEDAEDIFxg0Cu8ZYNz4lE7mlrLvtx0xiriCEwRgiwJfX973+/rF69Wmpqavx8lhVjEEGsUIQ05F2KbHVWVcFFSEcVV6xYIbz/jhVnhE0mJwL0B/oCBDT+gMJdd90l73jHO3yQfrNp0yb/3s3a2lp56KGHfH9Tje6jfvSjH/k4bK6//nr56Ec/KnyIhfdzJpNJef7556XPR1l8zvZjCEwOBHLNW9CpatEBkHtmVuBmdHd3SVdXp3R2RtLd3Z32oye+wEVadoZAQRBQVT9AFiQzy8QQMAQMAUPAEDAEBkbAjbvBQLX/MVg1M05VQzJzxwgBK2Z8IcDKMG5Is4V3Joaa5rJBRzwk5Mc//nGBeCRsMjkRoD+EPoQ/oEC/uP32233/oE9hA1HNB1lCGF1TU5McOXJEiCOM+5Of/ETw79ixQy688ELBRYy8DuiaO1kRUNWi5xpGnVBsb2+XpsZGaWiol4MH9smhg/vlRGurHD50wIfRE4/dZO1I1u7xgYA7nX1FGPC8x/3gR1RdrBOnsv+GgCFgCBQrAlZvQ6A4EFDxE2zGX0TVKUSEB9LO6ROnGsUTZ2IIGALDQ4D3J0IqDi+1pZqsCHzta18TSMTQ/i1btshZZ50VguYaAoZADAHmNARVNWMugw4J8fiLRUaVUASQo0cOSWNjgxw+eEB27tgme/fulmPHjsiePbt8GH1DQ4Ngh32xAGf1LD4EVLVPpaM+p/6pWeSPTFR7bVX7xkdWY/FrZRgChoAhYAgYApMLAcZjyEO2OONHVKNxWbV3TCYeO+LjCKlGtnGd+Q0BQyA3AmxrVVW5++67Zfny5bmNTGsI9IMAXwi/7rrrPDmiqn6rM1um+zE3tSFgCDgENppjFQAAEABJREFUmLcgqr3zFdXgdwZF9H9UCcWOjg45dvSolJaWSlt7m4els6PTkYeHpbOjy4dPtJ1w8SVSf+yYYO+Vk+iHlZnbt22VDevWyOFDB8dVyzkeO7a/KRs3rC1o3dj6/uKmDYLgHw+Njp+/qr0ns2rkV1U/UPIOJ1UdD1W2OhgChoAhYAgYAhMSAVX1Yy6NS2iYqqYEAhEdkkgojrdTjfxeYT+GgCEwJATY1sqN7T333DOkdGYcQ2ASeyGhm5ub04sz2OLM9uhJDIk13RAYEIHAJ6hGcxfVyCWRaq+fcDFImKWNSl0b6o+JgIkDpr0tIhRTqW5pbW11F50uJylHLHZIIpkU/rw9njGQN7e+LmueWd1H1q55SjY9v94RnEfHoBYiu3Zul/379vp3SuZbYJsjYTeuXytbXnsl3yTDstu7Z5fs27tHOtrbh5W+GBKpRisd+qtrKpXy/ZR4VRVVxWtiCBgChoAhYAgYAqOEgKr68TbX6sNQpBueoy3QPbaqGqLycs3IEDAEDAFDwBAwBAyBsUZAVf0ch3LjXAPhYpRRIxRZeXbk6CGZWjvNk4aEAaykpERmz5kruADW0dnpCaua2lo5evTwkIg10g9XTlt2hpxx5jmSSCRl1uw5surtV8hlq94hc+bWyYkTrbL1jdf8Vu3h5p9vOuqxaPEp+Zp7uyOHD0t7e5scP97k6+qVo/Cz5JRTZah1y6caHPu3XbBcEPz5pBmJDf0ur/Tu5M62U8084bPjLWwIGAJjhoAVZAgYApMEgTBuq/aMwc6NN10VvQw6IQ/5iP0ZAoaAIWAIGAKGgCFwkhFQVV+DMD9R1fRcxkcU4c+oEYrNjuzqbO+QqVNrpbW1Jb3Kq6y8QubOq5PSsvIILveImXjsIMlIF0WM/m9FxRRHKGq6IMjFU5aeJrW104Xtvgf2703HjRcPX8TmfZOVVVXS0d4uR48cGS9Vy1GPk69S7T2+2bVRzYwLJ3bcjiXJ4n/E9+FUd0qQuI35DQFDwBAwBAwBQyBCoKKiQvqTZM+OlMiy76+bEroxtjszgjGYiJiW8Rp1GJ9jUX28qpljfR8DUxgChoAhYAgYAoZAgRCwbAZCwM9f4BPCvMZNZtz/gZKM+7hRIRS7u7v86r4plZV+JWJrS0saCOZ1yWSJY2IjFaC2uHgmmVOmVPp0pI9ix/5XVaVm6lRfcNim7QPj5Ofw4UPSneqWurqFDsOEHDlyULq7ovdRjpMqjutq0N9U1WGn6Xqqqvh/zkWJDW5c0Kk6q4S6+5diP+3jLTO/IWAIGAKGgCFQGARUVRLJxIAiA/yl3PyGEVbVjbVusq2qIkFEhC3QznEq9SLSa0ecahQW+zMEDIH8ETBLQ8AQMAQMgTFBIMXcxvEJqrnnK8SPSUUKWMioEIptbdF23JqptX5LLluI4+CUlCRFVX0z0Le3nfB2bI9mGy/pfeRJ+KE+DQ31vuTqmohY9IGeH7ZlP7/hOXn2F0964cMizceP98Qy2e3y26XXrnnav58R96033xDyDUbYk448+BjLidbWEDWgSx5HHKE4a9ZcmTlzllRWVQppwSyekEk17z/cuGGt7Nm9U3bu2CbPPfuMr++bb2zJqMv+fXv8B2F4nyT1efnF56XNHY94fsFPvdetfca3C/vnHQ5t7lgj+NERj92ePbt8mZS7d89ueW3zyy7f6D2ax44eEcp55aUXQtZ++zZ5UAe2m1PP0fxIDVgioQLBr6rpvkkcekS1V9/ZmbV6AkMTQ8AQMAQMAUNgjBCYyMV0dkYPSVWjyXaqOxpzVVUSiUR6jGau4yY06TDpGK/F/gwBQ8AQMAQMAUPAEBiHCLR3dPhaqUbcAvMWxCvdj6q63+L6nxiN6kIosWqusrJKGuvr3XyP581RSZ0dncIXnXEjDSRctzQ1NMiUKZV+tR3pQ9xYuRzI401NsvmVF6Wh/phUVVfLvLoFEv87dPCAvLX1db9l+9KV75DTzzhb2h2h9tqrL0lLc0Qq7ti+zW9DPuOss2XFpb8kfOWKdPX10UdesMO+vLxCll+yyueRTQjGy4z7mxobpKOjXWbOmiWJZFKmT5/p3zl5KOvr0AcP7JNdu3ZI24kTri6Hpaqq2tVllbdnhWOoC8Tezh3bZcbM2XLZqnfK/AWLPLG3Z/eueLFpP5ice94FwnEtKyuTM88+V8rLy70sWnyK15/3tovc5F7k0IH9suz0M125K12ejX7bOxm1tDTLtre2SlNTY7pfgD2k57TpMwRc2f5+7NjobOVW7XuSUr6vNBXsEa9zflUV5QZG1IVEVFVaHa7+RkbszxDIGwEzNAQMAUPAEBgEgQ5HJqr2jrcqKuLGYJJF43KqZ+6QcuqEpJytYuMMOjo7pbs7JarqQvbfEDAEDAFDwBAwBAyB8YNAt3tAeuJEe3qeouL+uTmOqvpKhnmODxTRT8EJxa6uLoEMKq+oELYxx4kjcGlrb5Pdu3cKLmEE8CDz+EAH6SC8AJy4sRBWwrEy7qUXN0qrI7z4UMp551/kibJQPgTp/v17pMwRaPPmzfcT2ZmzZjtycb4j+Tpk3769wdRv84Z0Ky0tFUgykZR0uUkyBnv27BLVhPCuRuJZlTndEWnEDSYQh1VVNa5eFd50xoyZQh4NjgBti60qhAg97bQzhCf5M2bOcgTkbO+vrqlx6VISJ3MTCfXkKbYzHbHIMevq6nR2uf9XOnKybsHCiMh0BCtWHL+DB/cLbYUUbm1tdZi0O+KtVVQTsnjJUqmYMgVTTzqee/6FUlERhVF2OKYeYhbpcv2HD+PUTptOVEFENVrl0F9mqr3xtAVRVVHVjCToUXS7G5aurm68JoaAIWAIGAKGgCFQAAS63US7pTXayRDGW9VofFZRX0K3G3/xqPbonUsYe+Yxx1taewhHN/NiW1FPPDYmhoAhYAgYAobAwAhYrCEwegh0Ov4g1ZM985Yer3dUVVSjuY1XFNFPwQnF5ubj0traIhBPne5pMURXHLBkIiEJR2IlE71FE996osWRUB0+HavY8l21VwisZ82eI6vefoUsXLREuhyh1dbW5urYWz/KaHUkGduLE+rqn0yi8jLdkXqQcBCRKJaeukwuWn6pgMMrL2+S3bt2oPbS3t4urL5kdV95eYXX8ZMsKcEZUNocYQhxyOpDthYjm17Y4DHr6GiXsE17wExcZLebsLc7Utd5hbqzirKmZqrfpv3q5hc9UUjcQDLLEY+VVVXC9mvq5VdOurbNdjiSrtrlV1paJju3v+W3Ux/Yv1eWnX6WsJqR+GwpKyuTakd2sp184/q18urml2T+/EXCcZFR+KO/qUYnrar6ElQjl4Cq+hNaVQmmb0449ihIf7y5VcCSsIkhYAgYAoaAIWAIjAyB9o5OP6dRVUkmkqLuH+Otqoo4UVWBNHSOqPsnTkI89uL+2ts7XB79PxR1JvZ/oiFg7TEEDAFDwBAwBMY5AnBM8AfMW6hqnFcgrOpmNj1CuJgkkzUbYc0BiNV+4qjXqsoqR541OYKuOyNXiMZFi04RVvDFI1jx1Xy8SSqnVLrHyiLkQ35xm9H2Qyiy6nDvnt3CNuVc5VEnJMS5Q++9qupdCEPej8i23traaVI3f6HX80M6BP9QZf++vcIqv5W/dLknPyFAkdNOP9NnNRy8uru7PJHI+wzJZOmpp/vVlfgHkkQy2bMys12oV/2xo1JaViYcW9JBHLIKce7cOke6pQQ8eV8i5CPxueS0ZWfKqaed7vIpFfJ7+aUX+j0GudIPR8exCBLIQVUVVU1np6r+BkZif6oqnY54bmxqSZONsWjzGgKGgCFgCAyAgEUZAtkIdDgysel4S3r8TbmJJOOzU6THWRV147GIG4KFP+JVo6f5cX9DY3OfuSf2JoaAIWAIGAKGgCFgCIw1AvAMx5tPuLlJl5vDaEbx0YPSoEv1ic8wHqeBghKKrNJrbKj324LZGswqw1Qqk1AsLysXtrOytVky/lKCPfrSsjJpamwQ8sswGeWAqsqixUv9Srod29/0X5wORVKvMld3PjBD3YK+q6vTTXZFWJXHisytW7e4KJWLLr7Er3hMOvLNKfz/0pISSZYk/QdoeJeiV8Z+UqlULNTr7ejokIaGY37FnmrocFH89Okzhe3DkLGQmZE2v98d4X2PZ57jVxCST34pRWbNmi18xfvwoQNy5Mhhia8mpB7bt22VpY4gXHHpKpm/YKFAJkJ69pf/G6+/KjU1U+Xi5Zf5dzPy4R5WNvZnPxK9ai+GAXNOZvJUjeKCHp339+hV3D/nV1XhfU0NTe7GpTuzj5Nmgok1xxAwBAwBQ8AQKDgCjK9tbe1S33hcVNURhglxo6w4PlH4Iz6Mz4Tjgp74MHNSVZ/eZSBHjjX4MbqfaZXYnyFgCBgChoAhYAgYAqONQJfjCRrcg04+xqLqZjgIExUKdn7mMXiRuJ/wSZa8i0/kbTmIIcxrfX29dHS0S3V1jaQceGwR7u55301InkgmvTeRiFwfcD8A2HbihE8HscS23Ppj9YLeRY/Kf8hB6tfV1SXdrr4Uwuq6U5edgVdef+0Vv7oOopD3O9bNX+Dtdmx/S1pbW1xbO2Tf3j1S5gjQeXXzfRzt5n2LbW1t3qa+/phvQ1vbCTl85JDMmjVXyO/Nra/7ePJhqy/lv/Xm6668Xb7s8NPd3SXb3npDuru6ZVrt9KBOu7xDkfcwkid2YEhkZ2eHL5fjQRihnXGXeqYc4UvdKOfI4YO+DZTF1uoOR2R2uOOZcjPy9vZ2kqaF48cKRMpNJBL+gy/pSOdpcO3evu1N50s5orBWku64l5aVubC4Mrqk25VLfTpcGSh5f2LApLp6qpSUlEppWWRPfCGEdsTzIawandjoVXtXOiQSkR99kHDTQlhVcVwf6JT6+iZpb+8QjqFX2o8hYAgYAoaAIWAI9IsA42VnZ5ewKrHBr/YXUY3GVXF/jM9O4f736sR5SafOE8ZjVRdy4u1dOlV1v9H/+vrj0tLcKl1u/hTioxj7NQQMAUNgIiJgbTIEDIHxggDzDh6YHj3WKJ2Oa6Jeqr1zlDCPQY9gD6eCS7iYpGCEIgRgU1ODqKpAcPHRFcgiF8zAA6JGVR3B1LfoTt652N7m04v7a2yq9yvbnLfg/yGvXt+y2ZFAXXLs6BFZt/YZv82agqZOrZX5CxYL9dmx/U3/HkBW1/GxkCWnnOrIozZ5YeM62bj+WelyhN/Z55wv5eUVnlicPXeetDsSbtPz62XHtrdkzpx57ol5UiANoy3QC2TR4lM8mUger7+2WSgPYnDBwsUCMUkdgmx++UU5cviQt39+43PpOoZ4Vvbt37fHB1nh+cLz64R2seWaDgnhiQ2yZ/dOb4dLeK4jQXnXIVhsen6DVE+d6lc7chyTyRLZvm2rJ0zJBxxI5zPo+Zk+Y5aUu3ZPmz7DfxymR+2dmbPmuEl8p8P1F7L1jS0CdrNnzxVWL7LFGgKRd2Xib3Pk62pvyBsAABAASURBVJTKKv9OR7ZGg2tpWZmwBdtnVoAf1d4TmOxok2oO0tCRp/RR4nGxVc1Miy6KTwgxkKMNjcflaH2jvzk60dbuiUZWMLY7whTB30c6eF9UTFz/72NjOr/KxHBx/cT6gvUF6wPWB8ZTH8hjDGP8Q8I1nPcktp5ok4amZjnmxsw297DSPb9z86Te8ZjxVdy4i6vKKCtRvHtAnUyUuHlbt8THZ+yCPX4m5OoGak2ItLgH1axWbHTltbSecGNzl+9D1AkJ9cpw82hXhv1Ijoml9cfD8Ow0HOxcsD5gfcD6wHjrA3nMB5hLIH4c6+gSeAAelh4+Wi/MPURSwpyEuQlzFDc9yfivSqwI8xriVd3kJcNi/AcKUmMa39zc7J4EN0tVdY1UOJKJ1YmsksuG4HhTk+zcsU1ws+OwJx3botlCjJ98yT/bdqTh05adkfEuwstWvVPi23bZpruy532F8bh5dQtk+SWrfFr055z7NimvqEhXZ8GCRXLZyncIac865zyZPWeuXLry7XL+2y6WcoeLqgrE4aXOhncgXnDRCllyymnCx1F4h2MikUznhee8t13ky8KW8uJ1JP70M85OxwebM848J0OHDUJ8EMKsJL14xWXelg/JzHAEIfWhLrxLEptgj0u9KTPIidYWUVWZ3fMxlqCvqq52ZOAyWXb6WUKdaf/iJUu9LXGXXPZ2XyZ5Um55eblwPGg/Za90uIMrKz9DnoV2VdVnqaquXuIkupnpPZnV37RwEZD4H/aiknCuj1ORRCIh4sKOi5QTJ9qlsbHZ3Sg1SX39cWloaPYuTyeQY/VNPg4/BCTCzY6Xow1yxMQwsD4wrvuAnaN2nbI+0NMHjjnXCeOYF/cUPmOMc+H4OHjsGONikxw/3uoe2Hb5cTMaP8X9pfy4quL+MaY6jarzexH3gLJbEsmEpLqd6+ZJ7HBwUaIa2Thzlz7hRJ03JeKcBPn0xLe3d/pyjzkSM14nPxa7eh6zsdmuuzb2Wh+wPmB9wPqA9YF4H3BzHO7R/RzHzR+YM2TMF9z8IT6nOOZs4AHgA/xExM1BormIuL/eeY44vVPE/qc876CiMhq8V6ygUfE6JmTk+aZS3Y4gbHATxA6ZOXOW42FFWltbpdsxLCkn8RKam48L78ZjNV1cjx3LQUknDuQZM2a6J8nt0tRYL93dbuIZNzb/SUeAbUesfuRDMeFjLCe9UrkrkKGln6HARVSjE5f2qDp/t7sRcQapHlfV6VwfxtapHYeYcv0bcSFnqkq887v/zszFOY/Tud/0BcFbO1t0lIOouktGTIgzMQQMAUPAEDAEigkB1cyxjPEN8W1w454f/1wgPYY6e6d246NTuv+Mm6rqfAyvWDtxc8pgQF6Rjbi5YLcfY9GpMvamvI7E5N/t0vm83fitSjwx4rNCz9wSDbbeJTcfIT6fkK+qOtNIsDMxBAwBQ8AQMAQMgaJCoGCVVY3mA6qRy1wB8QW4OUSKuYQLhLmFm0B4DXMXp/ZzEFUVlM7cOe63J5I0iKqLd8b4nVN0/wtCKEICNjU2Cttnef9dyk3qWltbJOWeJGcjUlVVLWyRxc2OEwcu7zUkfXX1VJ9f8/Hj0tbW1sfUFCcHAbZSr3lmtaxd85Q0NTVI3fyFJ6ciwyhVNfNk9U8MevJhxaHvr84m5W5GUCe09/RIJvG7C4DLQtX9OAMlPhX5XVAitbNxgejXXTtcn1ZRpxH3q2nxZWCEiIiqizMxHKwPWB+wPmB9oIj6gPDHOOaEcc2NZBKEKPwpNw7idyY4TlLimujcnv9uHE1o0k2ye8LO0YRKNO6KJJxfVYV/vNxcevyJBOOyeLtEjw1lqSZEJSHhz5k7b8qJG5P9r3NdndRZEcQNQht8RSJzUXUxJoaD9YEx6AN2rqkaBqqGgaphoDp+MGCeEOYFzBFczSQIcfiZe+DvmTo4b0pcE5zb89/Nc9TNTQipqoj772Yifv4iPX8JF59y/pCX8xbN/94Z1wiq3FBf70i/E8J21mRJibS3t0vbiROOHwSWzIxnzJotbG2dPnNWZoQLASDpIBBLy8qkuqZGIBjJX+xvXCDANmQm8binnX6mf//juKhYnpVQZdVCSlT9mdzTRyNdOgsXl3KB7p4bDm5U6Ju026ndf9KqEO8CPXngC5Jy+Qe/OL96yczDXUZc/ujCRSrb1ZRLayKGg/UD6wPWB6wPnPw+kD1GiRuf0DGOIdLzx1hJWDUa+3rUbhzERyLcSLDDx3iqTKZdtKoKebACwJOKTsck3jleL+7Pp3MK4rHDPqR3amcRjbHek/5Jics6HVKN6kdepA8RhBHalkusL4qNyynDwM4D6wPWB6wPTLQ+kGvMR8ecAJGeP+YMhFWjeUSPumeO4QaIoHAuds7p4Q3UeRHx8xni4BlUenkFVXU2xfW/IIRiVVWVzF+wSObOmy98XASyacHCRf7dgLwfMC7Tpk2XKVMqZfr0GTnj5y9YKLxTr8QRk3zIY77Lt7KysrhQncC15T2KvBeR90hOnz5zQrU08/SPmoYuOq3xoYtC+BCv5QdxCmKDZM64syKD0QCue5ghJu6m0GFkOBQGB8PRcLQ+YH1guH3AzXdl6OIGx547DncpTycX/lyUOHH/CcUEyygYfNk2IRziI+veXx/PD+LU2AWxsdnOgeGeA5bO+o71AesD1gcmbh9IT1LChCEv1000hj3PSfkiU26eUsz/E4WofM3UqTJn7jzhIx8wtuXlFf4DJ3PnzXMkY6ZAJlImbq54PjpCevIhP/Ilf9JMQrEmFxgBngSoanpVoSpXipSo4kaFYYNPFV1K/OoHTXjXXUKJ8qJKvPSmTUn6L8VdUk+I/BDMyatH7dKJF7E/Q8AQMAQMAUOgSBFgbENC9RnnCDPuIUEfHxfDEKnaO45iqxqNz+SRTCSEj6+IM0k4Pfmgx1V1Svef+GQiGp9DeuIRVWeAx8ZmUDAxBAwBQ8AQKA4ErJbjDAGmE0ioFnMRwsw7kKAfbJ4T7OATyINtzriEVaM5Szy/Xvvx7UsUonqJRFKSyRJJuEkd+amqJF04l6hGYKkObkN+5JFw+Yv9GQIjRCCcoKpRH4xO4ChTtlsl6L+plOvHyv2LIx27fST3Il1d3aKqUdjZ4CG/SONCzsNFBFvE3yw5j0p0c8SFAvtUqtvn25OVS8h/l9LlmTJx2BgW1g+sD1gfsD5QLH2AsY1RDGFcS/WMcSk3nhGHyzgYxkQ3LPZ4nU9JJW6UdJYZ79yOjj/jrrPyD/OcxhmlJJlI+HHCBXr04khHxlVn4cpU1Sje+YU/V4aL6SnTKcjQibpSqRv54KZ66u2SO6Pw36V0+aRMPKaGw0D9weKsf1gfsD5gfWAi9gHmCWFWwBwh1TNfSLm5AXG4zCnCRMNNMXq8zqdRShzsCAVXVaP5C0onKZevc0QVa3zFI4niqarV1BAYOQKq0Umqqv6ETbmLgao6EjG6SdGECn/BjeLdaeJsuDqouH8q7jflRJzKuSENNuJ0Ps+EqLvxEVX3P+G06iXhyHHEJXSGTpWKJIoVMdcwsD5gfcD6wBj0ARG73oqMGIPssYzxDQk5q7rxj3GwZzxkTBX3p0ovF1E3frpbMOcRcV5RFecmnOuIQXF+N2aqOr8bVxNJN047XTLhXBdWVUm4eIZRFfz8plx6Z+8qpmQoIqoq/KXLdumd0v1PODVxKuSDuGQ2NotIhIq5hoP1AesD1gesD0zuPpA9L2CugARUVN1cws0z1M0t8KfnGk4n7k/dXIR5TtSPUoJaRaO5hguoRnMaZyoJF8YtNnEIFFuVrb6GwMgRCCc7rrsv8U/fVVW6uznR1YcT7sIQLynlAqxkdJHuf0rc+e804tJEqyMqyktlem2NzJw+VaZPq3b+SGZMq/E63Om11ZHe6aY5PzLd+ZEZLp3JVOkPA9MbNtYHrA9YHxg/fYBxC2EcQ/CHMY7xjrEQN67zYTfmVVdNkZJk0o+fDKTK3DoajL0u8ropuPO4/5J0tmF7c1d3lw9H43ePjcsk1R2Nxdljc1lpidTWVLlxuSYSN/ZSJ+qSXUfaQFsQ/Ij1ufHT5+xY2LGwPmB9wPqA9YGx6gPMARDmBAh+5g9I7jlEtaCfNrVa4AWYp3S7uYmboghzE8KORBD4hBTKmMA7uBmNqLoJUUxfDN7RJBSLof1Wx0mCgD+BY21VjUhD1cyTVlWFE181ckXUnfe9pzzW3NxIOj4l5WWl/uJRVTnF3eQkhAuCqno3+FXVxSXTgp4bpLigM4nwMxwMB+sD1gesD4zvPhAfv/BzvHCDqKobKjVjLPRx7mEd4+bUmkpBEho9mHPGbrwV50Tjrmrkivvrdg/7yL+rq1OSiYQfp0WieNXIJSzO390zeU8mE+4BXo1UVVZIqSMVITATLm0QVXXmKklHVgYhLviDi85kfPdFOz52fKwPjJs+kL7m2zGxY1LsfSDMA4JLe4IfVzWaR6BHVKM5RUlJ0s09psjMaVOFh5oiqWje4uLhEVR6/yKOQn28qgoPR3tji8OXKI5qWi0NgZEjoBo/fcXfSHASI+L+cFXV6aObFdV+Tg91lwV3NXD/pWrKFHfBqJBwEXHZiKp6wY+oKk6GqKq3UTVX1TBQNQxUDQNVw0DVMFAtXgwyBjoXUFX3G/1XVT/uEVKN/GWlpVJTUyWlJaXCGCxKrPhtP4SRSBONu4lkwttpjyHxiKoKKvyMzaVuMs+qxKSzTyaTwp+qiqri9aLa6/cK96Oq3kZ1MrnWVlXDQNUwUDUMVA0DVcNA1TBQzY2Bmypk/FfVdFhV/RwCharzuyemNdWVUllR7uYu0TxGlNi+opqISEWXpm/s+Nb0w5iM70pb7QyBkSDADUdIrxqd1WFFQ4jjpI7boMcy5Z4w4EfYslVWViqJREJU3RMFdxejilVIGbmq6m3E/gwBQ8AQKAQClochUAQIhLExu6qqmeMlKwdZqZhMRJNpxlnSMJqqqp9gR2E0ztfjMG6rRgF+GZfRsTJgqiMpVdXGZgeX/TcEDAFDwBAwBAyBwiOQzzxHVaWiosIvQGKe4sXxCeqqg18Vnwu4/6q9fhcsmv+JoqmpVdQQKDACqupvNlQ1TfhxYiPS84efGxTtCeOgqygv80uYE+4pgmoUqxq52KhqOm/skWy9aq+NqvlVDQNVw0DVMFA1DFQNA9XixYDxjnEPUe1tB3pEVXH8OIlHVQUSEPsQVlX3RD+VtoFo7O52vyksxOuxTzg71V5bVgOoqo8X96eq7jf6r6perxrZk54Y1V69qvlVDQNVw0DVMFA1DFQNA1XDQNUwUO3FgLkDcwhENVNPnKpKcFVF4A4Q7NEjTu0fmvbqorkJccUkRigW09GyuhYEAdXoZOXkRcg0uMFPGCGsyuku0p3qJuhvRqZUlKdJSK+M/aiqtwkq1SisqkFlriFgCBgChoAhMGERUFU/Dqpquo2q6nVpRQ7PFPcUn7GXD6846jAQ9TM2AAAQAElEQVS99dkxi+5/Srq7ow+vpNzTfXGiGo3n2JNd1ZQKSSZyT21VM8tXjcKqSlITQ8AQMAQMAUPAEDAE8kJAVf2cRlXT9qrqdWlFzKOqAn+gql4b5xVQMPcJQriYJPesq5haYHU1BAZBgJNTNTp5c5nG41XVXwjQIXF7VfVBtlMlkwlvpxrpfETs59Zbb5GzzzpzQHnve35FDh08GEs1cu+f//mt6TIff/zxQTP8x3/8B/n4xz8mLS0tg9rma0CbaFuufCkHfcCG8vPNdzTswCjUhXpRv0KUQz7kF/LmuKD74Q/vL0T2w8pjoOMyrAwtkSFgCBgCQ0Age0wNSVXVj6eMq1MqyrxaVb1LGtWINESR8GRhFFbFjZYrqqonGytcelX1+amqJyFJF+Tf/u3f0mNkuD5nu5dddqm88sorIUlBXMa6UA7+wTJlbGIc5bo9mO1Q4hmL+msfZYY6jkbZQ6nnaNhyTGk7bcQlPFg5HCvGcsbvwWxHEk/+lEPdEI4Tuok0Z6Av069oX77454spx4l8EcqgrJ/97OGCz7HzrY/ZGQKGwOREgDlLrparRvMS5jnJRMKbqKp3ww9pEdVMfYgfz27UovFcQ6ubIVBABDhRs7NTdSduKropCXGqTucC2PO1pWg1hPibkynlZf5mxUX7MDaq6nWqitrLB6+5Rl59bYv8+F8ekJqpU73u5j/5k15dTY3XDfbDpPe5554bzMzH//Ef/bEsWrTI+wf7YbL61FNPybNr1sjatWsHMx9SPJgg2YkqKyvlrru+KZetXOmjctn4iGH+MPmmXfkmv+qqq4Rjgn2h6kL5v/d7v+v7xoaNz/vj/Z73vFeWX3yRbNq0iaJOmtBGJF6BofSveLph+y2hIWAITGoEVDU9XnI9QgIgTLaDH72X7m4Rdf9dOvcrqi4g4glEd6GVMD6XlZb6OJ/Gjem4qup1qupSRP8Zf7g2P/nkU+nxMozXXrdwYWQ4yG8gLQYx89HXX//hIY17//mf/yE7d+6Unz70U5++kD/gkis/xsNvfuvbPqo/Gx85jJ/xQO6ce+658n//791+PpZP+xjLR2uOFIeQcibDnGH2nDny13/zt3njH8doIP8//MPfy3e+8x0/12bO/f3v3ycf+ciH5Wtf/WpGsqGcr/GEQ51XxtOa3xAwBCYnAqqannsw3iAgoaoyZUq5m7pEvAPzF88zuDlLiBdRKbY/IxSL7YidhPpOxCJVVVQ13TTVyM8Jj4QIVfV26BD0yWQSx4tqFO8D7gcbpG5endz8xzf7tE6d4aqqnHfeeXL55Vd4vWqUh2pft7W1Vf7yL7/sVxCq9o1X7aujPES1b5xqrw6Scu2zz2Iq3Lyo9sapDt8/Z+5c+fmjj8k999wrVVVVfdqIrq6uzperOvxyVDPTPvHEE/Lv//7vfcpTzbRT7Rv2lXE/qn3jVIem27Ztm7z66qvyzne+M93+d73rXfKtb3/HlSDDqp/q0Oqg2tc+13EZTv9S7Zu3qulUDQNVw0DVMFDtHwPGR0R6/lQj256gd0pLSryLnSZUolWJ4ifgYcuziHq9au8qRHYPqKrwp6qiqni9kBdSWTlF/vRP/yx9bfaRPT+qKlwnf+3Xf91rVNXnoZrb/eu/+Ws5cODAgDaqvWl9pu5HtVen2tfPQ57/+q//cpYiTz/9tHCdVu1rpzp03R133Cnr1q33cxDVvunnONJnam2tL1u1b7zq0HW057t33503TqpDL0M1vzRzXfumufap6qBtHK05kqpmYDGZ5gyArhq1P+5XjXSqQ3M5NzhHzjnnHDn11FM9rpzDP/jB/TJ/wQIfVo3yHOr5qqoyknmlalSuqrmqhoFq8WGganVWHToGzDUQrnGIapQHfoQP0eFig6hmxqMjvpjECMViOlpW1xEjoBrdfMRPVvz+CUHG04HMolSjdNzMiEY3NpkWUUhVRVXlD/7wD4WnsZE2svfluDKC++k/+AOZNXu2v0kKumz385//nF9BmK0vRHjTCy/IpZdd5stfv26dHHQ3RoXI92Tk8dJLL8mf/dmf+racjPJzlfmXX/6ycFMY4s51E955c+eNqzqOZv8K7TbXXV1i573hYXhM9D4Qxr1crmo0RuaK87i4CO+6c0Y1GnfdRZNB1MWIJxHxBBsX4cdcwugZo1UVb4aoqre78sqrPJkWjwxpcZHf+I3rhNVs+PuTv//7v5MHH3jAVa3w/fmll16USy65xOe9efNmefPNN72/v7qMZz3zij/8g09LQ0ND0bVhrOdIBZgzjDrG43XOwE4b6hbOBebWF114URqP4ZyvL43DeWVon7mFv+4apobpUPpAfA6R7VeN5hvZesKUgctcBb+qEswQ1b66DINxGDBCcRweFKtS4RDgZO0vt+w41b4nsNf4H/E3I6yUUI0UpI+L5Pmnqj4vVZXDhw7Je37l3XLWmWd44b05qlE8/p88+KDP9Xc/+TveDnvecxTscUmPXjVKp6o+DT+qmi5LtdeP/WnLTnMk3C3CaoRdu3bJy6+80sc2uyy2lqhG+eSKI1/qk10vVihceuklvo0f+9iN0tzcTPW8qPbNDxuePCP4yY/0f/u3f+PzIAw+qurfdfWbv/lxaXQ3LKy4vPiiC4V6Ztcv2KtG5alGrq+E+1FVueWWP0vnTx6qKqQ7q+f4UAfaEvIOYdUoL1WV888/X375l3/Z5SjCcQs2PDX/wz/6ozTGcayCTVxHmbQdHS5h6qKqEspHRxw4IfjRIWwxC+GvOtyyjwt5xfvXL7/rKkFIi5CWPLGLh1V726pqflXDQNUwUB0OBhMzjb/45fETHz/xkyQBjgnF2ysEnb5XIdF1VNwfcc7hv2oUIK9sIX4wUdUo3x6XMYBrHxKu0arqx5e/+su/9Nnhhjiu1eE6SxqEa7Vqb74+kftR7dWp9vq55rpo+dxffE4WL17sx7Vnn12TUS/VvnOHj7lxlbSq/ceFa3l2veL6Rx/9OcVnlBdvV2irqnocyAu5/fYv+jkKfjAgDcLWU+YXyDvf+Q4/nqLHBlsEPzrVXhxUI3/8GGD7sVg743G5ylftm8d3/u47vm3i/lSjeNW+LvXpb44UL5c6cYwR/AEf0tMudHEJ8aq9ZU62OYOD3v+nrwVswnHNhS1zLnDDFpxVe7Fjx8vHPvZxnx/zGWzIQ1WF+RbzLsKcpxjhkhd55jpGIX/ic80rVTWj33PuqPbWR9X8qoaBqmGgOrEx4HqSj+Sai6iqfziqquL/nOP+e2+x/hihWKxHzuqdNwKqeZ6mqeh9BvGMw4UAnWpvPqrqJ6WqvW6wHcglnyC8z+XDH77eb8t4/oVN8i8PPCiPPfaY8EEX3qnz0Y/+T39DgT3bZdlGjP9L/+f/8/qnn35Grrn2Wv+epa/89VeIylsefexRWbr0VL9FhK0iJLznnu/6rdX4EVbXQYhRBmVxc/PP//RP/iXX/cWR7s//9/+Lkxba+Ud/+AfCNiPyYbtZ9jsb4/mBBYm/8IXPC+9cxB7SE8KQ7WXgRHjD+vW+Lmxh+vCHP0wSWblqlZD+Ix/5qNAe6r7l9TcE/LzBAD884b722v/h05MPE0/qxRYx8iHpb//2b/vVLe9617vk3u99X+6++7s+TFxcbrvtL3xd0FHv/3HtNXLjjTek8QUTjj3xYPLbLl8wIsxWHbCmjbSdla5/9Zd/JX/1la8IdaFO4bjQVtIErLAjbaT7givzY76vVFVXS/y4cOOZ3b/+6/En5J/+6Z+9fSgb/Cnzc5//vHzrW9/2x4O8TQwBQ8AQGAiBgcbBEKfaO36qRv6Qp6p6b7CVrPE50otTR+O2qvYZk1XVT9oj24FXX0jWHyuaGAMYOxhDeEj08Y9/TF5++WVZteqX0tf3P/nTP01vIWYc5r2HpEHIkvGa6z3+fOTZZ5+VuXPn+R0Oy1es8EnCuOsD7of84uMH4xPjF2kHiuM1LGF8cNn4/7STlZa0g3YyxjJm+Uj3k51fGKvQM86udGOuM5MnV6+Wv/v7f/C4gMFLDif07MTApVzGOsaTn/z0J6iEMMLWVK/I+gHrv/u7v/N5YkdZtPO++77vLfMpn/GS4whGtG/evHl+zuQzGOBnoDnSb/3Wbwt4kZx8mQ8gjNH/9q//5udVf/Knf+LLoR9Qd9qPEM8rb0gbl8k2Z6CP0dc4Jn/iziGOK/OYXNiCF3Mt5lzgHMcNPzrywI9wvC+5ZIU/VwmvGsb5mmteSd04X8if8jiuzEPRUY6JIWAITC4E8plbqPadm5AOpFQVx89jgs4rivBnwhOKRXhMrMpjiAAnsGp0QucqVlX9TQpx2CL4c4lqZKua6cZtSR/kwZ88KDt27BAmuFOmTJE5s2dL7dSp8uijj/otToSDbXDZxvGfP39UEPy8MybE5euyOnDfvn2OUFwqlPv2t7/dX8x4IhvfWvUf//HvXv8rv/IevzWbMhHKHSguux6hnXXz50tlVZXfSsYEMG4Xz486gUn2Nmw+bMMNREh3rL5e9h844OvGU+qgxw15PPAv/yK33PJnwsvmv/SlO3x7iM8lvKj/sssuy8Ak1Ct87OaffvhDvzWcbVy/eOYZ35ZceVH+d797j39JOPXGZs0vfiGf/OTv+NWZL770kj/2Fy9f7ut/6qmn+TB68OUdXg319fK9793r67zm2TVy2aXR9vRQJ44L5eTCivK4caPdHLP/9b9+y+eDHqmoqPD9DX9cKPvWP//fEi8bknvOnLkel7it+VMZmBoehof1gd4+EB/3VDPHRNUoHLfJ9gcs47sCsm1cNp4wdCei+x+VnW1DWDUqTzXTJS5IKA+X6zvXeq7ds924jO7UU09NXxeXLl2aLo+4IIwxr2153Y83pCN9iMvX3fTCC3Leuef6/LnGk455AmMDfgQ/ujB+xMsdKI60cQntRHeqG4NwGWPj9c7ODzvKRo99EMasOXPm+Hqj27r1DT+2VVZWpXXokZDH9ddf5+O+68ZKxh7i4sK28+eeWychnrEuHh/35yqfuc53v3u3L+NUd/yw/8D7P+A/xIO/PyHdYHOkkA/zNbbGgiX50Q7mUcynwJF+gB7JhRt6hLGcdoaP+KGbyHMGsKGv0c6VK1f5D7WEOd+HP/wR/wGjgC3Hg/d8Qyxin0uY42x8/gWfjnjmMB/72I3CsRnO+cpxzJ5XUg8+0kPdqTPzWea16IijXJPoOjwecLA62LEY7T4Q5g+4qpnzC9UoTFwuCXUjTnVgW2zGuyTGewWtfobAWCAQX/zASR7KDH5cRF0ErnPy/q9KqshcVT1BqaqeNIy0ktaJ++PJ7aFDh7zOBf1/1d50qiqsMGPFG09KvYH7UY1snNf/V43Cqpnutm3b5Ac/+IFcdOEFcuYZp0vIg3LD1iryZ0JNRqqZ6QeKU41sSYeo9ob5EAsTNFUlyotq1JZQFivvqBMrJuobGuRgPzj4xO5HVT1OqupC0X9V9bo77/yyX8FJXuQZGqk+wAAAEABJREFUtrKoRvGqvW6UUnw61UgvPX+q6l/U/xvXXedXHPDVzW3bt8uvvOc9GfaqUTrKQVSj7c/r12+Qb3/n73xuPIVndeZbb73pw6FutBsFelWVaz54jV8pyNPv7a4sJqts3YljTxraRR4DYaUa1UtVKcKLqvq6+4D7UY3CqiqrVq3yK0IgErkpOnjwgNep9tqoml/VMFA1DFQNA9WBMXCXmCH/Z5xFSNid6sZxotGXnZ2P/93d0epE7BB0QxFVzTBXVX9dZNzhmkqkaqRTVYLCWMV12Afcj6r6NKq9LlssWZXOmOpM0vH4EdVeW9VeP1sw//VffybveMfb/djMNR57BEJFNbJlnECHqEY61cgdKE5VSeJFVX29CLAife7cuT6sqqi8qKqE/BhnGG9CndCrZtqq9g2r9tWx2pMxkZWMtJVdGaqaLl9VM/zg8ivv/mX/zkoqptobTxhRjXT4EdXM8LJlp6fzJB5RjWxUM9185kiMx8wJOMbMm5gTnOpIWVWV0047Tdj5QVx8LpeNs2pULvMFRFX9K1Mm+pwB7BHVqP2qStCLqvoPJn3sY9FrbL7//e8Jx+Ptb3+H16tq+jiqRtv7v/q3f+t1zC/vvfd78swzv/DzJ/Anvar6vPlRVW+r2uv2d76qKkm8qKq0NDfL3j17hHw5v5lDM6dDR5yq9slb1XSqhoGqYaA6sTHwF4oh/KizZd6COK9/8IWLBB3+YhEjFIvlSFk9R4xArhNU1Z/S6UlAKCRui19VvU2IL4S7bNmynNkw6eRJf85Ip2TF3eWXv9O///BP/+zPnGZo/x/9+c/lkX97RF5/Y6uXFza96AkkcmFVxqGDB/GmhRVx6UCWZ6C4LFN/I8ZW7mx9PEx7Qr2YVPNEOh4/VD+kYphc8tEWtlANJY/4MfrgBz7oJ6nf+c535Be/eCbnVueQN6si4m1lRSZtC/HBXenIO/APbWZLDXFsc2a7GzdcP/nJg8KNCvq4kF9IVwisQt6VlZUSJvN/8Onf92WjC/HmGgIRAvZrCIweAqrqVx92d3f7sVdV0xPu+JhMfK5VjNjIMP/Y7sgrOnIl58FYf9dDtteecXo0rj/w4E/8+4lz5dGfjm22f/vVr/lxOVzbr7n2Wm/OA57s8YsHTtnjtTd2PwPFueiM/xAkB7PG/QwDF+hvrHJRw/rPmEgbaR9kZa5to4yhN9zwP4WVjPff/0P/gHBYhblEb7651f3m9z/fOdKqVb/kj/FTTz0lL764yY2Vp/oC6B/f/vZ3/Lzqk7/z2/L2t/+S1zPv6m9OY3MG8a//4fUsgLVy5UqPH/2enRq8ZxJ9LnnyydXp7c3EM3/iPGIuTbg/Gcn5+m33kJj+izz62H/5VxT0V47pDQFDwBDIhYBqxC3E5ytxf64041VnhOJ4PTJWrzFHICUpX6aqepcfVfU3M5zgCLpCSSCoWPHAxPmAm9CzKoKn90w6mViFdws1Nx+Xv/mbv5b169fLY4895t9HyNNYJrJ518cZMoHat39fxuSHyS8Ekov2K/B4v1FcR3nhRuaLX/yCvPXWW55wwj47LtgRFyRMujdv3uzTcgPEzU6Ip6x3vvOdPhgnNCkrV37eMOvntNOWpTWPPfaoPPLII3LTTb/nJ5lMLv/3//sZGeyPp8zNx4/79xyCK+874hiFdOQDycfN1wUXXBjUOV2eWr//fb8qtBUDji95rnQEIhPlVT03Itjx3itsODbxm6r3vve/oZbnn3/er1ogUAisyAfJ1b+oJ3Hnn3eeJ09VVU5duhSViSFgCBgCY4eAG44Zc1V7x2AKhzzEzY4jjL4QwrU+rD4LRNvWrVs9efQ//+cNwnUYYjGU9bd/8zeyc8cOgRRCx3i0Zs0vhLGCcD7CWPf000+nSamQhvIgRsgLYgU94xLjk3/g9NPofYRh/BgojrRxoZ2MaejCw8HseuczVpG+P+HhKPUnnvcq3n//D4RxDkH3Jzf/iR9r8GcLYyNjJPOg483NEp83ZNvmCnOcwtyC8ZfxjTqAWy57dOCYzxwJ21NPPdWvRKSOHHPKQ4/wnkfKhnBCHh2EdCKPyTRnoD+Hcyv0uY997OP+3AI/sAQ/7HiwSxh9LmlsbJRrr/mgcOxCPHni5/wh7XDOV44peSCPuXklfSecL5zr9CeEh/xhroetiSFgCBgCAyGgqj6aeQuiqp5r8Er3o6rut4D/xyArIxTHAGQrongR4ERHhtsCJhpMdJgUkcdffvnL8u5ffpcnmpjM8xQVou3CC97mJ0SQiayqw5ZJEBMq/J///OeF9yktWbxYWDnBhPjXfu1DctFFFxHttwIxmfqrr/yVJwVRZq/IYwL/Sfe0nNUAoQ7YkQ49foQ6Um9WELAKjrrTBlZesO0EsrO/OFZ2/J//73ay8fW4+U9u9jdIX/7yX/qbK/JhtQE3CBhRFuWzMo+yaBdP80NZTNi//OU7fVrqcdtnPyMIfoQ4JnSBAGNSzk3ZFVdcIbxvCVvyon2/8zu/0++qQsrmBpKyORaQi6yI4BhRzyBMTtnqDCkYdLlc8iM9baV88mRCy3YcjisYfve79/gbVOqGDTd04BDyo4yVjoCkD5Am6LEh/1xYgTd6bDkOYZKLSxg98djhJ2/c0L9CObQbPBD82JgYAoaAITAmCMTeQcL4i+QqFz0S4uL+oOvPZTzkes/1EBvGxRUrlvuHUIS5zl5z7bUSrs+PuQd5XLO5dhMfHvj8pRvT33bBBbJ4yRLhGk8cafbv3y+B9GNchmBifCKeNIx7+BH8jI0//8//FHYfQC6ix/3Yx24UxjrC1JEVezwMYu4AUUde8fGD63V/cdQjtDfMD/7iLz7nV4KRN/m88MILflzCjnGCMZh2UxbtwiaMVfE2fec735E//dM/kdBGwtSf9Gz/JT9ImA984INSXV0tlENeHAPmAx/5yEdpYoYEMpI8f+t/fUKuuPJKHx/yzqf8cBzJg3GYOnBcwPQP/+DTwtjoM3U/9AnaCBb5zJEYLyHByI85iMvC/2dOAoEZjg3tDEIZ3ijrhzF9sswZeFf1975/n9AHwQWcvv2dvxPmlXFYIMeZA+HG9dl+SD52etAvyQ/h4XR8RehQz1fK4JhybOk7zCupH/Pza9x1AR39ifOVeSHnHWkKJZaPIWAITB4EmLsgxdxiIxSL+ehZ3QuOACc0otr36YBqX91gFWDywdPpuDwae1LNzcn69RvSW5ywj+fJZJi02GDLpIX0QfdHf/TH6bRhskMcEtKE/EJexJEHeRFHOnRxCfWIpyEeW9IgueLIk7yxRQKBRjrCCPHo8SPE9ZcfE/a4LdvIENIhxGETL5e6o/vsZ2+TuC31pZxsQR+EPBHqSJ7ZthCm/+2//bf0U/TseMK0h/xITz7kh1Av4oNwPDlGxCHZ8bSB9pFXSBNcdKQJQpnBPugomzqQBpdwiCNf7EM+1IP6YBvkbW+7QFatirZqBZ25hoAhYAiMBQKqfcdbNGxxzlW+KrG5YnLrwrUvXBNxs6+DXJPRI9lxXHPRI+9617t8IXF7xp9wzUWfXR7pfSL3g598kHg5XJMJow8Srt3ZcZThsvL/+4vDJuRDvtgxDpBn0N911zeFOMLoiccu6NCTDwXF20Q8aYlHCJOO9OSDDpfw9dd/WOK2QU+ecSE9+ZAWLMEUPzri8imf/Kgv6RDKIi/8uIyN2CDx/OJx8eNDOoQ8SUNc3BYdbYRoxJ8tEF1xEpN48qBs6kJe5I+EMrBBaDNtJw7Jjqdc2kde2McFHWmCUGawDzrKpg6kwyUc4sgX+5AP9aA+2AbJZ85AGo49pCJ5hPypT8gnuBDnV199dcaOmhAXXOoJDtQNN+RH3YkLduQf4vCjj9vTt0iDDXriSZ+tQ088dghtoE3oTQwBQ8AQGAoCqn3nLaq9r3cZSl4n29YIxZN9BKz8okBAte9JXxQVt0qOGAFWj/DEm5UF9913n6y8bOWI8xyvGbAylVU6tHnNL37R74rO8Vr//OtlloaAITDeEVDNb9xVzc9uvLfX6jcxEIAw/MbXv5bxQBPyiQecU6dOnRiN7GlFoecMrGplDkK+P/3pT+T889/WU5I5hoAhYAhMPARUJ8b8xQjFidc3J2aLrFWGwElCIGy7YlsOW9t4an2SqjLqxfKuIraCsT36Ix/5yKiXZwUYAoaAIWAIGAITCQHmCFf/9//uX2PDw8ggX/7ynfL9+34w4Iq7YsOh0HMGdoHwWh+2nR8/ftweahZbh7D6GgKFRsDyKwoEjFAsisNklRwrBFQnxpOCscJrMpTDdha2tbDCIGyVmajtDtuZ2ObDTdFEbae1yxAwBIoQgZ7xWdXG6SI8epOqymEsZd4QJGwbnkhAhHbG5wwjaR/zDvICM/IeSV6W1hAwBAwBQ2BsEDBCcWxwtlKKDAHeoxivcnY4Hmd+Q8AQMAQMAUOgSBEYt9XuM+72fKwlW58dHrcNsooZAoaAIWAIGAKGgCHQg0D2/CU73GM27h0jFMf9IbIKjhcEOMl77mfGS5WsHpMSAWu0IWAIGAITGwHG26G0EHtVW7k4FMzM1hAwBAwBQ8AQMATGHgH4BOYtY1/y6JRohOLo4JqZq4UMAUPAEDAEDAFDwBAwBAwBQ8AQMAQMAUNg4iNgLTQEJgkCRihOkgNtzTQEDAFDwBAwBAwBQ8AQMAQMgdwImNYQMAQMAUPAEDAEhoaAEYpDw8usDQFDwBAwBAwBQ2B8IGC1MAQMAUPAEDAEDAFDwBAwBAyBk4SAEYonCXgr1hCYnAhYqw0BQ8AQMAQMgZODwKFDh6TYZfPmzfLcc8/Jtm3b+m3L1q1bZcOGDbJ27doB7Yodi5HUf8uWLR6fN954o18cR5J/PC1lcMw4Hsjrr7+eV5kcx3g60g5FaGO8Hrn8lEGelPPaa6/1W69gh22QV199tV/7XGW9+eabHvOQvphc8KG+L7/8sm/z9u3bJfhztXU0dTt27ChaHMGwPwHj559/3rdt3bp1/hr24osvCv1mNPEMee/du9eX3V/9TL82b3w4lgHX4B48eFA2unFp9WOPyU7Xh4O+UG4Y84ZynF555RXfJuo2lHq85a5lqx99TJ78r/+SAwcO+GtCSH9yZjcnt9TBCcWTWz8r3RAwBAwBQ8AQMAQMAUPAEDAEHAIzZ8yURYsWSVVVlQvl/l9TUyO1tbVSWlqa26CA2qNHj8rx48e9nDhxooA5j25W06ZNk9mzZ0t5efmoFtTY2CgNDQ0ynBfwcxynT58uicTo3a6FMqgfx4+b4/pj9X0woS8FrKhPSUmJYE/b+hj3oygrK5MpU6aIqgrpCfdjOu7U1Hvx4sVSWVkpO3fulMOHD0tLS0vaP5YVBjvOf9VR/BDVWDaopyz6YEdHhw91d3dLZ2en72PNzc1eZz/FgYCq+jEqu7atra1y3F0Lp7qxqcJdB7LjRxqeP3+BJJPJvLNhHJ05c6ZwXqsO7VwqLSuTqsiGlt4AABAASURBVJpq6U6lZN/u3cO6vudd0SIwTBRBHa2KhoAhYAgYAoaAIWAIGAKGwKRHIJFMeDJGNfMGSGJ/CUdAQRTNnz9/QOIxlmRI3mPHjsmuXbs8mQJhBqkoKRl1cq6/StbX16frA9mD7HY3eRCd/aUBo+rqaqmoqOjPpCD6rq4uQYaTGXWcOnWqLFy4UCBApYB/TU1NwnGkDMhniMv29nZPktU31PtjS3woEkING0hY6jNjxgzfD0N8Pi6EJEQYuFNmII/ySXuybVRVOjo6PTkM0RWOaUITY0LcS+wPchcMIeBi6gnhzW4T4ba2NmH1IGT3aDSSfsiqT8oYjfwnW54cM1brxduN7tiRI+KJYndNhFyMxxfCX1KSFM6LfPOCmIeAxM1Os2fPHmEMod7ZcYS5llXX1AijcNkojyGUN97FCMXxfoSsfoaAIWAIGAITEQFrkyFgCBgCo4YARBE3S6rc8hS2GMggiDhIFW4QIb2qqqtEtfBl5VNzyq+rq/Orx6gThA8kAYTYQKSiqo5qnVm9h8Tb4EqMBwf1cxy54YVQRAZNEDOANDx44KBk37yDCdhQN8hXbp4hhrl5RjimEIgc55CdqvrVhdywUx+IQchFiOtgM5irqlJTXSOsCmJ1IsTYYGnGU3x3d5dAuoY6gVVHZ4dfnTuWq+jo32NZXmjvyXLpj5CKrIhla+po1IPrBjIaeU+2PLk+zJ49J6PZqipz5s2TGTNnSmtLizS4h1IZBgUK8NBDVQfNjdWJqv3bcZ4jkMw8sOJcj2eqqukHKtlxcbvJ4jdCcbIcaWtnARCwLAwBQ8AQMAQMAUPAEJjcCEBysUJjzpw5frsYhJ5q780ZKxb37dsn2UTWaKFGfbiJZdUcN4psYcMNJGN2udwgQqQhrLRkNQ2ERbbdSMMQIUg8nxRLOeOKPP20EcnT3JtBkDS3NAskDKQhN8esuuH4QEpRN1zIV2x9op4fCCsIx56gd1Q1TcCqqt9eONQ6aUKFNKFcKZI/+kccD7Y+h35GvwPL0W5Ka+sJv3KUc4vjM9rljaf8IW14QAIZXah60e+5BoBnofKcrPmoqixauMhfE1gZz2rBbCx4gDDbkYrqIjj/nVPw/1zn6CsDZcxDEOoykE2Ia2trl/r6+hDMcFmhWFVdLUcPH5ZDBw5M6m3PRihmdA0LGAKGgCFgCBgChoAhYAgYAobAQAiwUg1ShZVtkFSsesOeVXEQidysQ1Lxnrn9+/f7VVzEj4ZQNmQZJAvEIiuZWF2CH/IqXiZkIsINLUI9SU8daUvcNh8/JBPtD+2m7aRDj+AfqlB/3tG3Z89ev8V2qOnj9txccxwgxBBwod1xm1x+CDLqz0rGXPEj1bHCkdVEI80nZ/pRUIIZ2EFq0afAkv5CH2O1Lu0ZhWIzskwmE357NceUFZ4yyf5U1RNWMsI/zvlAJHJckRFmOamTJxIJ4QFOaVmpLFiwIL1yL4ByvKlJdu/YKbt37vQrE7u6u8WxbyG6YC4Phzi2g2XIA4DBbGiPqiNJFy0UXvGgCg2amSpZUiILet6revTIEdekVKbBJAoZoTiJDrY11RAwBAwBQ8AQMAQMgfGGgNVndBE44m52WLnR0tI64oJY3ca7zDraO/w7+CBVWKEIuQj5RDzECzfp+CHGINkgqEZceD8ZUB4ETyiDMGXTZogDyELqQHLqyg0iN5WQQQh+CCHSYB/ISewHE1a7sD0YjFkJiEu5YBHqE89DVdOr/OL6uJ+2QFB2dkYfqCAOnCFCVQdPj30ugYjKpe9PR/0hFSFMKbs/u+HoISGSyeSgWAwn79FKAx6QsxCIECdhS7iq+lWXMsp/rKpiVXC87FEuctxkD4E6d+7cEdcHwokViVyfkBFnaBl4BLiOcn3hWusV7ofwAfcwCSKxsbFBmo8fl4MHDrgY8VufvaeAPxzbwbKDKOS6M5gd7cGWcw5/f/aq6t87yzWhP5vJoDdCcTIcZWujIWAIGAKFRcByMwQMAUPAECgSBCBBIKl4B9xIq0xeLS0tsv/AfoHk4r1+kHQQRLiQa6w842aMrW8QjZQJwcZKQPyFFm5cIXeoG6tUKAeygLKpD9uzww0f9eQGkbpSPwRSEFIRooZt0thD6LFScLC6YocEsgkyM8K6u09S6ggulN0nMqagPQjtOXas3n9wBj/1Iz0ybdr0MSHjqAdYQihyDGPVHLEXEpf3MEIWjTizMcyA40vfz4eYKGS1OA4Q4/QFiN5C5j1e8+J8DecuDzIgt3lFwXDqC+EUyMThpLc0fRFQVb+Cj+sEx4a+Gaxampv9dmCuw0tPO02WLlsmC5cskTmOGK6srg5mBXHpGwNlxLnKdROCcCC7eBzjRDyc7afNbHfu7uqS2uljcz3OrsN4CRuhOF6OxKjXwwowBAwBQ8AQMAQMAUPAEJhsCPDeMW6muLEbSdtZwce2YlWVadOm+e1tkGPc9JMvN22UhY4bN27IIIsgBIjDZjSEuiDc4EEaQLxQh9raWoEoxFXVjKKpM/VD8CPUGYEQnTVrVkG/Wk0dyDeUBzGEZFTKBVqaWzK2h0MCq6qAI3UjPTJtWq1Mq5026qQimHrpTvnt14ORipC5rNCEcMM/kD3HKh/S1sEybv6rqv8yOMdzrCtFv2YF7HAJtbGubyHKg6iHwKWv4ELY06/iK+H6KwdyC7zojzxomJxkYn/oFE4fznGOEdcKcsY9cviwpLq7ZdacOVIxZYq/hvGqjJnu2qqaeT0mzXCFY8tDrv7S84CIB0dcP/uzGY7+0MGDQhurampkqhtrVAvXpuHU52SmSZzMwq1sQ8AQKD4EGMivvPJKP4nFJZzdig0bNghPnlVV7rzzzuzofsPYIv0ajGLEww8/7Nukqt4lPIrFjVnWtEM1apOqCmEmVUvcU0LVSH/jjTf6+oB98HtFjh/SXnjhhcIxzhGdVpGPapQ/ZZEuHTkBPOCoGrWPvv7EE0/IZz7zmYwbwXgzwQvccuGAjjhs4mny8XP+cR5Sn7g9eVEv1aiOHNt4fLH6wYr+pBq1i342mm0hf9WoLMql/NEsz/I2BAqJAKvbIK0g87iZgjQbSf6QKKySQ1jVlytPyoqXww0k2zTnzZvnv8I8kvJDWkhNzkWuf+hCmarqb1ohAyEYqUeIwy5bWOXF6sJsPekg7VQ1IyqUyw0sq3FwWbkH6ZFhmCPADS91Jg3C9mgIkrgp5FpDY4NwYx7XE2brOGU2NjT6KNre2NQo3Lh7xSA/qurnNoOY5YymjJSkhHaCWSAQchljQ7uwgcyh3eCWyzaQpLgQv7lsxpsOLDinOJYQ7GNZP4h5iBH6Nn1iLMs+mWWBORLqgJ9jAFHI+Rf0cRcykePD+U1/BC8I2biN+YeOgKqmE6mqv6aoqnBtUlX/kInj09TYKM1NTTJj1myZUlnp7UioqpJIJmWkf1xDyQOXY0uZhHMJW+UZq3LFDUfHtZvyeHhWVloqrMSkjw0nr4mSJjFRGmLtMAQMgZEj8NyOZvnLJ/bL7/9kp5f7Nh6RxhNdGRlzcwB5csMNN8jq1avl8ccfz4gn8Oijj+LI+vXr5ZZbbvH+wX4gRG699dbBzPKOZ7L32c9+Nm/7973vfb6+F1xwgfD+JMJ5Jy6g4be//e1ByTqKa2ltl69973H59T/8e3nvb31dfucv7pOfPf4iURlCOzgO8XaxpeuVV16RK664Qh566CG55557fBqOVfB7RdYPNzDXX3+9vPHGG1kxfYPkc8cddwj9ZMeOHUKZfa1GVzOUPtD11nppe+AvpOUbv+Gl/ZGvSOrIrpwVhJy77rrrfH9hUsFWi8997nPy9NNP57RHuXz5cnnhhRfSONA39+3bR5TXEYeNVwzh56abbvLnYXYS8tq6datw3Dn+HNtsm7EIQ2zSp/Mp6+DxDtly6IS8tL9VXj14Qg409b4/LKSnH+XquyG+0G4+/bjQZebKL95fcsWbzhCII8DqMG62GxrqhRvreNxI/JBz3JghkG755AWZRH0gmvJN01++9fX1/sYVcg3yjbxZsRTsITwhLiE78ykLO/BhbAt5DOSyfRryixtYysUl/UBpQhy23HTiIqRj/AjxEB/cqNKuuJ54wthT5tFjR/0WaAg7dMTnEtXoZj/EMXcDnxAerquamW92PpTDSkzqhlBn2pRtR1hVheMEOUQfkSL543gg1H2sqtzaesL3fVbmHT1y1JO7Y1X2eCwH/DmfuCZAKkFocV0gzApOrn+c11x3xmP9i7FOqpp+gKEakYfgC85c01TVfzSItnF8ulMpKSktSZOJ6AsllMdxxx0oT1UVHg4NZDPUOB6S0L8SyaTMqauTVHdK9u7aJXx8hnYPNb+JYG+E4kQ4itYGQ6AACPzD2kPy+f/aJ09sOy5vHWv38oNNx+STD+yU193NfXYRixcvlk996lPyla98JWNVFiTJ5s2b5fTTT89OMmAY4gsCakCjIUTee++9wsvVcyQZtyqwy4d8efXN/fKu3/yq3HnvY/LMKzvk5e0H5Ge/eFV+5//8s9z6lQdHrX3cKNx///1DPrajVqFBMs63D3Ss/r/S8t3flvYXHpaug294aVtznxz/6gek69XVGaVwjL75zW/KD3/4Q4G0IxJcnnjiCXnnO98p3BSiG0gg2SDQB7LJN+6uu+7yxHC+9mNt97Wvfc1vkxuo3JSLhEjc5q479e4BRktHtzS2dcn2+nZ55UCrdHU7g0n8v5D9ZRLDOKmazo02ws0eq8S4bgVSB+Lm4IGDEsKjDQyEEsQLJORIywoEFS75ce3FDflCeHLzqKpBNaALkdV8vFnACFwGNHaRtIPVYWwfZ0u1UxXsP21iBdVgN6QcU26isR+ocHAJKzWxg3zNZ3zCdiBh2/xAbQcjSFfKJx/aQ7nc/PPwjZtx9HGhLbQ9rhvPftpEnSFSIHbHoq6pVLeAkT/23V1jUWRRlBHOB64zHA8IRVywSjlCqygaUSSVDHhybnOdRag6eq6JCxYsJOil0T38UVHJfoiBLdcCVo96wyH+QOQ1NDT4VJwL3jPAD9erAaKHFcW4Q9ksPmEXwLwF84X3KO5xpCLvVBxWpkWeqEgIxSJH2apvCIxzBB56uV4e3BxdoLOr2uBu7D/36D53U89tf2bse97zHnnrrbdky5Yt6Qj8H/rQh9JhPAzubMtUdcOLkziZgl9Vhe2EPGHEPggrwVQz06AjL+xxWYWFX7XXDhtWO0IoEcfNFIJfVYV01CmU05/LjfyFF17otwmzfZT0rM4jvWrvdu5gBxmoqn67NzryDe1TjdpIPdDjkp9qpGeF2sqVK2XTpk2yYsWKAbeKf/wz35Ndh3Mfr+/9+wb5xvefoIghC9s7wY6E8fqpRtgSTxzCQEr9wSW0Ff1AQnryx1WN8Av4kBdlkj7YBDvw5ngh+FWj+mCHPYJftVdPOLsPYJctXa88Jice+0a2Oh1uuf+PROqjlYQoWe2HyzHCjct9pnedAAAQAElEQVQXv/hFv9oQPOg31DXgQzsJP/XUU3L55Zf748zWJfTBPrQfnWrUFjCgDOLASDXSY4N+KEIe1Iu05BXqRhmqKrjkF+zoz9ioRlvlQxxpVTPrET82pKFN5Mc5yHGg7diQR7ZsO9ImEInZesLH27vlraMn8A5JOP6qUR2pB4lxVaPzHwKYeqpG/ZD6EsYG24EEG/LHVY3Sg6lqdC6DH+mDTbALGIADftWofthhj+BX7dVTr+z+gp2JITAQAmwf5QaPmzlu4CAPuQnjppubIU2osBoOkmmgfEYaB9kCaceNp6qOKDtPFDQdT+fB+crNourw8wWPzq5Ov4IF0isfUhHSkhtqSDP86QoN08P1IH6TPMxs+iTjhpfji0skxAskGP7hiqoKbeaY0p+knz9WckI6JjS6zaRs6gGZSNp+khWV2repvUPoQ6Ndcc5fVt9xLlNWcPFPbBla6zgmiOEzNNzytVbtvdayW4SHB4wzCxcu9CsTS0tL0llxHKJAb5ooHP1yreW6F4Xy+4WI5EEZY8FAKbhGEU/deKiCfzChLvn2G1ZgM6b5c981r3baNP+xmbKycuG9ioOVNRHjoyv9RGyZtckQMATyRuA76w4PaAup+PMtjX1sIFWuuuoqYRUSkUyM2e581llnEUwL2zJvvvlm4WINIUOYG2WErXyQU88++6zfxhMScYPOSseQBrtATmzbtk2whxR49dVXPUGIHSscf/zjH/tt1vjDdlu2Nf3u7/6uPPDAA74OECKs7Apl5XIhBa699lpP/LAKE+Jy6dKlcqEjGAmzVfiRRx4R9MFuzZo1Pn8I1YAJ9cGWmxXS035wCvUJ+v/4j//wbRpsi+pPHn2hXzIxtONL9zwavGkXIhQCS1VFVQVMVq9enY6HyADfoIAE+r3f+z3fHrBke3TAjJtEVqdyDGgrxzyk688N+ZMvacAEP/gEDMCG446eumBH3+B4s7UesnqaG7ixJz34gyVpQl9BzwpCjj31xh1oy3X7sz/or8ppfftzP0r7KScdyOGJ9xv6PDd0mLFFGveiiy6SJ5980m9Fpm2cQ/QfMCWec+If//Ef/UpH8KDd6PBDQsX7Ofb5Cjhdf/31vj/Hjx3lgzP5Q2bTn4MdqzBZUQKO9HnywC5XPTinaS/1Iz/6/z333OO3vJOecxUiI7u+bZ3dcqilM1udET7a2iXH2/NfkRHvD/QVjj/9j/pQl6uvvtpfM2gr/Zo+wmpT2hj6eEYFYgHyoW/SR2kn/Q3/aPVjztl4f3nf+94Xq415DYHcCHBDVVpaKtz48L5DyB1ufiB1OI9JparC9Qkd4YJIViYQWJz3EExZUcMLam8ybmZVexXcZO7du1cgrXqt+vdhT/sZU3jHFu+n4zrMjW7/qXpjuNb1hobnoyxWR3KTDFbDyyV3KuoHeZcvHrlzydSSJ3WG3AI78s+0iEIcG+YY06ZP8/ONSCt+PsE1mZt38KcvEgb7YFMsLudYxZQK/0oBxn2O42jVHdwL3T9Gq66W78RFgPMakg4yEUKNljLOIPjjUjt9uqTcv/r6Y3G1vx7wWgr6NO/WzYgcJMCqU0wGOxeoG/WkXpynpBlMVNW/UoB6xW05t7N15AkGEKnURVX9eyLnL1ro2xdPP1n8RihOliNt7TQE+kHgYI73lOUyfeNIWy61fPrTn/bvUYT0gPy47LLLhBuIYMzFmBt6iAt03LhDPkBCIRBoXJgRVlNgg3CDzo27qvoVexBi5557rkAIQGhgjx032BAFrAK6tZ93MEJE/fznP/f5qKqQ72DEEPlDQFI/tvkShoiEZKENlI0wMAY76oYOTCBnaDt1o+3UfXUPgUd9sDvzzDM9VpAt+b7j7sUte0g6qLz6Zu+qOozZgs7NFgMjwiQeMoU4hPIhVvAj55xzjgSM8KMLwk0qbQaT7Lhgk+2G/MGIYwZR8oEPfECyCRzisKEu+CkDYpP+AO4/+clPfJr3v//96SKIg9xBQRr6G+kIDyadO54fzES6tm8c1CYYUC7Y0G847uipN/0Gf7YEezAljnNi1apVvl+Qjm37uLSLvjRQPyd9f8I5ST+mXtSPcjl2YE3eIR2rfoIdBBvpOBbc/NFvsc2uB/0czEN7iUdCngO5ze19Vz7nsm9p786lzqmL9wfqTzsg+7l5ffe73y3BT3tYYQ1JShsgXbDPmWmPcrz2457qmWMIZCDADSA3VZBmjFUQe5zjGHFzBpHDzRfhoQpb1lgxEgSSCKIJ4pK8IOcom/OKeqAbiXDjhuTKg+sTAjEXCFLGOM5r3qfGCq94OmwRVjhCfIEBGDEu9XcNgDwL+UCqkb6/+sTLGshPeiSXTVlZmf/ADNhxnBD8uWz70zHWI/3FD0fPyiPqDNZgQD/guEMwxvOjrhz7ObPnCHUPcaQPaSHh8CMhvljc0A76W+g/o1F33p1IX2allWovgT4aZVmehkAcAa7fnMf0b8YOBB3huF0uf2tLi9Bb+cJydnxIT17ZcbnCYYzJ91rGA6J88w7lQW4yJrJyP14O1yZ2z8V1pKENlMEDO66D6Ghr7bTpeCedGKE46Q65NbjIESh49bvzu5+X7n4MIcVOPfVUgQh57rnnPGk33EpCcMTTQnZwEUeYrEKsxOPxsxpJVQVCCXt0uSSbUMuX8MiVVz66U045xa8ChABiKzP4xAm87du3+1Vo+eQVt+nq5zjEbfD3d7yIy0cgfSGJVFVYXQcp09+NVj75jdSGvgFpHW6GWRkWzzOQn3HdoP7u/EmqkBeEFDdPkFBBF1y2CFPHEB6um6st+fbz4ZY5WLpws91fPZhQQVgPlk92PE+ws3W5woV6FRKEAeceZOJrr70mXDMgIAlzLctVdiF1o9KPC1lBy2tCIsCKCm5+uDnEr8qtnoiqepEh/LHijQ9DQKpBpnS766iq+ve7QdoThwuZBFlHmUPIvl9TrkE8dMyVH+UwNhCPn0yoGwQgdQkkJ3oEG+zJC0EHLgEjwnFhey/EJDeb3NxClkKqxW0K6VdVgeyEBOaGlZtdwoUsY6R5MS8DX/oBGEMOMg7E8wXbyqpK/x41brbjcfQbMCQfyXMeGk9/sv3UmzZQD9pJ/8FfKAFbSPpDhw76Vbf0OcosVP6WjyEwGAIQbPQ5zlOuoXzVeLA0Ib6svNx7VdW72T8Qctm6/sJcO7ie9xcf11PfoeQd0oY0nHdBh8v1Fxzw5xLGDMYd1aidLS3NucwKoRvXeRihOK4Pj1XOEBh9BOZNLc2rkCXTynLaQTKx1fHWW2/1q6pY+RQ3JMzKPuLRM/FkhRDEDDfX3MxDwqBnCyt2kBYQhGxdZYUB6VjFhx3+uJAeUoCVU3F93A9RwM0IKxPRUxbkD/6hSi6yhzx4Sh8IFbZ7MsDwVJmVimFFGHYIpAaTw1Af2siWbuIGkzNOmTOYiY9ftiQ/O2+c44eVgxxXBuf+yNyQrD9MQnx/LsQOGOWKh8zkOIEN/YC+AilLv2CVWDwNcdhgi55jm6uvEJchiYQk687KUOUKJOefnVZDat92222eZI2XwVZYbjqJTxsPw0Nb6NMhb84FBN1g/XwYxaVXoWanpX+G/hz6KTfhueqBnvOLfk8+HLfPfOYzGR9rQp9LppTmNw3Jx45ziD5AH2FbN37KpN+EVZ9cj1il+d3vflcgPHhlA32NtnKdwH6octL78VArbPaTHgFWRENQMW5BAGbfRA0EECv1kECm4HKzx5jHChauB+QNwQLRMlBeQ4nrzU/9Vm7KCemJ472RXIdCmdyEcrPHGIYEW1zsEdXoJhBdf8IYBWmGPXnTVm6w+7MvhJ62gSc3ubSB40M9wLoQ+Rcqj1A/6sVNdy5cVCNylLlieKdidvn5PljKTjcewvQz+l3fuoxMo6qe7AfXgO/IcrTUhkB+CKiqcC0P1036+Pz58/37U/PLQaS9jV1tKuUVFX2SqKowF+sT0Y9CVfuJ6avmGt1XO7iGhQKqUb1Ue8vjtT+sFs/OAbKfh0tgxNhAfPPx49J2Yujv/CZtsUui2Btg9TcEDIGRI/DhCwZfon3VGVN9QZAFbDm+/fbbZdmyZQLxwU0521chCQmjh0hjCyREC+QUN+2q6lftfeITn/BfyIUEhJzBjiXqTMrYXokeoRwGMVWVu+++W7jph3CE4CBfKgR5gE5V5Qc/+IHfzkwcxAx2kJlMxFlh94UvfMFP0CjrkksuIXlaIG2oB/WmTNLybjvCvFPugx/8oM+bsiBLWLXHFmZW8oVMrrnmGp8/baXNDJiQF+RLmWyvJB3tgGQM9QEv8ucmAgywpw0h37h77a9cFA/m9P/2B1dJeVmJj8tuF2GIlrAFm63DrKKkPNpM+7AhMXGq6tukqvKjH/1IwAJMwOb3f//3BXvSkZ40QcgzxHEMwAw7dPjDhybI76Mf/aiAJdjQf8gDrMCMY8GWZ/oD/QtCS1UF3NetW+ddCMZ4X4GwhtiL9wHaTL7ZUrb82mxVn3DpRe/P0FEeW5g5TqoRPhigpxywASPaxvlCm2gbbaTetAnCDhdM4vacS+GcUFWh36Lrr5+TH/mSP+VQDwQ//Yp6UE8+GEN9CFNe/NjhR0ccNhDIEA7kraoCWcs2aG4Ic9WDvk78E0884fsK/Ti8+oBjwDHn+IAFdYtLpSMUp1ck46o+/prypEztsQHfeN9VjfBXVWF7OOccfYU+A76q6klTjk3ImDawwhVcsad/8g5T2hdsgjse+jHtCP0lnJuhfuYWEIFJlBU3QGVlZcLNF2QVN1OsPKSf4fYHBQ9NOI+5iQo2+Bm3IOjZlgkRRr4hvlBufX29X9VPeeSPhLyJo95xHTfEYast8cwDgj0u9eRahX8ggdCBRGSFDu5AtoWIKykpkfLy8vTNO+0C9+GWTRt5nxjX9Dg+hagr2IBLyAuimRtw8A46XFX1cz/eqdgfqYhdsYmq+nOI80kK/AeJONxjXuCqWHaTDAGusWz1LSsrF94TyAppHmwMBYaKKVOceUq4JjhPn/9c5/oocygg7ZiT5ojKqaLuOSMGUTKGsRqxzI2LcVPuQxBVjav9x5g4P0N5nK+HDx0S3AzDSRIwQnGSHGhrpiEwEAIfuXimvHNJdb8mn7lqntT23NBz0w1xwEWUizzEDTrebYcfQU88wo088SENOm74Q2HEoyMNecS3IuMnDsFPOvwI6cgjroMQCXFBD7kHaRCvF2URJn2QYE96BGKTtPipO3XDj0Cmkgd+6kUerI5Yu3atf+k49rQZPfHYYQ/hgUvZCP4QR5g0pEUX2kcecZlSUSr33X5DXJXh/+Xly+Qvbvp/0rrsdhEGj9A2yqKOlIcfwYYbEIhPwgg3Y2xpCvUj/de//nXfXuJJny7UecgTPYItmOFH8Ie2k1/AFh04uOQC2UMY+5A3cUEHlvgpB3tcbBH86GgHYcqnzeiypeTSD0nZJb+WrU6Hp/w/t4gu6F2hGCJC3uSPhDpSDuWho20cpRluTQAAEABJREFU03i9qVvcJrufYU9epEdCHvHy4v2c/LADC8oJ9cOPjjiE1XvkhZ/6xY8dfnTEYcNWQPJ58MEH/fEljjqj668exGNHHgh22Ie2kC9tQ5ctp8wolymOWMzWEy5LqpwyvQyvl+xyKCsIWHgj9xPKJS6ud1FC3agreREmHsGfLejJAyENfRc/gj9gTPtGqx9TT8qmTOqeXUcLGwLDQQACkC21EG+QQpCKEFe5VpmRP8QWZCLxEFNsf4OswoWcQwexgot9oSXkm0p1p7OGuOL9VtQbMpT6hUjsIdEWLVwkdXXz/RbiEIdLXRnXSL9n956cK6rJl9WJ2KdSKX89xD+aAr4QdZTBzTht5PgQ7k9KkiWS6wad48PcBDKAY8QNMwQBN8+58lJVv3J7IJt4umxMuMGmn4ArErfleNDnaqfVxtVF7af9tJc+dGD/gZx9aLgNhAzn3Mp1XIebp6UzBAZDQFX9g2H6XVdXp/96M/7B0sXjVVWqa2r8mwyaG/t+0DNuO5ifa8pYkHS0ketkdn3Q8ZCEc5xVibic99l2hw4ckJbjx2XW7NnZUZMibITipDjM46aRVpFxjMCt75onv71ipixzN+/JhEqJGxCuPKVavvq+RbLKueO46pOualdedoY89p1Pya+9621Skkx4OXvRbPnfH3+33HvHx2Skf6xu+/KXv5yRDR/c4WYkQzlBAuXv+3OZ8v7bJLngfEklkl5KTn+nVN3wTSm57DcmSCvHbzPKHGl47twKqaspFSYlQea58PnzpgirGMdv7a1mhkBxIpBMJv3NIq6q+ncgcuMGMZe9DRpyiO3RgdiCkApkFW4iwVkrUn+sXlhFDBFWaFQg2agfJGF4OEHZrCjp6uoSdGy1jpdL20rLSqXMCf54HH5uDMm3rb3Ntx9dEMjE+vp6/xXfoBsLlzpBYnLjeujQIWGlELr+yuZGeGrtVEea1vl3FcbtaDOCjmPEzTF4QS5CGiLgyYpIyKsQDjYcZ9LmK9QT6ezoFPoLbQhCv6IOlE2Z+eY53u3ok5wXrSdahf6CFKLOqio83Js1a7bfflqIPC0PQ6A/BDhvQ5yqCqsSCXd0dMvOnY3y/PMHZM2ze2Xjxv2yY3ujtA/yoTyuOwmXT0++ZDUsUdVhpRtqIhZQ8FAtV305vxGuxbhc04Id6Y4ePizHjh6VmtpamTlr1lCLnhD2iQnRCmuEIWAIFASBD5w/Xb76wcXy0I2nyU8/dpr86VXzZNms8oLkPVEz4eYpvl00vkJiNNt81qnz5G///Ndlx79/wcuj//cP5KYPX1mQIlndxtZXtlqqqn9ayVbjsVgdxZZOtsiyFTh7G3VBGtdPJiUrPiiVv3OPTP3cOi9T/udXJbFsZT/WE1dN/+XYswqSfk3/HovWJl0/WzytTC5ZVJWWJS5cktCxKL7gZZysflzwhliGEx4ByB2IC9XoXINggxDkAyRhRQbkECtFuIniRhESC3IIPy4gQRg1NjX6lYAQVOgKKZTtV7i5mzbKJW9ciLBZ7iaOlZahLsTlIyFPiDTIyXia7q7uMScTQ/kQpNy4ciyoY9DnciFRwYWt683H8/sgALhBGiIQfGzpo/0QjsSJiN9yTdxQSUXqmJKUx442BIGgpT9BTocysJ0oArHIOQLpUKg2qaqbf4knlQuVp+VjCORCIFw7uQYw929p7paXXjohP/ynzfK9BzbJPz60Tv7h4bXyDz9dJ/c++Lzc/0+vyL/+65ty6FBLruz8+c+1K1lSkjM+XyV55Gs7EjvOW+a/ufJgfIiPaZCtqupfd1BVWSmHDh50D63KZM68eVJSWiqT8c8Ixcl41K3NhoAhUDAE4tsRn3jiCb9KomCZn8SM4ltGGdDZ+jkW1YG0pDyEOoxFmVZGLwKs8qEfgz/bbOnfvbHmyxeBMe/H+VbM7AyBLAQgdyDlIKZCFOc/ZBY3WRBCEFzosIVgituSpqmxKb3dk5syCEkIRlZy8FoAbEYqlAvBFW58Q37UiesWW0SDLl8XIm5a7TR/M0g+IR3kF+RoCI9nFzwQjlFnV+eQq0raQBBnJ+bYQ1Rm64cThnCjP7GCj74xnDzGexrOkfFeR6ufIZALAa5/EGezZ8+RV1+tlwd+ukV+9NTL8o9PrJFHNr0i697cIS/t3CMbtu2UR158Ve5Z/azc9/h6+enPXpdn1+zpk2VHe4d7rCBSWlbWJy5fRX19fb6mGXY8uMhQDBIIKxPn1813BL72sYZk5aEL10oieRCDyzX3yOHD0p1Kydy6OikrHX5bya+YJVGoynd3dwlftrGLaaEQtXwMAUNgIiNgbTMEDAFDwBAwBE4mAqw8hPRjJTIk4EB14YYTUo+VbOHGKti3sWW4o9OvSlFV//EU7FnJwcrBYDcSl/yQXHlQH9W+N4K5bOM68ksk+94KcS+DxG3Hq58VfxCgueo3UFwu+2wdq3Jmz54trADlpjo7fjhhbsKR4aQthjSsUiwUiQ6ZC9kBGVsMbbc6FicCiUTCvzIhkSiR9RsOySNPvCHff2advLp3n9S3tMjxtjZp6+yU9q4u77a48FGnf/3AIbn/F+vl3555XR57bEdv4x3B1tnZ4cPdLk2rs/WBIf70d10bLBseXAxmE4/nIRhhXo+BG4RXfzAOMD7iD+chhCV6Ro72Eydkzty50t7RIXv27pFgE/KYLC5YFKStrS2tcuDAPuloby9IfuMwE6uSIWAIGAKGgCFgCBgChoAhUPQIQCAirEJDBroRgnjrj0wECG6u2OaKy+pFVjyyarCsrMxvC8PmZAmkGjeAuPnWASyQfO1Pph3kHCt5ct18E4eedzIOp44QDYFIBA/86IaTV39p2G7Ph2NUh04I95fnydRDKPIBO2Qk9YBM5B2arBQeST6WdsQITIoMko5M3PL6UXlq3Xb5100vy9HmZk8gDtT4TkcWHnF2T7z6uqze+JasW7cvMnfnMuc1YwHvFzx88FCkH8IvY8lY9X3GKcrLrh7E5J49e4RzkTGSeFUV/OVubDvR2irTZ84UcTqusdjv3btXJuNfwQjFtrYTcuTwIens6hyTr6BNxoNlbTYEDAFDwBAwBAwBQ8AQMARGigCrqLgxGiifsBWWrca5ViaGtOE9jLhsIx4N4imUNbibacGNoqq6ez7NjOgnBAE3FPKxn2zGVA1xiOQqFP1Ib8whBzj+5JPqTuUqZtg6+iB9keM07EzGUULagUDCj6RakBxss4ScH0k+ltYQGAwBHhZs375bnvnFbvnPl1+VphMnBkuSEd/YekJWv/aGbNy0X+qPRWl5d2LdwoUyddo0OX68SRrr6zPS5BNQze+anU9eA9lwDcr1oITXaBDH+RzS837JqTU1crwhel8wKxOPNx33q/OxwR53sknBCEXA7k51i2MTJxuG1l5DwBAwBAwBQ8AQGC4Cls4QMARGFYH6+nphNSJbnFlBgZ+bSObuuQqGDIHI4B2qbFkmnOuGK6SFeMQeMnEgu2A/lm5YKQmxNli54AK5lY/tYHmNl3jaDyE8kvpw/MkDYSXqSPLKTgtJOdFuwuk/ENP9rVJsdQTMnt17pL94MAITVihy7hI2MQRGCwHVpOzc0ynPb9stR1vy+7BTdl0gIZ96bausfa5nlaIz4JUJlVVVfhtwZ1eX04zP/4yDSHbtGNN4r6RqL7F5YP9+OXr4sCQSKo71kq7ubifjt23ZbRqtcMEIxdGq4HjOl0HwxU0bBMGfq64MCNu3bZUN69bI4UMHc5mYzhAoOgSswoaAIWAIGAKGgCFQPAgcPXpM2JbF9i2IipYB3msF2QiJxErDZCLpt3yxlXOg1kIqJpPJgUwKEgdRs2fPXuGdVgO1IRQGwcnKSdoU3pUV4rJdsGlra8tWF3WY9hfiuJAHhCJb3wsJCDfySCHzHA95QSpCTtNf4/XhvrCxsUG4byQ+m1SkD/Je04MHDwp9Ebt4evMbAoVGoKOjS7ZsOSYv79sj/ksqwyigO5WSNx3RtnNXo3R1paS5qcl//bj+2DGBjptSWTmkXFVVGFOGlKjHmHGrx5uXs2DBAmE1YrYx5bNSOOi7OjvleGOjpByJOGdencx36VRpXbCY+G5/LRy3hCKDS7sb1HmZZ3+VH0i/Y/tbsm7tM9LYUD+Q2ajH7dq5Xfbv2+sHjlEvLKuAPbt3yppnVg8ob7z+alYqCxoChoAhYAgYAoaAIWAITBQE2K46e/YsYesqBBMkBQRbdvtUVbgZY2UG778ivqS0xBOKEHgQIOhGW9hyHMjCuJ9yqXtb2wn/ZeZcN4HYZAtkGKsnWW2ZHRcPc++BxHXF7FdNCMe7UG0AR0hFVu1ALKqqqGqhsp9w+dBXIfEh8PmwA+9jO3DggF8t3J3q9iu3ss9DCAwwpq/yMZwRgmLJDYFBEejo6Jb6423S5HiXQY0HMGh3hNuBhkY5fLhVyqdMkfqjR/23NaqnTs1J2A2QlSc2IeUHtOknklcF9BOVU805N3v27H6vZRCO06dNk872dmF8WLhkidTUTpXy8nIhTtWugeOOUORAdXV1ytGjR2Tfvt1+EpPz6A+g5Clq/bGjnsTDHcB0RFEw12+7YLkg+HNldtqyM2TR4lNyRY1YRztf37LZP8HKldmChYvlslXvkNraaZ7lp56r3n6FIOjnzJnX78mTK7/xrNu7Z7fs2bNrPFfR6mYIGAKGgCFgCBgChsAACIxOFEQQN018/IJ3QHETBLnIDRE3UoSDzJs3T9gmG4goyEjSMufMJj8KXVu2d0K6QFyqRjdplAsxQ1ms3mKFF37aFOpIGGE1GOlzrUTEHsFu8khKwAJSq1BtBkP6A6QXfQaX/jLN3XAXqoyJlA99l/5M321zhA39mfOI+136L1jSp+m7tBsdGEOoBx16E0NgNBBIpURaT3TLcd6bSGBEhaTkYFOTHDnaKvTh8ooKob/PmTt36HyDu/xzLgynOpxTQ03Hg7T+0nR1dcmRQ4ck4cakqbW1wmrLUDfK4mGVqqtwfxlMAv24IxQ5aEePHJH9e3dHRNkwjs/RI9HXhOgcxxyxSGeeiMeyof6Yf8o1UNsSiaSUlpX1MUE/d958Ge4K0D4ZnkQFbTh29LB7muGuiiexHla0IWAITEIErMmGgCFgCIxzBCAnIC2SyaRf2QeRyCrEOXPm+FWLhBFujpg7JxK9twekSSbcXLK01N8kyij9QSZCoFBPyBeIGHShLuiYz1dXVftVIZBYoSoQZhCJEDcQoKzuCnH5uqyEJH2+9sVgB2nFKk7I40LXN9nTlyAU6TsQl4UuYyLkxzEIBGJ2e7jnhWTEpd8TTz8/4u6D0dHf0ZkYAqOJQFdnSjocaTbSMuAj2zo6pb2t02cF+cb2YPq4Vwzlx93Sc+4MJUmwZSxAQngkbmtzs+zdtcu1qU0qKiv9exNVNSNLHqaoZuoyDCZBoHfGcJIbS6fp7OyUo44YOnhgn5SUlMo8R3hVVEwZUs0glzpn1wYAABAASURBVA4dPCCz5syVSjfpOHGiVY4dOzKkPIrBuK3thOzetWPYhOCW117xTwvOOOvcYmjugHVkZWJTU+OANvFI8xsChoAhYAgYAoaAITDREYCg4yMshw8f9itF4u0tKSnx25sDYRePy/ZPmz5N5s2dN/Rta9kZDRCGIGR1JORXWPEBwaeqfscRbaHOVdVVfqsZhFbITlUFAqatLXr/YTwu2AzkQkgeO3asD0YDpSmWOMjk0ST7wFpV/TGKY0K/QuI68/cioKI+EI4P7/mETIyfq4afh8h+RhmBklKVspKSEZeiqlLhHjxVTCkVVZWaqVNFEwlpbGgYet7u9Air6bnGDCUDxgEIesaMeLrB/LyOYO+evQIZGWTv7t1yovWElLh2dTuSU9VVLCsj6qeiWdrJFUyMl+ZCKLI9+eB+Rya6gzZ/4SKprpk65Hd/1DfU+/3tbOedNXuOb96xo7kJxe7uLnlz6+vy3LPP+PcMrn/uF3LkcLS60Sd0P5CbGzes9fFr1zwlb735hs/fRQn5vvzi8/LKSy8QTEvz8eP+Qy3P/uJJ/zGWE62t6bjgoa3Pb3hOsEE2v/Ki0PmJj+eL3cb1a73dpufXS5sjEpHNL78ora0tAmG6cf2zQl5tPRMp8hhIWlqafT7ZNjwJ2/rGa7J2zdO+vc89+7Ts3LEt3V7a9erml2TTCxvkwP69Al4vbFzn8moTsIynJW4/L3ftKYT4gbCm7eQNxrz3kbIhCnuSuzJOyEubNnocXnl5k+zc/pbs2b1TeFfm3j27fB2pK2mNXAyomWsIGAKGgCFgCBgCkxUByDnew1ZdXdPvfLqpqcnNJU8MCBFEXmlZab95DJg4z0jKYKUb27JZ9caclPc4sroLQqzVzaVZeJCLZFFVUVVPkJJPnkWmzVSj9GnFBPKojn7bVPuWwbHjOI4AygmdNCXuXyqV7rf0bVYmcg6wepjG0/dxTQyB0UJAVWXGtCqpKa8oSBFzHYk4e2aUV8oxcKnubhnONZnKsGKe86Guro7gkMTzSvX1smfPnrzTMcac8DxLm+Md2vy4eMJxK4lkQpJlZZyx/eZVN7/On8v9GkzwiDEhFLlIsmqQFXUQRxzkOK5dXZ2enIOAKikplXl1C2SgyU88bbb/0MH9MrV2mp9U1NZOl7KycmlqbJCW5uMZptRhy2ub5fjxJjnv/AvkwosvkWSyRLZv25q23bd3j0BSLfDvInynTJ8xUyAY0UPKbXtrqzQ1NXoyK2ROOa+9+pJ7elohyy9ZJaefcbYvI8Tjsgpz797dctY558llq94prBIkHR9IgbQL+UIWkv+FF6+QU5ae5jp2q+zZvcvnfdHyS6XGEa4VFVPk4hUrhTAnHfnnEo7Bi5s2eKLQE5O8KyFm2O3I1ddfe0Vo19suvNjXvdbhuNeRddSH47Z16xZpqD/mnkJ2OOkUv2U61e2eCnfKG6+/JpWVVXLJZb/k5O3uqUStI/u2yeFDBz0+g2H9psubss9/20X+WHDc2PaOjmru3rVTShzRfOnKt8v8+QvloDvO6JeccqqctuxMP8ldvGSpfz8kuBBnYggYAoaAIWAIGAJjhYCVM94QKCkpcfPgMqnteYF8vH6syNvjbrZwmSPG406mnzqz4qOmpkZYqQip0tXV5R5cd3vJVTfmqLQhSC6bwXSO2xnMpCjjwQ4ZzcpzzMrcDXe8DG7OmxxZHdf154f4Zttgf/ETWU//pv8GlxWLjY2262oiH/Px1baUdHW3S3VVidROqRxR1UqTSZlZXSnTplf4fNrb2xwJJ8K7FL1imD9cW3hfayKRGFIOXPd4MMUHkXIl5JUajIFBOAfjdqoqiWRSko5/UFXhjzxZyXjw4EE5euSo5zjQU0fVyIbwZJPEaDeYA3no4AGBLGRVGx9a6WhvTxfb5cjEI0cOyz5HsJWWlknd/AWeKFMd+kGBlGtzzPLsnpWJ5eXlArno6+CILYn9HTt2VJodmbhgwSKprKqWKe4kmjN3nrfodBMX0kAe1k6bLnPn1gmdeL6zLS0rc2Rah0CenXv+hQKh5xP1/LCqTjUhEIC8h4byp0+f0RMbOXz1ucERc6zuY3Xilldf9tssWluahWaHfMvd04JFi0+RRCLpMKl1bsKXHeUytF8G+/BRFtzsk/vw4UOO+Dwu8+bN91iUuXaecurpUu7qcPTIIensaJcLLlzuid6Ue9pAm6jbxcsvcyz+Cak/dswRiG8JKwz5uvZRd0y7HUlJOwfDOrSEMiscQcqxqKqu9hPHlHu6QfyJ1haHUbt0tHd4YpcVqOhNDAFDYAQIFDDphg0b/Lu4VNW7hOPZP/zww+76pl5uvPHGeJT3swLlyiuvlDvvvNOHi+Un1Fs1altVVZVkt5220GbVyAYs0MWFNIsXL86ZNm5nfkPAEDAEhopA0t0UJbJuxiDsKisrZfr06W7eN2WoWY66PfNW6l1bW+seJM938+AaP37kKphFAgjzbtLlshlI1+Xm/d1uzjqQTbHGgUtLS4sgo9UGiFzum+L5gyn6uC6Xn2NcUVHhF4Lkip/ounB8jhw54smJfHGb6LhY+3IjoKq5I0akTcmyU6fIxQsXDTsXPlhy7oL5cvrpMySZTPhdlw319UJtOb+HnXFPQjidumGsVIQk5FUCgTQ86IjAvXv3CsKW6La2NsdjRNJTVIZT5rikpHswF5Scrzws4XUcjU2NcujQIX/eEq9Ka/FNPkmMZpMZXPbu2eXA3i+QdrNnz/VbilldxgWTg3LEEU8H9u31Hw6pW7BQqmumeuJsOPU65EhDVvhtemGDX4nH9ldIQfJqbKzPeN9gqyPvuh1ZBYlFPMJKRFYVTp1a61++2e6Y9fKycqK8sGpy+YqVsnjJUh/O/uEJE+WTJ0RciI93RGzaXedlO/aqni8uB3fFpb/kcQrpcrmkzaUfig6yrrp6akYSiD9xzxESiWRaz8mLLceqxU1GQkQyWSLJktIQ9JOUREIFojK0JbinnX6mtA6CNRmdfc75cu55F8qhwwf9dvHsree1jthtaW6WF55fJ2wzr5laKxwv0poYAobAyUUAMuzyyy/31wJq0uKuFzfffLN/SEGY+Ouuu05uuOEGeeihh+Tee+/tQxzeddddcvXVV8stt9xCkqKRavfw44knnvCTEwjBXBWHJKXNtB0MwAJMgi2k5Be/+EV58MEHZfny5UFtriFgCIwiAidaW+XggQNuXnrYPTTtGMWSxmfWEG9Tp071D4CSjnAcn7UUoZ7MRyE+q9wDm+x6clPINVRVBYJ0ODev3e5BOZKd90QJM4/Ph9wbbnu5nxsufiEtfZD7p+HWoZjTgR33zKENYBL85hoCIBBkNPpGIiEyv65cltXNlAXTpoWi8ncdjzZ1yhS5cOECuWRFnRw7elR2btvm353Ih1myFzHln3GmJePAggULMpV5hMAsEIcQgRCMCNfFwZLzDkhVzTAjP8aihAOO+x3CGEB4qjowCUwyGbVWQ3yxxRliqKamVuY7snBe3QKZMYNtw/vlwP59wiq2fXv3CB1twYLF7unjVGFAGc4xaGtjldxROfPs8/y210BoXbbyHY6krJGW5hbh/YrxvHka2dBQH1f18Tc1NWYQkX0MYgo6FBJT9fESj9ABKb+PwRgpTj3tdIEszC6OusV1qu4kcqLq3HhE3J9KCSdlU1NDXJvhp60DYV1/7KiwYnPfnt3CKskZM2dlpF+4aImccdY5fkUo29T5qMyundszbCxgCBgCJweB7373u/Lkk0/6p3R33HGHr8S6detky5Yt3v/oo496svGcc84RXrLMTd/mzZt9HD+Qa2vWrJGbbrqJ4IQSbnQfeeQRf6NL28GA6/9e94Q0NBQyddWqVWJkYkDEXENgdBE4uH+/7Nm1S44dPiyHDx70pGL8hn50Sx8/uTPn5qZo/NSo/5pALFLfbAvmreXl5X6FG21Bsm0GCyfcTaDqAPPcwTLoGz+uNFPczT43wKNVKY7NcMhA6lRXV+fu/2rc/L5CaqprRHXiHofRwt/yNQRGikBFRUIuvnCqrFp6qkyrrBxSdlWlZfIrZ58tv/Ku06S6ulTczYBf9QfPMNed37mu2/kWsGfPHuFDRcH+2LFjwTssl/FiWAl7ErGIgLn8jBkzHF8xT7h+hTGnrKzM3ePU9VhOLicxGs1lFd7+/XukqbFBZs6aJfPq5suUKZXCstF5jlSErT6wf6/s3r1TWAGIjk6nOvxB5IibFNJhp9VmMuuJZFJmzpzj+na3mzAeTDe3vLzCD1rUA9IzdLDdu3YI25ZLSkvdU9FSgVDcsWObQIiRmPDrWza7/FIEM6S0pESSJUn/rsOWrHc2YkgZTHogUIl/dfPL0traQpTPP7zD0CvG+Ke6eqpv09GjhzNK7u7qltKSUqmuqcnQxwOV7omxuskYBN9eRwjypI14sN2x/U0pHwRrMOAdipWVVXLBRStkztw6Uc3sC7zHUUR9PFvC6U+8n7GtLfqin9ifIWAInDQEvv71r6fJsHe/+92ePONDAAy6g1UKwo3VeZ/97GeFgXow+4kWP5HJ1OI6VlbbyYBAd1eX7N29W44ePuLmXd0ye948/3CVrVktzc1eNxlwGI021tfXu/nzHmEFyGjk31+eNW5+OnPmTE9I9WczqN5NOdXNMQe1K0IDxlVWdybd/dBoVZ/7mzD3H0oZ3C8iEJLclCeSo3JbOpQqma0hMCkR4La7bl6lXPur58i7zjhTFjvCbFAgXKJ5U6fK1eeeJ7908Sw57bSIg2EMSLi42mnT/A7UQfOJGTCOsC0ZIvHQwUOemOQ+AZOjR4863qQV76hIIpH7+tPd2Skdjm+Y78hRiMSKigrhmgWBCK8Tr0x2OB43kf25kRthi1Opbuns7JKZs+fIPEcgVlRMSecIuVRXt1CmTq31N53zFy5yN5E1oqppm6F6IPn27d0l06bPkEQy2Sf5tOnThfeqHD1yRCC8UqmUzHCTj2r3JIwn0hCEvMsQgQSjbnQItiWT2f59e4QvHxPP15ghs1TVTTy7pNu1ldV55JNIJmXWrLmu7Z3+69EQZQgkHQPtW2++7srfJbz/L5FISmNDvV+Vx9Zs8ufdjeQNeenz9VswuqiCL4d6pyQl5IUykUxKV1enO9lOyFtbX/cu+rhgy2BN2s7O/rf0zGVSXVUt9Y7537Nnly/jyOFDjlBtkNlz5kq5IwXJK+XKJ//40aqdOk0gHDvdCQeByHsUadOO7dv8x1kGwzrl2hnqRx7gwgoed5h8+ceOHXGYdsiObW96zHiiCTldUloipT0krogK25cOHTzg0jSK/U0CBKyJ4w4BBn22OlOxBx54QOrc4Is/kIybN2/2W4M5v1mpR9xEX51XXV3tt3LTZlYlgkGle/oL2Qpek5lM5fibGAJjiQBzDXbQMJeZNXu2cMPDA23qwPzDPVnFazJEBLgJbGhocPPQNjni5trcDAbhunfo0CEfzq46AAAQAElEQVSv5waxtbWwN4RJNxdmjj/N3bxyvR1i1b05/YI+4QMT7KfLkei+b49iu7g/QIZaRGdHp+8z8XQci3jY/IaAITA2CKRSnVJTfUJu+PUL5L9fdK68+6yzZb67rmoiftcvQhgi8V1nnOHszpPrrjlXFi4sk9LSiFaCbGPZFffq0vPHeR3GAsaKHnWGg01TU5O754+uC8d7FmdxbWE8aWxsdEM0OWckG1Yg4cjDMBdnGzXCPQsuQhtCxv4a2tHheQbGm6A3txeB6Mj3hgvig7GdO69OZs+eK2Vl5aIadUQyV1VhRduCRYtlwcLFUu1IPQ4qccOVndvf8i//ZIUc79eL58M7DV956QUf393dJTu2vymEE4mknH7mOW4yOd3XT1V9XRctPkVqaqb6LNhmO3/BIkkmS3w44TrfrFlzXL0XCflSFhPTlpZm/14/VsvxUZlFLo/W1hZhC+/rr20WCEomO7R3Xt18gag8bdkZwkpFMiZfyNBlp58lPCFP5+tOpE3Pb/AftNn88iZHHnbJcXeibXp+vR+Awbe7OyWsbKydNl3KHelHfkH27N7piNCnPAnHyQAZSt4hPu4mHB5sF2f16O6d23267du2ChggtI1yKb+t7YS89OJGjwF5JJJJOcNhOWPmLEk4jNCVlZXJ4iWnyIwZ6JIDYj2lskpmzJwtza69G9c/K4cOHfR9J+XIWgjO2tpp7tiUCdhtfWOLPPfsM9LR0S6nnnqGJJJJqXXx1e4J9aFDBwQStMoRo9TBxBAwBMYOAb6idu6558rq1av99ub/n73/jLIkye47wb+9F+KF1jq1Kl1ZWVVdoqtaAo1Gk1ANgATJIUCe5eyIJYdnzw44Q54z+LAHu2cWS/DDYs98mBmSu93QQKOBRqNlaZklUmdWpdah5QutX8z9WaRHvYh8EfEiMiJDpEXmfe5udk393d3c79+vmUEsQphRA4by/tmf/ZmfO/GXfumX/FyKzJWY7p1H+t27d/v+uKgo88ImKfv4kEz2aSVC+RsttJW5E2n7t7/9bYEFmKSTqSzU4pzz7Wdxmgi7ja57KD8gsJ0Q4N1t2j5+FhipX2D9TNzeIXhf4d2lt7tbGCx4MW6nNq93WyIykfdMyoK8Gh+fneSeLR+1ma9qeHhYw/a+zPA1DEs+sqCPcckx8RyvVjAAOZ+rTb8d03Fd5+fn+3fo9Wwf5SArLaOwqFBlZWVzyTDwK8yecc7NhYWdgEBA4P4gMDMzY2TehPLzR/Xrv/yI/vmvHdE/eOmwvnn4Kf3iE0/qG489oV+w7TeffEq/9uJh/eavHNE//tXHjDeZlj1KxerH1JQ+x5g/z71wTL5d9lEpeg7Q5xO+UJxzqq2tVXV1jfjoTjp06Nd5jmADcHyvwrOioaFBkWc79V0o9fX1glissQ+PvDPQnlg8fq9Fb9v0sfVoWSwWV6GRRJBozrm7inDO2cWa8MOgY3cIqLuUVhDAENhozsTHnzwyLyVfnj/3/Evz5lWMdHiJfPSxJ/XC57/o5elnnxfDbaMMnHNGiu3Vcy/Mpn/uhZcFERiz9i3M98gzz1mb8r0xCHGILnViCO/uPfvFgisQc6Ql/+qaWrFCMjrPv/gFPfLoE/6Bnynf+oYmoYMuEpWF5yB1I+8qu/m04I96oJ8uUdsXqHLoy6ceUVksUEPZznG+8kW55AVexFFXn9B+ONcPPfzYXD2JJ61F+f9LYe2cE3M6Ui4Cxo1NO3xeDz/6uMAMDBsad4hzRPksABOVT/xjjx/253BWP+bLDD8BgYDA/UOgwR7ON2/e1P/rzhyKEIsQZlENfvEXf9GexzNevvWtb/kFW9K98/7tv/23XvXSpUv63Oc+p3RC0kfc+Tlz+oyylb/7/t8Kb5k7Se/a8AHn1Vd+qtdeezVr4WPRXRllEUCbeTlCwGIhmfqv/tW/8kTrsWPHxPyT6dhlkX1QCQgEBLJAoL2tzQymKTOASsV7C0kgF2vNeIibsdDV3m4fYfuznjub9A+yLCQTedfLzcn1w8GYt6/G3k15NmAk1tXVqcE7G9R4Qw4CEiMTItE559+fH2Qs17rtzjkVFxd7p4bYGthaS9WPc83Qc+fcUmp3xUESjKZ5rHIP5uXnGTkRDPe7wAoBDxQC3Av3qcHziqEPl2aM1CvQQ4eq9M2/97D+q998Rv/tP/uc/i+/9Tn9t7/1rP6r33pG3/yFh1VROqHp6QGNj896nfORqPn2bT/a0Tp0z4vwzst7OGSi7A9SkL7fdjP+h9jLy8v1U1g0NjbOEYvkkzHBCgPJs76u3tctegfIlAU4UBc+kJnhIuaChHdwzmVSf+DD1oV54aQ75+xacosC7JxbMn7RhCEiIBAQCAgEBDYtAnjjRaQiw3sXqyiEWbQQCd6Jb775pvbu3SuMTzwVIdWiRV2iPDCKvvilLylb2bfvgL0HpKLkd23HxsdlTyK98PwLWctdmawiAO/DdDIVEvHWrVt69M6iNdXV1WIhF/RWkX1IEhAICCyCAO+n+YWFwjMqHpslLehXGOVQafed7N0UL0ZvRCySx4MaDHmIwRi1n/4JwTgsLy/3hp8nDuvrBHlIP1ZUXOQNNwwzL4l8byiyPzk56YlH9JBEIhFlPbfFkwXCcS5gnXYgwyDf1in7Nc42u+zw9Oe85OTEs0twD1qQglwL3F8ryYZrAFIxPQ3kJAY/dU8PD/sBgQcJAYg359x9bzL9Of0xBefmxlRekVB9fZH178XasaPEtiXWvxfaR7chpWYm/ZyGpJH9cf/zoX50ZMQ4yRnvqGTB3oEg0uHYuezalbBnAmQkWJBuNQKBiERpefbw0SI6Xmzbbh8XIUf5yMh7AdPnxe2j42L6D3p47EEHILQ/IBAQCAgEBNYWAYb37tq1yxNkmXJO987LFL9WYY55X5aYbmV8bExl5WV+UQa+PGYjBQWF91y9dDL1njMLGWx+BEINNw0Cu+yjRUlpqZL9/eru6RaEBpWDVCy1cIglSDMW+ltIdKD3oApkIuQeQ8IZxsxxX1+fxw/ip6yszBOFeHUgGG14f4DrYpiBNZijv5gu5+d+kLsMgcNYpL7OZWfsLtauzRBOO8CVdq13fbgeuC4w+stKy4xwaJw3jDlT+dSP84+hz7WTrkMcBj/1d27rn4v0toX9gECEANd5tJ9pCzmHZIpbjzD6P+5HPgbRH2cqY/Z2nFF3V7eiDz3UEUnXL6uo8B59hDEMmr4hXce52fuaMOLRyyRMhUH/kiku2zAWckEifRwYKDc6Xmw7Njrmp5mbnJhQbn6+4jk5i6mGcEMgZrKm/1OpGZ8fJ2stxGcWfgICAYGAwH1EIBSVPQKQg3hC7N69WzyoSYnHHd6G//Jf/ksO5wleDOneeUTilci8gdevX/d5MHSaYc8PPfQQ0asWXllSM7PPpEyZjI2PKZrLNlP8SsJ48WFusOXSgNfRo0eVjs2zzz4rCFg8OqN8vvGNb/jhasvlF+IDAgGB7BHA+wkCA6IF4jCdrIrF46qqrfXDoZkvuqeza24OqOxL2J6ak5NTwsOEYWuQfPT5GJ2857ONG3Yrbflq0620nGz1ITd5FmFUIxClXCfZpt9MepyXVGpx7/y1rCvnsbCw0D+v+ECHVxFCeKZy0AXnCiMdFtODROBag1TMlEcICwgEBNYeAe7HfCPPlsqZvoW5cNlm0oN8YwqR8jurRKc/G+gT6FuZn5D02Aw8VzLlw7swfUCmuJWEkQcSpWGVZuewDqKQzNv6hnq52CxNthz5mzmHByt0Fqk1aDOgOzlduXzBL9jBoh33KuTF0JMsqhdUAgIBgYBAQGADEID0g/xjyC4vCs45fec73xFDmBcOIYNM/IVf+AVFQ53Tq4vXHiTkoUOHBLH4p3/6p95ASddZ6b5zsaWHPI+NK7FgMauVlkGbvvzlLwtSEIICYZ8w4tLzg0z85je/qd/5nd+Z1zaMq+9+97seN9L++q//uhg6np427AcEAgJrgwAkEWQGW7zu0j0RMXiqa2vEAnVDQ4Pq7ugQi++tTclbNxfr1n3lId0gZcGJCe3p8yGIfOQa/nBeMCjxgsH7je0aZp8xK64HjGkEwxrimbZmVN7kgRjrPH/Abr2rirHNsx68wJDywK2utu4uT0XIBbAF40gX/YUCac05hxQlzcL4cBwQuIPAlts453ydubb9zp0frnP6UwQvQedm9e5Er/uG+kDw0W8sVhj9CkOB0V1Mh3Dmxh0cHGTXD4nmXo/aFd3/DGWG6CPOK6b90PcTlxa0ql3nnPeYpuwoA7wVaUdnZ6fZB4s7HFBP+jbSoc82GwHDbPS2m86aEYo8PBoadqiissoeIBX3LOXllf4rcSy+ZlXcbucutCcgEBAICGw4AhgSkIc8cCP51re+lbFekW4msiyKIw88FCHZMmaygkAXc0rd8ZrPlIwhz/mJ/ExRWYel15u6RwImxKVn9MwzzwjilW16OPuEYUCRfjH80AsSEAgIrB4BDBW8nyCsIBKZ+w3DgjAMHIZfdXV3Kyc3V845TU5NLWl0rL4mWyslZBEkLO/6GL7UHlIRoys6Jmx5yU4Dz1EMSrxXICwpJ7uUa6dFu5C1y/H+5gSGDE2HAFiKJFiLWoFTOjEQi8XEsGWIQ+LwaMWoxzOpuLhk2SK5ziBViouL7Rl+fzwtl61UUAgI3AMCzrm5hcAWZsO9w71BP0e/yvOJd8GFeut5THk8DyHceE7Sb0TlEcdzErKMfjkKX2yLDh8znHPy8+rW1Ym2RR7H5Eef5JwTz5WF+dDvLwxbzTF2BO1BovTUjXbwvh2FjQyPRLvztuXl5bIXgYx1VIY/8gXDDFHbPmjN2LpEokCsgLNz526thezYsUu1dQ12ARZs+5MQGhgQCAgEBAICa4+Ak1syUz/kOe/eCMUlC9gOkaENAYFthADGBFMTYNhgwGFwYMwRhoEDyYgkEgkVGfGBdyIGQuo+DR/drFBj5OKdCEG03nXkHHEOKAcyijLZYmRj5OIFTtz9EIgx5H6UtR5lQCpy/WLc30/corZw3iCjGWbIPcW5zGaRGNJxz3FPQj5E+YVtQGCrIsB1PDU1Pe8DFdc5RDvkOfcGRBrEHX3gRrVzyj6iUT79BgQZZBxbCDjCs60XbUE3uu/ZTxfw4PnLsyU9nH1ISLb3KtSdOiPpeXFM/9KfTKr51i11dbSrraVFzJeYrsc8r1gR6HFeqHN6/MJ9yFHeJxaGPwjHsbVqpHNOPHRj8bhi8TUS+8LlHKdS4S8gEBDIEoGgFhAICMwi0LRjh+0sPqSBF7h8Iw5MKfwPCAQEHhAEIKt46cfQQRi6y/srxh0GAQbOwOCgCgoLRPhAsv8uQ+MBgWpeM8EHPOYFrsMBhiweo2SNQYe3GsQSpBhxvT29cwsCoLOegocc3nXrWcZ6540RDJ7Iepe1MH+esZxD7qmFccsdc62R1nsJLacc4gMCWwCBmZn53raQWvRr3Cep6pGFDgAAEABJREFU6ZT4sAXZtRmaMjMz44crUz/qxPFK6sWzdTH9pD1TiVtMh9ECxN+rUO9MeaSmpzUxOqrO9naNDA0pFo+rv69Pt27c8FvdMRuikQqsWr1YXun50x7I4fSw+7m/kWXFNrLwUHZAICAQEAgIBATWCwG+/DY0NC6a/ZEjTysYK4vCEyICAtsSAQwjViiGWKSBkB0QjDOpGbHFKCAuNy9PJWVlGh8fE4RW5HGh8LeuCGBkO+cEocT54FwwHxeeM5w7iF4McN2HP8qHSL0PRa1rEeAGhpAD2RQ0Pj7uyYRsdJfS4RyuFj+8iCEUIw/H1eazVP02OC4U/wAjQN8C+cQ9AgwzxmJxnyIcbxahP15NXZgHdbF0RUWF4jmbKZ72L0XerUnfb88Xyq6orNSO3btVV18vRtlOT02pr6dH1L27q0vJ3l7vUUrfg9ekc8s7ua1J/ajcFpNAKG6xExaqGxAICGxtBH7v935Pzrk54Ti9RRw791m8c7P7/+yf/bM5Nfadmw3//ve/Pxce7bD4B6sGs43CtuP2g9PX9Vc/OaE/+MPX1f39/4/G//r/nlFG//N/rXTp++B7Ot85ppb+CS/tA5M61zaqrqHJ7QhTaFNAICCwAAEIE0hFDAeinHOaTk1744GhvZCMkC8FhYWeZBxIJjUxMYFqkHtAYGx0TEzYzxC6xYbggj/D0RHmT8S4RDA0nZudhwxjfKlqcO6YBwwieCm9bOKcm33WZqO7mXUgZKPrPVM9GdIIZpwbPIS4RzLp3a8wiBYMeQTyAYLxfpUdygkIrBcCXM/k7ZwT3td81Ia0i4bnOjcbDpnOR3GEvnAzX//OOZo0T5b6AEdbqquq5+lHB87N9vHRcfqWIdJL5Zuu65xTzMVEP6IFf4TnJhKqqKpSYVGR8vLzVVZR4QUv+Ns3b6jHCMWe7m7/TlBkOvRBCn+LIhAIxUWhCREBgYBAQGDtEWBBEgyj3/qt38qY+aeffpoxnJV/iYBw/Pa3v62//du/FXn8o3/0j5ROHGJA/e7v/q7++q//Wiz0QZqtLhFx+D/8++8Kefmf/gc1fe1/0q/99n/Sv/797+r3vv268i78VBMnvzdf7hxP3fhY6TKUqNXA+LSajUhE/ux0r/7HH7fon//lTf3Oj1q8/Pmp3kAybvULJ9Q/ILAIAvTBGA6QLKhERgfhkFUcE8d+aXm52B8aGPBb9IOsHAHmQOzu6fbDlSG2wDpTLpC5eHlgwEFy4VkX6UI2FhUWZUo2L4zzBQmZrfE5L/GCA64BZEHwljyExAXPhZUH54jQ4NpnzkOGey/U24hj7tOkEfqc040oP5QZEFgrBJxz3pmA/Jyb3advcc6Jvg2PRUiz6upqvxAIfWAk6JFuM4lzTo0NjYLwzFQvhnBnCicsNy+Xzd0yIy3Wb0PATk9N350mQwh1qm+o93WLSNw5NSdPNKaH+37PcC+vrPQkYlVNjX/eW3X8wlBTk5NzycPO3QgEQvFuTELIBiIQig4IPMgI4Bnw9a9/3T/MMKAQPAa+9KUv6dlnn/XD7n70ox8Jrw2+Wj766KPCQEAnwu1/+V/+F7344otbnkzE8xDyMJ04/OOfnhByvaMvau7cdjS/em5/pTu3+j7zPDrRPirk2yd755GMgWBcKapBPyCwuRHAKySqIcaEc84fRsQK/a9zTmVGKCYKCjTQ3y8WafFK4WfFCEAikoh5KjGcE4kEh0sKadKJJIzqeE58yTREcu7YroXwvMWQXYu8NjoP8ESiekAk8t7BNY/XUIORA5CJnBuwjvQ2cku9uGY2C8G5kViEsrcmAs7NPlui2tM/pT9/nHPiIwr9DPceH1XS7z/0N9pjOKp7+tY5p0RBwtc9PZx96kz/wn42EunMaMYTeNHx3BZmzw5mLN42S/4HwwhL9iEXl0xwJxLcq2tr1bRzpxgOvWf/fr/lo8agfVCkTXdUw2YBArEFx+EwIBAQCAgEBDYIAb5M/pN/8k/mlX7s2DHt3r1bxM2LyHCAp+LRo0f1L//lv8wQu/mDIBH/8W//J+99iOch5GG2te6PlWWrqonimnm6F3vG5x0vPFiMYAxDpBciFY4DAlsLAYbGMvQZYw5jAmKFMIw9vCR6unvEhOzTU1MaHxtTsq9PzOm3tVq5OWpbVlammpoaMZQPvNO9QzLVEGMUvaKiorlo5+Yb5nMRd3Y4dxBkpL0TdM8b6sm1AemM0A6exwj7xN9zIfcxg8goBiOu9+h6hridmpoUbc2iOvdNBXy5DvDgYgGlzVa/+wZEKGjLIhDdc2x5rji3dD+WqaGkyxR+v8Ocm607fSFCf5vJ65l68RxluzJxc16c89I5Kd15Yl7cggM8PNOD6D+cswzSAum/nZsfRjT9S8I+INLv8OzxbZiZUVFxceZ6kSiIAqEYLoKAQEAgILCJEfjOd76jaLgzX+i/8Y1vzHklMjwa7wm8FaOhzr/zO78j9DZxk+aq1tzeN28IMyTi26evz8WvZKdz6jOjcyXpcu9+n1g2eUQwRkOkw/yLy0IWFDYcgVCBTAiMjowKEso554dAQa4wpxXGBl4NeMMNDA6qqKTEz7OEhyLkosLfihHAUMOwwwjNJjG6PN/wMMFbh/QYeYul5TwyNBZvEuec8LTDIFxMfyXh5MP1gEAi4v2CsI+3JWXhSefcKh4oK6nIGuqCL4Y39WfBAcg6sF7DItY0K849slmIlTVtXMjsgUEAUnEljeV67+joWEmSddWN6k9/x/1IH8h0FpkKRbe9vT1T1JJhpMukwDQWmcIXhlG3hWE805GCRIH81kjDhTqZjmdSKT9qrKuz028z6YQwBUIxXAQBgYBAQGBTImCV4svfzZs3/XBnO/T/mYORuRN/6Zd+Scyl+Gd/9md+eHP6UGcWanHO+a9pX/7yl/1QaZ847Qfja6WSlvyedpkTEU/E53/zPyw6hHmlBdweTmSdZDIve2/G5TKFXIzmX/z/vtsRFnZZDrAQHxDYRAikZlJ+eFVkwDjn/PAtyCIEksU5p/HxCeUnEn71xyEjGPHmWstm8EEIMnMt89zqeUEiMqUH2GBUQ+phDGZqF88yyES8SZxzfg4ujF3yyKS/0jDygWxD2I/Ss08YXpd4X2KoIlvhox515xqn/vn5+WILaRu1bbNsuQZ4F0LwJuYcb5a6hXoEBNYTAa51FrHKlkhbz7qQt3OOjf/4xjOQDxL0G+z7iAw/fODJELxE0J2xzUtoLBVF/5spnnrS31VVV/nFcDLpLAzjvQDsp41UHB0eljGKC1XC8R0EYne2YbMGCIQsAgIBgYDAWiKw2HDnb33rW/Zcm/Hyi7/4i35RlmioMy/d/+pf/Su/YAvpP/74Y0E2LqxXfzKpE8ePZSUffnBU77z9tpLJu+cuXJjvUsfRkGYWU1mtJ+JS+a8mbnTq3l5e0sv88eXBuYVd8FpMjwv7AYGAwOZEAKMBDwsIPfZn0roEhoU65zSdmvYeis459fb0qL2lxc+pCNG1Fq3C2GHYGMbLWuS3HfKAJIRAYu4wvBrxOonF7zZbiOc84c0I6RiLxfwCBxiP9wsHyMuIlKNc6rIZybn7hcdalcP9AFEMKYGkz/+4VmWEfAIC94rAatI7N0vOLZV2JjUjrvuldO5nHM9HymML2Umfx/FSgm62XoqRLh87lspzqTj6X+JHR0b8aC4+SERCOM8Rtgj9SUdbm8yY4vAucXJq2rVL5RUVfoEWnknU8S7FEBA8FMM1EBAICAQENisC6cOdF6sj3hu/+7u/q2ioMyTirVu3xIItDIXmCyILuaCXnsdOe0h++StfVTbytZ/7up544gmdOXMmPYus9yESX/6n/0H3MqR5ucIuJ+82NBdLMx5LzEUNjWW3Ytxcgix2Iq9FVowOxGIWgAWVgMAGI4DR9hk5OCPmluPjTDrRiCFSXVMrhkRDdGCIdLa3a2R42Hs53ksTMKAQSEUIsnvJa7ukheDF84W58xiWGxmKUfsw7lhFFNIxPy9fkHqcQ85PaWmZwDPSXbBd90PqyjDi++2pSHl4Sy7VQMhXDHyutUgPg5thlWAahW2GLaQsw8lZlIXzuxnqFOoQELhXBJxzy2YBYZfsTxrXlfaFa9lU66fgnBNTPvDRhi19MqU553xfS9hifS4fedDNRuY/i7NJMV8H3Hq7u9Xa3Ky2NOlobVWz2UaR9NmHQfbZ8qyZn8udIztNtLe8vMKfBwjIOzFhswCB7C2wBQnDYUAgIBAQCAisHwIYswuHO2cqDe/D+7Gq867du73Xx7mzZzNVI2PYH/zh63MLrGRamTljolUGnuvO/qVrbOb+PPoCsbjKk3lXshAQEFhfBPA6QCgFgwaCJSKF8vMTfj6+ktJSlZaVqqqmRg1NTWKSdoY/d3d2CgNmcmKC5KsWyCCMIUgyCMtVZ7SNEkLi4u2XSCQ8YZjeNM4X5wrSSU6CIEMfQi0nJ56uet/3Ib/w3oEI47zerwpw3SBLlQdJC2nNtRbpYShzzUOgL/z4GOlsxBYcOfeldu9xXjeiDqHMgMBaI0DfhSyVL/Hcp0vp3M8455zoiyH4CwoK5oYNU08+5NB3pPcp6XXLRNiRjuHckXR3dYuPQ6Qjju1KJTU9reabt8QzORaPi2d2iX1cKiwqMkJQ4hmNDPT3q6ujU35OZNIY0Xjrxg0/n3KmMocGB3zwoKVjkWkWaPMB4WcOgftjVc0VF3YCAgGBBwKB0MglEeCFHbJwKSU8DXcbibfYfCCkPX78uKKhzhwjzz77rHbt2iUWbGFFNIxTFnJZC6PmySeeVFdXp1paWihqUWGORDwSf+/bry+qs9YR7zWvzpg/3zW21lW5K790YrFraPKu+BAQEAgIbB4E6J8hWCCnMJzMjvJkFUZTLB5XTm6upswIKSsvV3FJiTD6+np7lcloWkmrIE/QJ79kMunz5XgrCR5ueL9BTt1rvZnsv8bIWwilTHnhOQJph1dMPJ4jthyvxBsmU75rGQbZyTVE3dYy30x5Oef83JFcu5niCeMaA89MOGHEkxZidjlSkrzup1Bvrodyu+fuZ7mhrIDAeiMACcczJ70cnjV4DN/rMyU9z3vdp3/o6uoSfdrCvIjj4w5tWRjHvctHjIXhHOMtHcnQ8JB/zhK+Wpmyj3qjoyMqq6hQQ2OTKqurTapUXVurxh1N4kNgJPVNjdppNhY6tAlysaO1TcNDQ/OKHxwYUH+y3wjJGT/8/Ob1a2oxAhLvRtrdz7N6bP3tiHmV2oQHc4TiJqxbqFJAICAQENh2CPze7/2e+NL+1ltv+bb923/7b4VhBDnoA+78LDfcGf1vfvObc0Od7yTzq5d997vfFekhF3/9139dLOQSxd/LNhaP64knD+vM6VP+wZopLxZbYY7E9fZIzFT2TElDpuB5YdONT807vp8HEIv//C9v6s9P9YbFW+4n8KGsgECWCDg3S8rgWQbpQrKIxMDIwwsDQw/iLBaPq4NJrCMAABAASURBVNoILz7WEAcRmMmgIo9shXIhfMgPYyXbdJtFr6CgQBiQEKL3Sipi5HEOMhGE4I83S0SA2WkT03uA3WbBIqoHXj1lZWV+0ZNMbYn07nXL9YIslQ/nB5zwMqJekS7vIHy85FoHc7CP4jbLluuqrLRM1HGz1Gk71CO04f4h4JzzHz6iEunnOzs7vWccfWYUTj/Bs4BhxQj3ZBS3UVv6loUfGgjjebhYnfgoxzMRvXQdjvnwRFy6gEe63kr34/axb8euXaoyIjFRkPBY8zGH/ixhz6ZIyuzDRElpqfBchGysbWhQbX29Uqlptbe2GoGY9NvW5hYxtUksHlOd6UBG8szhWY+XI16NTHvScvu294pcjDhdaTu2on4gFLfiWQt1DggEBLYsApB7PEzThS90zzzzzLw2fetb3xILrswLTDtAn7kS2aYF+13CyJMyyMcHrtEPxsj+Awd12kjF9CyZJ7Hpa/+TNstiK+l1W2r/lSuDS0WvS9y3T/bqD97pDKTiuqAbMg0IrB4B+kxS039GxgHGHGQGJBbCMf0ghFlqZkYuFvMkGkaLc47kqxYMMPKmPAytDBlt6iAwgPCh/hF+61FhjDq8evDgQTgvhFHuepR3L3lSJ0jnqqoqQQ6UmzGLkXsvea4mLWVCuHKNIdQryoc4yEaIT4YXp8dFOpthG8+Ji/pBtmzWOm4GnEIdNicCPF8i0owtZNzo6KjoK9MJfuecH1LMPUk4HwA2ukXOOeExHtWDtkAKQq5FYWydc+LjBFJTXeMdJiJd4iOh3dH+Wm3jOTkaHBoSowiWyjNmz2znZp/VPLN4pjPaAFKR9kASJnt7NToy7D0T6TfLKysFEdnQ2KgK68tp0+jwsAoKC0V+THvCUOuBZHKpordtXCAUt+2pDQ0LCAQEAgLrg8ChQ4f05JOHfebN7X3CK5EFV3zABv6M5lcvW/p0/SNzOrmz7xNzx+uzkznX4K2YGZcQGhDYDAhMjE9oejo1VxUIDAi+qckpQcZg6EFgYRRixGBcIM7de6dC/hiQIyMjWugRMlehe9zBG4Z5eiPBMFwrAw8DDbLHuXvHYrFmQirh6Y8hxz5kHUbhYvobHQ4e1I/rpqysTCzYwjUFkXc/6gZOkJp4Ii5VHvW8X3Vaqh5LxVE/zjni3PpdY0vVIcQFBFaLAM8J0rKlf2fLMf0+24XinPPezXyMWExnYZr1OsZDP8qbevPMYEvfFoXT19DPQcKNjo36qTucc6Lfi3TWc0udVpM/9aaOjU1NfvoS5kjGI7Fp507V1NeLfgedopISMY9yvRGLrABdW1cn9mes0GRfn5x7MPukQCjaBRD+BwTmIRAOAgIBgWUR4Kspi648/5v/YdN4JfbHypat92ZTwFvx3/2oJXgrbrYTE+rzQCMww8zrXmZhwGDCmOCIobYIXiUc5+fleSMCgpFJ4Qm7V8FwxFBLpZGa95pnenr6b9pDnWkHXhlTU9PpKve0D9mDUZltJszbh7cOJGo2aSAt8fTDyGZLWRh82aTdaB1IO4xtMELWu97OORUXFXvPPspeTfuHh0f8sMzVpF2PNLQD7CAA1iP/kGdAYL0RcC574sm5WVLRuezTrHX9eR5lIuvov/igwzOFMtFj65zzXpY8YwiDjOTDVSTorLVQzvjoqB+mzJyIK80/Fo+rtLxcoDzKvIjWBoZF019HeTnn/DyS5RUVfg7lvPx8JQoKxDuCZmaUKCyMVB+obSAUH6jTHRobEAgIBATWBgG8Eu/noitrU2tpsnLfXFYz/rVh7nDDdtqGpsTcim9cnl1JbsMqEgoOCAQE5hCANOzt7RUGEYF4lOXl5wnDCQIOjy+MiLGxcc2kZvywZ4Y/o7sWAlkyNj7mPTzWIr/0PCAs8YLEU45hbGwLChLpKvP2IXBoK4ZVTjzHx2FIckw48Qj7BWZcQfawhbSkLPYR9DlG2Ccs0gFP8oQsLCgoVH5evh9KFsWjS5xzmHvyHiPkEQllo4uQP/psGRqNETs6MjrnXUpcJuHcIlEcedJe6kU5HNNOhGP02BLv3Gy9fFx+QpGuByvDD3p4WYJ9fX29uL7Ij210TL4ZkmYdRBmci7LyMo9X1glNERIR3JC+vs/uA4vaFP8Z6g4B7dws7puiUqESAYE7CDjn5JyzZ0NKzogmmXB/J6xvQAXyiy33KH0w+8sJ1/xyOvc7Hi99PgjRb1E2nvz0GQjPT8IQ7tVIMhGT6NyrzKRSSk1NiUXSonkNmQOR+Q6zyXt4cMgvuMK5icdinjjUIn+cN+fcXCzEI+lWQ2TOZbKFd2JbuO6h6gGBgEBAICBwnxGIhjhvxrkSj/dXLYvGZGnjnE73Jltx+fff7QwLtsydnbCzDRHYUk2CNMTw6evrU09Pjye3MCIwiqK4XgsfHOhXQWGB91Jw7jMD414bCxkWkWz3mlem9JBzkGEIhu5S5BVxly5d0+lTn2hkdNSTUwwJP3fuglpa2o1MzTHidUqffHJRP/7x63r7raPq7Ozxet3dvfrgg+N69ZW39cbr7+rs2fMaHBzWxQtXfNibb76vD46e0LGPz+jDD0/pMuWcPqe29k7LN+6lo6NbZ05/qr6+fn8ctQfycHx8QtSjubnNnyPqeutWi95++wPdvt1q9Zr0Q8dTMyk1N7fq3Xc+1M2bLbp8+ZpeffVtXwfqRj3Onb2g48fP+LDXXn3H7/cPDPrh7+fPX9YtS8d5GRkZ08kTZ/WjH72m9977SL29/b6t1Aej8srV67p69QYcgicVovou3HI9gT8kJsQfnj5so+OIbIR4XJh2qWPnnF/8jfQQ05zrpfQXxkEm9vb2iGudOMjnperAfQJxi+79EtpUaMQz1y5tvF/lhnICAsshwH3NRwHmw52cmNDU5KTwpOb+Lq8on5ecPoNrOAqEoIOMQ1iwJQpHL1viMUqz1lvacfvmTe8B2NrcLE/gGYnHvZ+JPKRfWOs6LJUfH/Ty7INWTW2t9dnT/rkNmciciNR9qbSQou1trRodGRHzJdbU1fk+fak06XF8eEwZaTxmz8f08AdlP/agNDS0MyAQEAgIBARWisB8/Q9OX9dmGuI8v3bb44gh0GHBlu1xLkMrti4CDF2enpoSxsHQ4KCSvX1qb23T8NCQhu2YYVUDRjQyETuGHgYIRNNat5g8MU7XOt+V5kcbIeNeM0Lw6pWbSqVmzJicMYKt2Yy2Xk/anTCC7crl64IEHTcj+qMPT3iycXhoRG2tHcLYKi4p1o3rt3Xs2GmNjo2rorJcDOseHh71pGx1dYURcDEj426qq6vbV9M5p/7+Ad263aKhoWEfFv2ATUd7l06f/kRXrlzX6Oi4NwIhMSEGKUty3jMxZYbv1as3dcwIw86OLiMX29SfHFBZeakqKspUWlqiqelp3TYyctiMyrKyEpEPdYVIvGZpW+waGBgY0nGr/03Tq6yoEHU/feqcJ1A5X0kjPSEfLxhhSv7UUVn8oUd6tqizjchGvB05B4QvJc45jz9kBgQGRAUE61JpFsZBIiaTfR4z8oFMhOCkbgt1OUYfwh3ivb293TDr9gQucesptKu0rFTUr6ysTNQVod3rWW7IOyCwHALcq9x7ebm5mrE+JWEkF9co9xDh6cTglD1nuG8igUTkgxUfFtJJfOdmhxAvV/Z6xkMgDlsf3J9MCqIu+nxGeyPykH3I/vWsR3rezrm5e5+FYJgDsbyyUo07d6ppxw5VVlV5L3/qm54ufZ+PQJ1tbWLLas6QicUlJXIuamG6duZ9iEjLQDxnMmts79DY9m7eA9i60OSAQEAgILAOCEAm/tpv/6d1yHntsrycXNkj7XzX2NoVvoY5sWBLmFdxDQENWQUEVoAARgXeDJPj44I49DI2KjwR2SeOxVnwJIF0ZEXJvDvDc1dQzJZTnZ6aVl5ujq5fv2UkYp9i8ZgRiVOankqpra1DkHS7djfp8JOP6umnn9R0alo3bzYb4TYiox/V1Finxx9/WHv37lKyL6lEfr4/rq6pMvIqVzuaGvTQQwdUbgQf3h5TVh6kEcQaRhrls42Ac85hv6m9vVPGb2pgYFA93b2KxWLi3JSWFPmyh4dHjCwstfghYQzHY87qlvJ1h5A6dGi/Hnn0kNVrp4qLCn1cbW21HrO6Hjq4T0ODw2ptbfdG6eTEpCcck8kBHTiwx3Qe0sMPH9DY+ISvB3Vta+vU6MioyZjaOzp9faI6r3bLNYksl76oqMjI0Qo/d9lqjfq8vDyfB0TdUkRiVJcpI0QYisk5g1wcMtJ9dHTlz1YICeZZi/LNZsv1QX3ZUlcEIqa+vt6TDAzD5Jxkk1fQCQisFQL0UyzQ0d7aqqLiYkFOcX+QP/cx/ZNzjkPrw2a8JzD3DsJ94JzzU2tAPnqlOz/OLUEq3tFZz00sJ0e5TPth/QyLldQ1NHiPcdpLuc7RJ8/4/pfjhRKzvnlh2FLH9GfRvczWuVnMojTRh7/+ZL8SiYTHjD6Ae54tuIO3gWzPmPwoWcYtz3XSlZSWmm7eivpt6pFIFCgWj4vznrGAbR64Mutrm4MRmhcQCAgEBAICdyPA4iubnUy8u9aZQyaKazJHbLLQMK/iJjshoToPDALOObFyM0RhjpEr8dxcsc01AiySvES+8syAYXjV9MyMEVopbfs/w6Whsd6M31FdunTVE3S+zWbjdXX1eCOsrq7WyKyEKisrvEDm4e2HnnMxOec0OjZmBKOUKMg33QLlmpFKfG5ervLz8xSLx4QBiKfg6VOf6JRJ8+1WTRiZh14kMTNO8VxMGrm3w+qVmk75YdLeWDelCqvDoJFb/clBlZeXq6cn6fMoLSuxWPtv5623p897NjKcu6e7z87jnZl1ZyxezkjECaWMGM01IlVWd4zT7p4e5eTE1dBQ5+vb0FCrl176nBGMewWR1tHZpZKSYlEOuBBGXckxXVayT7nIUmmcc8q1axVZSm+5uIicWy6fiYkJMcxxYGB27l/aGI/HDa+U4TBiMrpcUfPiISYhFMmPvPF6ZH+eUhYHUf0hFBJ2j1KvLJIFlYDAmiHAx6iujg5PrFXX1op59SAX8ZJzznniK91LMduCnXNi2DRTGSx3f2ab50r0nHNiWPGMc9a/lQnCb2E76KcgGJ1z87J2zol6Z3M/Qh4i0UcN7mWkrq5uXp6T1geBbbK3R7du3FDzrVt+JAHzJra3ttl+q/qTSZ9mcHDAPiJN+v30H+rb3dnpPySxT/vS47PZJ01peZk9D/LtXE9kk2Tb6dhTe9u1KTQoIBAQCAgEBNYIga20+Mr/emp82VZP5pXN6bxyZXBuf7PuMK9i1yab63GzYrXO9QrZP0AIQIxAJEIsIjlG1LCNJBaPG/E1KxhPGCIPAjwQZYcO7VNLS5sn4ianpnyzJ4zsixvJBtGWmoFcnVGeYTaTSgnPwmT/oN4/+rH++rs/9F6LBw/uM+Oy2sinaZ8++gFHhGM8dZL9A4I0nJyckovNN1AIQwPtAAAQAElEQVQhjvAcRHfX7h2qqq40knPQz7MI+QdRifGatLI7O3rU090r6ljkV+H0jKERjBMaHBzyZUD8zaRmxByRJ06c0ff+5kc6e+68du7aoT17d1GMUkZC0lbnnHLsGuDcU0ZNTZURqOXqaO8yEnJSjUZwNhjhODY6LkjFuOn6DNbxB9zG8ao1WawYMO3q6lKHkR2Dg/f2/GOxGufcnJEODgiGP56B2RAeY0YuM8Szvb3dzkG/IBWTyaRh1m3nZdCwXP6ZvrCtYEAbyRPCE4J5oU44DgisNQLOzfZPzjnF4nFBZk8Y4dVlZFV/X5+Gh4fFXH7tra2i3+BaV9of9050yDXLNRwdR1vnnP9wA5EHsejcbJlR/P3YOufE3JDOzZbNPKYQfRCAEIZRHeiPaBPhCDp4XBIe6SzcOueELn0IsrAPIYx4hHzqGxpUXVWtsvJyxSwtBOPw0KAfjj1oHzqG7YMSWFJOf1/SL7gSeYpO2jOrzz4OQUIydcmMPauoL7orFeec90StqKqSi83istI8trp+bKs3INQ/IBAQCAhkRiCE3isCkImbcfGVpdo1U9KwVPRcXO4Weub/87+8qUAqzp26sBMQWH8EnDNOalYSiYQf1kWhMRfz4eyny8jIqCdDojCGfUaGSxS2HbbxWEz7D+zxhFlLc6sn6WhXIjHrmTFhRhpGmXNOYEJcTm6OCi3+wIG92rNnpycYGaaan5+vGSPw0LlLLH1TU4OeeOIRL/X1NZ7Ai/Scc94T5MaN2zp//pLeefsDnfvkoq5cvqb2tk6v5sywa2ps0NjomD4+dlLeAK2vFfWZVcAwrtQjjxwUw5ZraiuVY6QoRCj1PPTQfj+/ozNliFTbeKO1oKCAXU1MTvrrgkVhLpy/7Od9ZIg3i718/PEpffTRCV24eEUtzbNzczlHTj7puv1A0EEaZiqA8KSRdVybIyMjYv9eSMVYPObbT1nOOWG4IxC9YMSWuMWE+uCFCNFCfSaMfEEXomV8fMyTLhxnI7Q7Iia7u7s9ecOwc/LkOisrK8smm6ATEFgxAs4ZmVRYJAiz+vr62S1EV22tGD47adc1c7MWFRdr3Ah0yEVIxoXet/RPuvPHPvdpJlIRFedmhz5D4NGXEnY/ZV6/Yd0aRB/3fBTOMzPCgrhInJv1UlxY15g9V9L1F8anH0d5oQ+RWFldLRZhqTPM6xsbhTQ0NalxR5Pfb9yxQw0mVTXVvl9ob2kVi6kN9NuHi84uTz5ynu71ow/pS62f4Tyn1/dB2Y9tqoaGygQEAgIBgYDApkDgf/j339VWIxOzAW48lshGbdPpBFJx052SUKEHBIGSkhJhuGHAYLxh7C1s+ujoyByhiEdd0oibxQjF/v5+v3AFZMfCfLbCcV5erif5IJQ6u7p9u/HIg2CDUMPTr729S319Sb/oSnFxkfLy89TUWK+nn3nSe/LhWTg0OCRIv8XaXFRcqPKyUpWXl/qh0c65OVWMNzz/Jo3AfNxIx+eeO6Ivf/FFM+ZrRJ0Yao12Y1O9kYQ5Rjpe8cPR8Bp0cnP5QHphCJeWFvvhe3EjFOM5Oaoz4vHw4ce0Y2ejurp71NXZ49M451RfV+PJRIZk4znJ/JGQiLdvt6h/YEAHD+7VF7/4gr7whRe0f99uI+4GNDAwJIxmn8kqfqjnQm+dTNng+YQsjINw47pjy/WLUY7Rz3WKJ18kESEAwQcxN7rMiqXkA5HCPUIdwRJCcCFZsrA+HNMeyD7q45zzw0CZ/5A455wfvk08x8sJbaZt1BtSk/rU1dfZ9VDnh4hmm89y5YT4dUJgK2c7I+sPJsT1x/0QScI+PEB0QW5BcnEM+RXPyzP9Sd9vpjeb+2Dh8VL3n3OzpOK99Cvp5WW7Tz3HM3hBO+fE/ctzEu9JcKA/WJgv3pV4ODLvoHPWnxoJy/MVfWSh/mLH5EPbc3JzlJuXp3z78FdQWOg9BZk7EWIPYb+8okJ4D5LXkPXRDHHGK9HZR6eqqmoxLH3H7t2qtbo499nzAf2VCM+lOstjJWm2i25suzQktCMgEBAICAQE1gaBv/rJCf3xT0+sTWb3OZfR/OqsSpxJMyqzSrAJlAKpuAlOQqjCA4cAniIYLhg7kGiZAIDEgLDBo2RgoN97azn3mWGSTtxEHlkQNuhvFWIxRntMIG8qKsr8Aip1tdUCm+rqSu/p19XZrR/84FW99eZ7qqyq9PMKQsLGY3GvV1CQ0L79e4xgG/TzHerOn4u5eT0yXoIQVKmZlPcs9PFex/kUlNnR0WXGY6EReHu0a3ejHnr4gPYf2CuIym4jAVHMz89VdU2lGowgrDMisKioUM458S8ei/kFZn76kzf0wx++pldffVu3braIocy5RirmmqG6zwhB8rl587b3TqQtO3c1eaLw+o1b+rvv/1THj51WWXmZSIPuo48c0gEjFSEWH33sIT83V6fhEo/HiV6VOGc1NllNYq43PAEhPCADyINrDlIA0hsSLpLoOkW3qKhIubm5qC8qnCPui/LycjGXGkOd2YesXDTRnQjSokc5kJLMl0ZaCAmOyY+876gvuoF06evrm73n7Mzm5+errKzME5Sk55wp/AUE1gmBGc14b1qutfQinHP2ISXf+qhicV1XVFYKQhGSyzmXrnpP+8vdo/eU+YLEzjlxf3JvLojyh2CAcA/6gAw/9EETY2Ninknqjj6SQXXNgnhe0N/k5uQKAhLSDxKxCc/F2hp/niAeC63Pu9dCE0Yk32seWzF9bCtWOtQ5IBAQCAgEBNYHAcjEf/37312fzO9Drv2xsiVLGZuZfex1b9F5CVdJKi6JSYgMCAQEFkcA4gXCcHGN2ZUtITYQdCHdIGdIS7qCO0YG8RhPGGQYmXhzdXd3Cw8xSBx0N6PQniNPP6EjRx5XgZGCtBGy7Rd/6eueWIzHY+L4xRef1TPPHNbzLzxj2yeM2ClRY2OdXvz8s6pvqPXz7e3c2ajPf/5z2rGjQfztNdIOD0PmQMTYLCsr1UsvP2ek3R6ivbG+c2eTXnjhWdXV13iCkQjmNTz85KNKJPK8d9CMkY/79+/2XpDUA29IvCl37mzQ13/+y9pnceT9wovP6JFHD4n2/OzXvuj1jxx5Qk899biFH9SLVjd0IdsgSl+wtjx5+DG9/IXnBUFIngcP7fP1OXLkSb/Fm5E8n3/+aeEVCT7Izp2NetHKY/j2zMwM1V6VkBbJJjHkICRipAuhhnAOCcOwZgupyBZCr6KiwpMelZVVKikpVXFxsZ3nAkW66C0l6CUSCVFOtF1KP4pDl7K5J0hLPuwjxHEc6S625R5CIq9E8luYjrzq6uq9x2KZkY2L5RXCAwIrRSBmHya4X7jGFksbi8e9hzTXeLmR78rizznn78GlVCmb634pndXEQfSRLm71nr1vZu8d+oro3iT+XgQPxamJiXvJYsVpCwoLxPBzPBnLrM+DQIzauuLMQoJ5CMxaVvOCwkFAICCw8QiEGgQE7j8CH5y+rq1MJt5/xDamxH/3o5Ywp+LGQB9KfQARgMiBHEQgLu6GYMYTKc7NziOHPqQFxiPEDsQUHhsYZ6QlDMHzEVIHoieRKFjWG4y0GyW0gWHBCHWALIvHY2IxkoKCfIFLTk5cVdUV2r27SU1N9SoqKvRkYG5ujvBoZIse6aqqyo0IzBftJz3xhIOFwej1840oRJ+y8DSsqCg1jHJ8noTn5dn+zLSfFwvv0NbWViWTfUZajhvpOG15j6m/P2nxQ4J0pPwZIx0rKsrMUM834qzIk5oQmwh1LisrUXl5iRn/eZqanLKmzthxqUmJKsrLVFiYsHwnfD1qa6uEZ2SDEabkTzsYnh03I3x6OiUkbhhRHvG0wzJc1f+YkRbIahLn5uZa/ctVV1fnBTKbIYezx/WCgGOoYmlpmT9nnDeu3dWUtdI0OTk5/t5ZabpIHxKe+wiSA6KGbaa6Uw7tKioqMpK7zEuUR9gGBO4FgRn7UMCHIrzN+/v7l8zKObfs9e6ck3PO50O/63eW+OH+znTNL5EkY5RzzvrFAusj6kX/UFtbq5npaU1PTd7pF4rEPZYx8QoCnXOCyJOc9aO5up9/ZeXl/vnB1A6r7U+Xq293V9dyKsvEb83o2Nasdqh1QCAgEBAICKwlApCJv/bb/2kts9yQvDqnihYtd7rxqbm4vrH5q4vORWyBnbahKf27QCpugTMVqrhdEIC4wFhczMCD4IIMw7ikzegjEBlxI5gIKy0t9XNMEQbBiFcLhhtSWloyt8AFuptNaBuEWNRO6hcdR2GRDuGRRGHoEAY+bDlG2EfYR5d4thwTzjHCfnoY5wLPTsgkzgmeoOwjGIsI+5wDjH2G/BIW5UNeCMfpQhhCGMOto7pQxuTUpHx4KuWNUvZnZcoTqqRDUimeLXgjznh9wtAjL3BbjZCefLiWuHa4hhbLh/hEIjEvGtIBMg0pKCjwxAH7RUb6QkaQb44RwvMSbYEDcIDkQNjPpsrogc+aEQrZFBp0ti0C9E98GOEjEd7B2cwfuhgY3Idcl5D9EHpc14vppoffS99CPlGZzH1InxD1EeOjoxoZHkbFC32F37nHH/oz4xOVl59/jzmtLHlRCR+L8jVoxC/nbWWpl9fmGmBuxuU1t59GIBS33zkNLQoIBAQCAitCoLm9T9uBTKTRt4fnG1KEZZL2wclMwVsmDFLx9SuDW6a+oaIBgc2CwGrrgRG0mBGyMA6CCxIKA4MtZUJsQWTgEVZUVCS8qdgShkGHTpDsEADT8bFxT9hFKRj6hyEOUevcrIdPFIfBT5roeKttub4gDbj+uF7wMqSdmdrBtTc2OpYpatuFQQ5CfkCYZts4SGbI5XDPZYtY0MsGgZiLeW9f7s/l9J2b3z+hD5nIlns7ejawJWwxoU/AM5L+gfTO3Z3vYmnTw+lXyCOdMOQDBmHpemuxT507Ozr8BzTu3ZXm6ZyTc4tLlJ9zd+vQX+Tm4X3+2fu/c5/pLZV2qTjnnI+eGB+/49nuDx+on0AoPlCnOzQ2IBAQCAjcjcC/2dxzJt5d4SVCLicXf6xN1z8yl/KVbUDGfftkr/78VO9cm8JOQCAgsDkQwEBDIHciowxDCg8WahjIDFBYvUCmFRYVzssAYzgiaDGu0yM5F+nHW22fdiFcQxDTeEFBkmZqB0QA3pSZ4rj+OsyYRyDVMuls9zBIBa6V6L7c7u0N7Vt/BOjPmZ+P/n619xX3NgLhnW2NnXN+vlOIR4hIvBoRjrPJg3qjrxmJj19RGvrLgf5+GXPnP3xpjf+YP3EmldLY6OiKcx4bm1Bzc9s8aWvrVEtzu3p7+/0wavr/wYFhr5OTk2vbdpPZNHn5BWrcscPrQf6OjIzp8uXrunG92T5QzYi+AWlpaZ9L09HRbVDEhPd3T09yLjyqRzI54OebJR2Lvqy4UdsgweKW1zZoXGjCRiEQyg0IBAS2CgJ/8Iev6+3T17dKdUM9FyAAqdi1RReYWdCUd6PZrQAAEABJREFUcBgQ2BYIYIzRELYIBibkD/sYHBg7xAdZPQLgiKcnHokMJU/HFGMazxfn3LwCOAdb1UsRDzzaC5FKOzD+2c5r4J0DrjOIiTuH8za0n7TIYunnJdiGBxCukLLgtA2bF5q0QQjMpGbENAtcX4tVgfuSjwGZrj3CEEj/xdIvDHfOiQ8N9A30e+wXFxUr26HSzjmfvraudt68ojNG9vX19HiSjFWpF5a7+PHyMc45NTQ1SS6mvt5eQcJqBX/jRij+5KdvGQF4e05aWtp08uRZQfxBkiKDg0N6/72PNZOS3njjXV27dlPXr9/SRx+d0qnT5wWZCCH4wx++amRkmy5euqof/uBVO4cjisXievutD3Tlyg1fxqmT53zc6OiYujq79cHR47p+7ZaPu3H9tgYGhoxwdPKLvZSXr6A120c1EIrb51yGlgQEAgIBgRUhwLyJv/ft11eUZrMrn+u2T62LVHKycp+PyZ1vZ/qwrfwT5lPcymcv1H07IxAZiMz3h6EIkbOUwbmdsVjrtkGyYUTn5OTMy5pjFsUhLj0CMm0rYx+1l216uxbuc81xnUFuLIzjOBaLea8mhoiLgAdMuAZWSmI8YBCF5q4QAe6p0rJSVVZULkrm4RHLc4APTItlH4/HxTyGi8VnCnfOea+6uTh7v12uj4h00XPOeVKxoKAgCsZhUfSXEIvO+ou5iDXYcc7KKy5WXn6eX+CK/mol2ULKtrV16PEnHp6Txx57WH19SZ9flNfU9LQ6urqVmplRe3uX9uzZpZ076vXY4w/r2LHTpt+vt958X/VGpj515HF97nNPGSkoIxxPijp1dnZp184mr//0M0+qp6dPly5e9QQofWt6+Q0NtaJeXAd593leyKi9G72NbXQFQvkBgYBAQCAgsDEI/Pa//+7GFLyOpb7XPLFo7pOljT5uRvbG5fe2x0+YT3F7nMdsWhF0th4CGCdjY2PeaGMfQmPrtWLz1hhDDkmvIR6MeKBgoEfheORhJEfHW3GL0Y8sV3fIi8XaSno8msBouXy2YzzXBZ6tkM7bsX2hTfcfAYgkriuGPTMsNr0G9E0sCsVchxD93Jvp8dE+fRXDlrk/o7D13FLnysrKu4rgGTU6MuLDIRM59gdr+OOcU1T2aoY98wZP/5XITwiprKxYsnZWnGqqK9XYWK+mpgYNj4yqtzepa9dv6cjTT6i4qEC1tVVGUD6iCxevaHo6pRlLVFVVYfr12rNnp3Jzc5RMDmjGSorbR6zc3DxfNuWzqBqL13R3dmqwf8A0Hrz/sQevyaHFAYGAQEDgviGwaQtiqPP1jr5NW797qVisvEmZxCVKlIg7dW/DIcIMfX7j8oP5InMv10pIGxC4HwgwBI2hubm5uXIOc+h+lPpglIHBiyxsLcP/0o1zDHuI3cmJyYWqW+YY0gEiDO9C5xa/jmg3w6MXNgyvzYqKCjOOcxdGrckxQ4nxwIq2a5LpGmeCByv34WKE6xoXF7Lb5ghwTy70KqSv6e/vF3OVdkIyDQ4KD/VM/ZRzzs/NB5nI/XmvcFE25OVS+UAm1tTU+mG/kR5eu4MDA2q+eVOd7e3SzIzoYdCNdNZyG3nyraY/pq5vvXVUb775npfh4VkCdLH6gfvRo8f03vvH9MMfvKLHH39YeUYQ0k8VFCTUcvu2l/LyMo0MDWtqalJ4Z548dVZvvvGefvyj1zUwMKh9+3fLOadkX1Jvv/W+L/v99z/yBCRDxJGJifHFqrGtw2PbunWralxIFBAICAQEtjcC22mo83/xc0/rf/ytr+oPfvtX9eEf/vdqeeX/oaL/2/czyo6HH9fhxkJ9/eEy/d7PN3n5rSOVerq+QA3FOVv+pP/xqV6F+RS3/GkMDdhmCOTlzQ7twjMFMmihB8s2a+59bw4GPUYvw9AYUoghD1kEcQSRG3mjcTw2NqbxLW7wQYbRLgjqeCyeEW90kIWRhHE9Lgxfq2NwB/++vj4lk0lBLq5V3muRD/Xr7e0V18mDshL2WuD2YOSxulZCVuF5GKWmn8cjkfuAcIhESL4ofuGW9MSTDv2F8dkek0dEYFLmUunoL4vSFrUiLQKRiMcgdWE+wPqmJk+gLZXXquJmpInxWeItx4i9leZBXw4pePipx4QUFRX4LGaYMNHvLfxxqqqqVE11la7fuK0jRx5XQUGBwAFvxAT78bgfzkxYlBqCt7CwQBWV5frZn/2i5VHu8cg3EvKJJx7Rk4cf1cOPHPRtGTAytqCoSHUNjXoQ/wKh+CCe9dDmgEBA4IFFoLm9T7/22/9py7b/i4f3ChIxIg//3//mV/Wvf/Or+rWvP60d9UsPe0hv9OMNBUJ+46lK/e43mvQf/8EeTzD+/MGSLUsuhqHP6Wc47AcENgcCGGd4QjDUGTIxbobL5qjZFq/FneoXmRGHcYjXCgQWhjzCEGfIM+IxQFHnXCDsb2WBGKTNmYxx55w3ejeqfZB2YM+Wc7JR9VhY7uTE5BzJCbGcWpR8WJgyHAcEFkcAIi76mEHfgncgx/T3i6eaH4MuBDxEPGQ3seQFQRgdE7aYUAc8ISEklyIT8bqDMCsqLFRvd7faW1rU3dmlocFB77XsnFNqZka1DQ2qb2xUSWnpYkXeW7iTX/BFVhbDq2nrSjLkGbp//x4dOrTfC8PNyyvK/TyH9PX0jz09vSorKfZ9oTVL+w/s0d69O7Vv325dv35bZeWlqjC5ebNZLBJTW1eny5euqaGxTrk5ubKE2rWz0XSKVV5aqERezGM2Y3UuSCS0e88O7bT4nU31SqWmxbOmuqbGMCvRg/gXexAbHdocEAgIBAQeVAS++8rJLdn0iET809//F4JEXAl5mG2DIRj/u5fr5sjFrei5yNDnzeqlmO15CHoBge2EAMYSRghGJkTLdmrbZmgLxmN5eblqa2v9YiNg7ZwTRqfu/GFwO+e8RwpGNwSvtvgf5DSGdNQMvGkiDKKwe9lCTEBSQNKuJJ+CggJ/HpxzirmNMzMhDal/JN093eLcc31wzaRfHwp/AYF7QID+hf4dMpH7hmtsJdmhDwHP84H7jWuWvOinuK+Xy4v0lLuUXmp62nvSTU9OaXR4WN1dXYLA7LX7or8vKTwTIRB5XqWmplRoH2qWyu9e4/DmKykrE8Osh4eGVpQd7X31lbf0ox+95oV9vA6vXrupn/7kTb326ts6d/aCnn32KXhBEyfu+fGxUb3wwrM6ffpTdXf36ktfeknvvfehWNH5jdff0/Ubt/TSS88pFo8pbqRnfiJfsZgzwnV27sTZDyQzdjykV60Myn3tdVaQvuU9HlfUiG2mvHE9/TYDMjQnILANEQhN2mYI4J34e99+fUu16g9++1f9MOb1IhEXAwNyEc/F//kbTdpqXov/7kctYejzYic2hAcENgABvBcgWgKJsT7gQ64xZyDEIgY4hh8SlYaXIuQbhijhGO5R3Fbdci0x7BmJxWLeQybCgPbeS7sgMiAb2EKWrCQviBEwpk7OjPGVpF0L3YhIZNgpJE8ktIX7kLnqwIlrYS3KC3kEBECA+2Q5Ug+95YTrkmuWvLiH6M+WS4MeHxOQ6urqeerTk5Oibjx/IAonxscEacl9SlkM9x0zoq2jvV2QeyRmuDPb9RT6LwTvzPGxMVGXbMorLSvR3/97P2sfkKpVXVXppay8TPv27dHXfuaLYrVt5ph9+eXn9cijh4xIzNHXvvYlFRbODouuKCvWF7/4vCBYn3jyEU8gkmdVdaW++pWXtWNHg/8Y9dWf+YKYU7GyqlrgUVVdoxr7aLVjR5Ne/sILqq+vU32DiW1LSkvEnJDO+uFs2rAFdFZcxdiKU4QEAYGAQEAgILAlEfiDP3xjy9Q7IhIZyryRla4pzhVei1uJWAxDnzfyigllBwTuRgBjCZKF+dvwPIGswaBjaC7hd6cIIatBAC8UjFQMaDCP8oBIYigcYZFEcVt5S3vLy8oVkWS0hTDay/5qBCKD6xRPJQzzlZCTkBaJRMITGCtNu5q6LkzDvcTQUQgZ9hfGM5SR9oAP18HC+K17HGq+HRDg3oUUjKTKyKxs2uWcE9c11zTEeZSG4+mpKcUtHmKyoqpKdQ0NXnbs2iWEob619fXee5Hhx8455ds9HOWxllvqw8ecvt5e3b51Swy1NiZR/cmkX7Qmm7JycmJ64smHdeDgnjnZs2eH9TnT2n9gtx56aJ8OHdrn9+PxmCYnJ/ToowetmJSKS0rU359UWXFC5BOzDx4HD+6zNPu9MIyZZ8e4ka4PP3zQiMWYYZEvMMJbEfK1oqJUjzxyQAcP7vVywOpRZiQneXP+smnDdtSJbcdGhTYFBAICAYGAwHwE8E7845+emB+4CY8Y2szCKhtNJC6EJiIW/68v122JORZfuTwQvBQXnsRwHBDYAAScc8ILg+GWEB3IwMDA3HxuxPX39/sJ4TegetuuSAzr/Px8MzBT265tmRrEPIq0GZIsU/xKwyYnJ4XRDzmI9yNEbLZ5YFCDPULatapTtuVT93RCJT1dwkiS0rJSfy8uppOuH/YDAvcTAe4zvAvxno2kKG3hFMg4Fv7A8xbCP10YIo1ApvOcicVi8qRkTY247ifGxtTf12ckWo7KKyq8lJWXq7SsTJBklGeMmxBnjZ5Jzdjv2v7n3mxtblbr7dvq7uzUgJGIU9bXUAoeih1tbT7ck4wELiIQfvF43Mi+dIkZcTgpPoLk5eUqLz/X73PM8xV99nPz8jxxOjQ4oAEjFolL+fkPc70n4+xxyvcR8XjM5wHuYER12HfO+bJzcj4rn/3cvDzFDHc9oH+xB7TdodkBgYBAQOCBQmCzeyfuravQX92ZH3EznpioTgyFZgGX3zpSuamJRbwUz7WNRtUO24BAQGADEHAO82y2YIyRSDBuIBYxsvAIYwgaxsysZvi9FwTyjUzEsMP4Btsorwh755yfUysKX2xLWox3BAIKQx3vUsIXS7PVw8fHx0Vb8WYqM7IBkmOlbXLOeeJiNWmXK4vhzNwrmfSIg5jnPGeKz83NFdcGZCnncjG9TGlDWEBgPRHgXoFMhMSHMGMhFgjChQJhODgwKPq2dOFZwjXN84R6OucESYjXXGV1tRFs+Z5w497p7elBZb6YvnWKnlxkUZaenm4/p+J8pZUfRfcY/QpkIqQm919FZaWadu5UI7Jjpyqrqqx4p96eXrHS9MpLyj4Fzwa0nXNs1kTiRnCuSUZbOJNAKG7hkxeqviQCITIgEBC4g8Bm90784uG9eveP/nu9YNs7Vd70m994qlIMg24oztm0df3jU73BS3HTnp1QsQcBgZkZea8FDMby8nLvNYLnFuQG7cfggqCCYMRAxPAiPMi9IYDRiHGNAQ5BRm7OOW+0FhUVCcKMsKWEc8R5wQgnH8gqDHfyXSrdVo7j+oOY43pdrXchpAhkxnrgAOlOHRfmTZ3x2MoUhy5eWqUlpd4LuD/Z7z2PCA8SENgMCPAcgBDsMbIPQpF+ZnQLkawAABAASURBVKEQz/Wfmkl572v0IlmsDc4ZsVhSIoY0FxUXayaVUk9Xl/cS7LOyujo7Rdn0l407dohFUshrIJn0HwXYv1dpvnVLbS0tYuGVpl27RDkMvY48JcsrK1RdW6u6+npNTk2KYdedbW1qvnlLpF0FwbholSE0yR8FyFbnHLtB1gCBQCiuAYghi4BAQCAgsJkR+De//91NWz3mSvzT3/8Xm7Z+S1WMYdB4K7Joy1J6GxUXvBQ3CvlQbkAgQmDGG2wYfpAekFR4fuGNwrx3DEuDvCEe4guDMUoZtveGgHNOkGLgS04QiZBdhHEeCFtK0EEwuDl3kFXOOU9KLpUODxzmyMS7CBJgKd3NFgc+4HQv9QJvMM6UBzh2d3ULbD6TzqyO8Q6F3OU+YR+J8oBMJO9MZeI9BIGcn8j3QxknJicyqYWwgMB9RwAij0KjDxdc3xGpSPhqhecJXo6kp4xC+4hSWVUtFhYhbnBgQJCJvXYvtre2Gok36hceGRoclD2wlJOb64X0qxH6TAjLFiMTI3ISUrPMPqpB5HFPOjfblzrnlJuXJ+rYZKQm8XhR9if71G/EZl93t1pu3RZzQZLvaupDGgjNro5OxXNyVFVT49tLeJC1QSC2NtmEXAICAYGAQEBgMyKAd+Lbp69vxqr5Ic6bba7E1QDFoi0MgV5N2vVOE7wU1xvhBzD/0OQVIYABh8EIEQLRhFEEcYMXFwIBQxiGn3NuRXkH5cwIQCBB2kLeQgqiBclVUVEh4jheKHiKco7SwyHXIH7ThXOXrrNwf2x0zA9JxMOI872VSEWwwpOW63JhuzIdQ+Jl2z50wWNwaFBgsxohDzxEF6YlPFP9CGOYM+eRfYT7kW2QgMBGI0C/n14Hrs1s76f0dOn7PEfor9L7KeecEgUJlZaXqbGpSQ0mkxMTRrBPetJuZiYliL/Iew+P3vQ8V7rvnFN+fkLclzOWmHuworLS9pb+j9cixGOisNATftST/WRfn1qam9Vy+7YnQpfO5e5Y5mjsbGsX3p0sSgOhGA/DlO8G6h5CYveQNiTdAgjwpfTG9Ss6/vFRdXd1ztW4va1FHx59V2znAlexk+zr1ccfvqcb16+uInVIEhAICKw3An/3aVLPPLJbO2vK17uorPOP5kvcSkOcl2scQ6A3I6kYvBSXO3MhPiBw/xCAsMIDBW+3qFRILwyumZlZb8YoPGxXjwB4QiJBkKXnQjjEYnpYtM85wdMNYjEKQxdyLZJMeUa6bDGgh0eGBYHMMeUj7G8Vob7glE19sTE8SYhn0xIJwAU9tlzni6lCZED6grtz88l10iGkZYuwv5xAHNAmymbYOm1j2oHl0oX4gMB6I5DtNZxNPbjO8XiHTKS/oq9amA6d0vJyldmHlcYdO5WXSAgSc2R4WLNkovPegnjzeW/FhRms4LigqFAMs+Yu5qMZZWeTvMDIRIY/1zc2qryi0g/XLq+sEPlQzwEjF8dGRgRJODa6/DzheDZ2dnSIZ29Nba3whKQ/yKYuQSd7BB4oQpEbBPLr6HtvCTl98pifpHQxuEaGh3Tso/e9LvpnTh/XyeMfzR0Thly+dH6xLObCeVHJlJb01OnalUvpdZlLd687t2/dMNKw1b5CTN1rViF9QCAgsMUQ6Bqa1PdvTmv6yFf0+Fe+pK+88MSmIBZ//9/86paaLzHb075ZScXXrwxm24SgFxAICKwjAhiQGDbppCIkCgYXcRAeyb6kfx9kTsVksj+8v63j+WDoX9IM1P5k0s/xxbs6JNlqi2TIOhKlhxhDouPtsgUjCEKGaLIPbku1Da9CCD2u8aX0IGLJC8wgRsrLysW9sVSapeIgMSLyIDovkC3R/lJpQ1xAYAMQWLRIPA/xumabruScE88Q4ri2MxGJC/Wdc4Kkg4DEY7uvt1ezH1JmPMEIWbewnPQ8stmHAIRQxEORPiKbNJEOpCLEXyzmvKciRGB1XZ24n8mrva1Nba2tYmg0xCek4YD14fTjg/39Sp8rsae7W/TzlVWVgkx1jppFJYXtWiHwQBGKXNjPPvd5NTQ2efzGxkbV15dhtSMfK3V1dfqXOh5GTzz5tJ48/IyOPPOcDj30qGKxuCoqq/T8i1/QwUOP3Emx+IYvYulpmcfgxZe+pKee/pyx5cXq6GjTpQuf2I08vXgmq4jZf+CQdu7ac1fK+oYmq/vLYqss/yBYL138dJ52uX09+NzzL2nP3v3zwsNBQCAgsPEIpBNJbTkV6tv3jKq+9iv6hV/+2Q0jFv/q9//FtiQTo7O9GUnFE+2jYXGW6ASFbUBgEyAAuZJOKpaWlon3RML7B/pFXNIMJGlGMffZq/qMWWfd3aM6d65L777brDfeuOXl6NFWXbrcpyH7iITOJmjilqgCBBcGaFdHhzeoOWbI4axxnU0T5usk8hOqrKzUckb9/FRb7wijHsI7FouptLTUbKUpj1+mlqALiQ62meLTwyAewZ40hJeWlQmipKSkhMMViXNO1C8ql/uLcwOBwv5CohJd7D3nnMJfQGCzIeCcE4RhIpGYVzWub2SlfY5zzi/CUmNEXUFBgciD+QVT0yl76kgQ+5B1U5OT88rL+sDyhxSkXv32LOswEnC1RH5efr4nBRmmjUclUx5Aeg4YeUjf3drcLLwQu9rbZ7ednYJ0pFw8L51zqqyu8YRk1vUPiitC4LO3lBUl27rKzjm7IUvtxS1hjXDqaG9VavpuEm98fEzJvl7xcInHc7wLsCXw/xOJAntIOcXjcdvGtJK/KK1zsw+sgoJC7dt/UNwsQ0ODnm1fSX73U7enp1vczPezzFBWQCAgsHoEvn2yN2Pi5qIdnlj8xj/8ZTEcOqPSOgRudzIxgmwzkorp5HJUzwdyGxodENgkCEAe4uUFeVJQkFBVVZXwGIHogFTB+OL9lI/fI8PDunG9R++/d1s/ePWy/viHp/Qff/CR/te/O2rygf6z7f/lj87qx69e1bFjLepsT4o0QYaXxMGsaE2nUsI4TU1NaSY1o/HxcXFOVnOZ5OTmeDKxoqLCn0uM6dXks9nTQMhxvULQlZeXq6ysdJ4nIfhxbbNoSk9Pjx9umN4mJ+dtKOwo55wW/s2mT6rP7DDuk4SRKNwbKyEWSUP9IBDJH3uOMO4vSFCISvIsM9KywAgVPCJpE1viSRMkILBZEIBIY0qGqG/h2o2Ee3A19YREh/SDVGzcsUNIw44m7/HY09Vlz5F2tba0iIVbBvsH5qZyyLYs7rWq6mrPpeBNCPmHN2GUnucb5CDPuigs0xZSsLe7W0UlpWIORIZEs52xvptn5YARi3g1ghHbCvuowz7l0bdDlubm5WbKOoStEQIrY8PWqNDNkE2+PZxg+nnZ6u2920sRF1kedOitd30hFfPz8sXFP25E5nqXt5r8B+yLOeQrN+Vq0oc0AYHVIhDSrQ4BhjsvlxKvRYZDQyyu93Do//G3vrqtPRMXYv0bT1WqoThnYfCGHZ9rW36umQ2rXCg4IPCAIgBZEhlTkB28l1ZWVtlH73xNTUyKlTLbWtp06mSrXnn7uv7wJyf1l++c0rsXrulcc4sutHfoUnu7Tt1s0WtnL+mPXzuu77xyTq+/c0uXLrSaIdgmPEOCZMahp6tbGJxcfrzfFhUVinOAoU3YaoUhu845vzhLX1+fX5xgtXltxnSQc+AEsQhpAGlHm6krXoYMhcaDEbIA70SGMhMXEXc1tTXe8xBSDwIPgcRz7jNycXJyQlE+bMlncgXeUthwRUVF/l6i7HQhjjrTBgjFSiMg0CWMtkFopuuH/YDARiNA/4T3NPcc1226cO2utn7OOSWMUMcbGCkrL/fzFlJOlOfgwIA6O9rVZuTiSh2LiopLPAlI3gxFZnVp+A7yhgzsbGtTW3Ozf071J5O+P+Zen7APOxCZ3Xe8DSEiq2qqVWEf3iqNpCQ/thCWVTU1Ylh0g5Gi1bW1Xqe+ocF/5KDPgHikvCDrh8B6EIoZa8uNQMTCLWELBZ1UatqY8CmTu70HF+qv5tg5p5q6ep+0s7NdlOkP7Ieye3u67IZqsG9onz3cLGpd/o/bTcMF75zzLD77N29c1YnjH6qttVlnz5zwC6hEi6q0t7X4RVaYf/HDo+/oyuULRkZ+hhNzRTLf4wfvv+31Fk5amp5/lCcN4wF64dNzVtY7fp7Ik8c/El6T/ck+Xb74qUg3ODjg486dOWllpuzLxW1fz9aW22ThhY7i5o1r+uiDd70ui7+k15F8ovaBPXG0A2m+fdPnwQ9lUwfagc7VyxfnLSyDTpCAQEAgMwIr8UiDWGQ49P6f/fq6zLP4xcN79a9/86uZK7qNQ//nbzRtGlIxDHvexhdaaNqWRWAmNSPmTUQiYrGgIOENIbw3RoZHdfXakF778LZ+cvKSTt1qVrMRVINjY5qaTsleXpWamdHk9JR6h4d1vadbR6/e1A8/vqz3T3RpYAhjsVB4oayX5OUXaDqVp9HRuCYmchTPSfh5r9arPOfy1dYxrTPnhnX85KCX02eH1dLGXOH5K2trcZFYWRSvlpSdi9GRUU2MjWvS3svxekka1rxTTxq5m24nLHfBYRBDqA0ODvrzi2dRV1eXkO7ubsNqc33ggdimjiPW/kxtoz0Qo9grmeKjsCif4aHhOfvNOSeIOkhDvKvwMoQMgQRB2CcsncCI8mObSqU8IQuW5E/YcgI5D0G5nB7xEKJR2bSvp6fHl0dckBUhEJTXCAHn1p97WKyqzjn7qFLiORK8ACHqcvPyPNEXi8VXPDIzFo+JZ0FJaZkgLpO9vWq93Sy2eC2OjoyIezyaegISsaO11fiPVvFBDQevmNWJuhQY8RmPx713cywWkycUjUxkS3uIm6G/GB1VUXGxPUdzCVbjzp1ybuMw9ZXY5j+x9WwfD1/Io5GRYfUbKQURduvmNd24flUtzbfU1dlhX+/6/UWaMgIRferjnLMLNm4XTI5JXOv1V11V4y9ymPe+vs+GBnZ3dyk1k1JFRdV6FW3vgDNeIPFuXLtsD69RFRQUqqKyWrduXrcbqUWTExMaHh5SU9MuuynimpqaNAKvWf39ST1x+Bkxf+PuPfvUYy+Q165e9nUdMf0L58/aF7mEnvnci2J+R4g5H3nnp6X55lz+d4LEeSId7T7yzPN69LEn7WVgSpB4hUXFevzJp5VIFKikpFTM/fj4k0fsa0WbbhsByNfd6NyxvXb1knoMw4cfedzq+LJqjbiFuLxw/hPf5qh8vj4QXltbr6effcG/gOIFyfVCPuBQXlGp5154WaXWES0132XUjrANCAQE5OfLW2y481L4JF3Bms+zyIrOf/r7/2KpYrdtXE1xrr52sHTTtG8lJPOmqXSoSEBgGyMwoxlPLmE0YUi1tbSKeaswjOI5cXX1SMcvJPXx9Rbd6OnVWBYeWgNmTF3q6NDRS606e3FIM65IVdU1GeTewlysWDdvTevkmWEjL/v01vEuvXOiR8dODejTC+MaGsmghQAWAAAQAElEQVRTSVnlmpY7PJqvcxdH9fqxdn336BX9+XsXvfzV0ct69eM2nfpkUOhUVFZlVW5+okzdvXFdvpbS+YtTOnaiXx981Kv3P+jW+++36ezZdt260ebfaUdHRoThq2X+IKUgEyG/eJclDfsQYpGgs0w29y0ashAycbbOmYlObATi+yBYjbherHLYNCOG05QR3FzDkIUQiZWVlWY/lJgdkVgsqeKxuCD3FlVYQcT09LS3a1aQxKtC6kfnBsKCOvmI8BMQWGcEcuI5ftoL7gHuGbx3Ibqdc8L7l2Pi1rkas9k7KWEftiDlnHOCjyguLVV1bY2YZ3FWaWW/sZjlY88v7k04oa7OTg0PDam8osITg7UNDSorL/f5098MDQwoFo+rprZWtfX1wjPROatYWrF4EyPwOCzS0tHWJp6jbCEsR4x/KiwuVoX1P2nJlt1tbW5WZ3u7GDLd3tKiPiNB6cuXTfgAK8TWq+0QhCP20IEgun7tiljMg21rS7ORWc1i9WG8zq5cuqDbt2/4k8UFez9PWCwet5u31kiulF00bbad8QIZVl1d570F1wufASMFP/7wfe9BmDSytay8QhBw3BjRQipgUVhYrMqqak8OVtfUGQnbrl4jEI9/fNR7EoIpX7F5AeVB3tJy21j4mFgkhbxKy8qNGK2c14w9ew/ctVAL5C4E365de33HNZuuyuPBuZyXwZ0DFnTZv/+QeOjeCdLgQL+dyx5V28srecRice3evddeJEotbkB9RtxG5TvnBJmIHnUtMEKVFy+EzoT6IHQ+tXV0NBVRMWEbEAgILIFAx+DUErHZRa3VPIus6JxdidtTi6HPT9cXrE3j7jEXSOZshsLfYzEheUAgILBCBCAyMIr6enu8ITOYTBqxOKVbreM6fbtD7f39mjKSJNtsIR6vdHXpxMVW3bg9qEl7JOTk5mgtJBaP6/qNQb35/m395Wuf6NuvntBfvnNGf/vhp/rr98/pj14/qT959ZR+/NY1nTnbo6Hh6TUpt6VlRG9/eFt/+955vXHusj5padXlzg4vn7a26e3zV/U375/Xq+/eUGvbqOJGyC7W3vHxGZ2/0OeHhv/Naxf0Z29+or8wchL5s3c+1bdfO60/eeOcfnT0lj443qtPPuk1YrHdiMVujY6M+nkZe3t6/Db9nAyb3YMHon8nHx8XCxrMpFLpKv69GoIxIq7mRW7AAbYD9eHdGzKQYcoLq5FIJOw9vsTbRYuRGhCTpMV2wZOourra7I8KFZtBDyGyMM/0Y8ofGBzIirBNT7fYftyuUeyKxeKXCnfOzdk1tEXhLyBwHxDAoQfbl/uGewavXYj4mpoa4yqq/P3H8X2oylwRXP9wOdQL4m+5+3gu4YIdiEO8DSesTywoLDRisk7VNbViLsTq2jo/72w0hBkCkf0Zya/KXGEfh0jDPW1Bc/8ZfcmUFRCPzPeYmpr2/ZORIKJvhbCEV3LO+T6X/m0u8RI7fPSBjOzt7lZfT69GRkfFsOuIZKQt8C5LZPFARq0LoThtX6aSRpI1374phsJCnk0v8iI0Pj4mvNRu3rymtrYW76nHBXy/zkaNXcgQWQNGhHkyzAgvLvgqexCuZx3KjEB87oWXvLcfnoZ4BC6cr9E558m9qB4ThtXk5IR2GUGHl2C6sFo0elzo3PD5+QkOvWTzNWF4eFAuFhMvX7I/55z2H3xI5Juel0Ut+X/QXgh4MU4vMxaPC9IwlZq2F7HhJdNzw9NJ0IbikhL19nbrxLEPdf7Ts2ps3Ok7oCUz2GSRoToBgY1A4JOOzF4Gq6kLw6Gnj3xFq5lnkaHOLxzeu5pit1Waf/2F2k0z9HktyOZtdXJCYwICmwABjKW8RIHKKyvF+9OEGV4dnZM6e7NbLX1JTSzyDr1U1UcnJnS+rV0fn2lRT8/aPBN4P790qVc/fPOSvvfeJ/rgynVd6ezUbXt3bjPSs8WI0GtmiJ1pbtHfffyJvv/WeR072aZk39hSVV02rtfqf/xMq94+fU1nLe8eI+6m0og6FlbptbAL1t63zlzVex/fUmfnSMZ829uHdfSjFv3VK5/oT438ZO7Js82tumTk5JWuTiEQlZCU71++pb87flWvHmvRiTO9unG1S+1trX6+L4zMjvZ2YWgytxheMd1G4jJ0b3x0TNMTk5qyc4BRy/xfYBdVCAINiY43cgv5V2OkBVJWVjZrlC+oEO/kxCF4TS2INtttTH19fRofGxf5VVRUeJJgIak3ZvE9RsQy9Lu3t9enGxubTQuZuZituLC8pY4hPyFe2C6lt1gc58lLakaQPIvphfCAwFoigP0LKc/0AOTrnPP3EuQi95Rzs8fE3S/hPqBOMeMHmJ5gpeWSnmkj8PYjH4YmM3S5ys+FWCnIwvxEvmLx2dGocdvChfAc5MMFfMDk1PxVpvHmJz/62x7rrzs7OqQZqbyqUiwuU1tXJyRhz9OS0lKRB300gsfhgD2neL7ysQfOhDbBW6A3ODAgVoqWnOiLYvGYzwtCs9+ebZCM9Pm0adz6LS3x96BFxda6wZBGAA2ZCBnECVmuDC44Tkxry23/oGZFO8KWS7cW8Tzsamrr/YUDodnV2S5Y+JWQaAvrcfPGNXuw9iwMvufjGbthwIULnu3CDAlDFoZne8zNxVfVbPWX0qNjTI+PWWfkj61D9NssfvYfeEj79h8UKzMl7WX13NlT6rIXviySBpWAwAONwCuXB9a8/RCLzLNY9bVf0S/88s9qZ035smX8+9/+1WV1HgSFzTT0eS3J5gfh3IU2BgTuBwJ80MV4wQDCGKqpb9TYZL5u9fRr2MjF1daha2hIN1v71D8wptS0vUSuNqM76W7dGtTbH97Qu59eMwKuU4NGEKV4Ob0TH20mpqYFwXj00nW9+fE1Xb3eZ+TRlPBgg0zCuIx0s9neuj2gD87d0mUjL0cn5xuY6enHp6YEoYlnZlv7kL3bz29zS8uQ3vvwlr73zid6+/wVXTUCECIyk/cnhGVyZESz81Le0lvnWnXywqC6uyeVl5/vp0zinZs2JY1M6zWibHhwULz/xvGOzM8T5DDeLJCKkIvEUV+2pAOLSCDUiLvfAlmIN1QkmQhD6hSPx4WRz/5CwcsRo7yktERLkXnxeMwnxZNzwIx3SEVkpdeDzyTDTyKRWLL8KMmkXUPgP/7ZveWjYmarRG2cgaXwoeEnILD+CDjnxPW3Uf2AFvmjPvQRsXjcjzSEg+BeX0R9Lhheh/vMOadR60fjlr66pubO3IY5Xs/FnN+m/9Cnkhb9kaFhtbe0ChKQBV0gE3vsGUB/Sx9aWl7up0urb2oUz07ISMg/eJya+joVFhfLOadkrz0DjRAkHaQiw6P5CAQxSZ7st7e1+dEBkI11jQ0qNjISDotzUl1b67khPlxBPJKGodVD1ocpw/MvvT0Pyv5sz75GrQX4gf4Btbe3+nHx2WbLyXJu9qKCMOo2xpmHU7bp71WvqrpG+fkJJY20Yr7Bmpq6VWc5MjxkL0yDKiosXnUeiyXkRsnLy1cy2esXYokwGh0d0aULn/hkcXuJgZClHj4g7YebNO1w3i5emtycDEUf6E/OxV27elmcj7mAZXaYeDUWi/s68hIVqfN1lod0SXFJFLTs9vKl8yopKdXTzzyvhx55TDnWNobQL5swKAQEHmAEGNLaNjS1rgg0F+0QxCJei888sjtjWazqvKM+TFMQgcPQ582w6nNY7Tk6I2G7tRHYfrXnHY33utw8I6LiheofndTwxIQyEXbZth4DqNeMuc6eEY2NT2ebLKPexMS0rl7r07FLt3XbDLRJI+8yKqYF9o4M68SN23r3+C1dvdph74ZJe0fmPXlIGJtpqovuUm5H17BudSc1OD62qF4UgWdmc2/SiNSk2SITUbARgaM6cbpVrx2/opNWJ4jEbLBFB2Lxk9Y2fXSpTZdvjSulYtWYkYkRm5ObqxzOGVuT3Lw8f+zD7xzHjKjiPXjKCCw+3s+kUoLMGjQCEsF+ipvBPVfZLbQzOjrqzykOGsVmwC9GSNIkdErNUGdYJx5PeCdyHWAfEH+vQj6QiuQbEbV4Tvb394vj7u5u9XT3CC/JZDIp4iA2OReEDQ0OCVvoXusR0gcEVooA/T9EHddkdK1CvK80n7XQpy44GEGeTY5P2IeZaXV1dHrCzRNyLS3CQxuPPfov9vvtfhoZHvb9Oh9X+np7jQxs8X2+5DQ1OSWeR1rij3IZxkwZYCEj9cetz+eYIcw99gGI5w5ejsyrWGUEZbUJQ6S596OsY/G46HMH7b4nT/qEKA19dszFLGeJDz3kCV/h+6ayMjXs2KGKykrvmQhZSBvp0yinyeJgqyasH+fc8MFId/irqOwHdRtby4ZPTk7YhdOrESPVssk3Hs9RYWGRscplys3Ls3Pi7KKdUk93l0ZG1q9T5+Lk4okeGlwozFPIcbERXixCQv0n7QsWF//09JS/6AhDIOxSqRlN2xdYLlTCENp99col3w6+XhK2UObSTk8v+dCatnjSpufPzQL5STgkH/MostLzqRMfKyc3T7SDuR+5CanHqBGNSG9vty/r2tVLwguU9JN2rsibl1eOa+4M/aZ+n5w7fWd15nfsq0DSnx9edLg5yRvSlcVawJCFYsiHhzf5lJdXehYfN+KbN69budMaHBywF7kuu0GrfF7oReWTnmPyQNifTs2+9HLDRu0oLi5VTk6uv07QCRIQCAhkRuD1K4OZI9YhFK/FxYZD/+rXjswvMRxtigVaTrSP+kV7wukICAQENh8CeINM2rtn/8CEupNDGjcj7F5rOTg2pq7eYSOw7u1DU0fHiD693qmbPUkxR2O29eocGNCl291K9k+qqKhEkEm8T9LObPIYGZ5Uz8CIxoxc9VZgFon6jUS93d6vwaFZQnFqKqUbN5J659QNnWtu1ZAZhFlkM0+FNBfaO3T8Ypuu3+y39gxrws6VvfQLw9ITiGbLsO+c82nxPI3fIRWJ5z0XT0UM2WkjZDlG0Tln2Th2t5RgQwwaKeqcU25OjjDOkREjFrADRu08LGxQruFRbMRjeXm5GGbN9QC5uFBvNcfjdl4hY/B6pF4IZGJ/st9skUEvzNUY3WejRob6eCMesGOGjQDH/sqz8wjxGTdigv3V1CWkCQisFAGuPa5hrlsEchGie6X53Ks+/VK3kXd48M3MpDwH0tvTrbGRUXGf8FGkx8j5SId7HtKPYcik4RhPRu6zYSPpXWyW3+F+Wq5uExPjgsiEYygxgq++sdHPpVhZVSWGNEPqlVnfwYIx9CW5eXkZs0waoUk/VFVdLTwOSU86jsmHkQCR5yHkZI19IGJINjo8n/B0LKuoEMQqbaEfKDeiER3rrH2ZvT09xjnO94L3EQ/gz5oSiiPWEQ8O9gvSaSksOVEQiTVGYu3Zu1+7d+9TWVm5YrG4Twap1Z/sEzeWD1ijHx5uH3/4nm4Z0TVoJNeHR99RS/Mtn3ttXb13w21oaPLHpNA7+AAAEABJREFUhB/76H1PjvLSc/bMCZ05fVwnj38kFphJGenFqsMfvP+2J98g9k6fOm5f6QZVXFTs80j/oYOYl7a3R9Slu6szXc3v45lH+Sn7gplOAhLZtGOXdu7eK24ijsFsFsd9HKqhsUk7d+3RqJGJEI2XLnyq0lIjbO0BTtr6hkaRf1tri78Jbt6YXXE7Pz/hV4TmBnXO2b3ilEgUiPMDUZljLwqQruP2pYA86ywfhoizKMzMzIw6O9p8vs45y+dhVdfUWli7Pjz6rs5/csavtrdv/yGfb3r5pKetn5w95Ylk32YjZQkrKCzyJCRxJ4594MnEvfsO+naGn4BAQCAzAp1Diw8Hy5zi3kMhFhkOvf9nv66vvPCE/p//3S8reCfejetm8VIM8yjefW5CSEBgMyDA+zPvQZOT0xozMnHajLl7rRfzL45PTNk79b0ZPp2dw7rY3Kl+e79cSZ2m7F22Z2hYvUaSxmOzi3uUlJQIAy2bfCanUxpnPsIVYDFpZdLmqanZNre1DevYJy36tKVdA0awZlNuJh1IRfL48Eyzbt7oNZJ2PJOaDyssLBTCwRyxmJ8vCMcZa9Pk+IQgF1O2j5EOecAW/a0g40beJZNJb0tAEE4a4Zvs6/OkIqQCArGAUZ+pPdgxXAdxI+0mLG0mnZWGTRrBO2gEZzqO3E9T07NkOvYKQr5sEe65USMWsTnRxeaJhm0TTxj6QQIC9xMBrj3uC65n5H6VTbmQaNy3SIURebUNDX4BlcadO9S4Y4cn9rgvuOcnrD/lHiIdfQL3HpwBxF1DU5PpN4ktnn/c80u1w9gH44JmqamI9MOjkLyoB56DkHpL5UEchCR9UVFJiSqrqlVs21hsNl/630RBQomCAkEYQhAWWF+NIxh9EekjwfORdtKPzT5JZHxGta/jjD1jKIN2R/oP8nYW3TVAAEBH7UvUqLHXC7Nzzhn4cZOYJ5Qgrxp37PTEV1l5hSeKuIiiL4/kxRejyHtNd/4Iv7O7qg1k2eeef8kvhBItaNJkBB2ZFRQU6snDz4jFQzgmPNKJtsQfeea5eemjuPTtrj37yGKe8IBamJbFWCDe5inawcFDj8yVgU5j004Lnf3vnFOTHT/73Oe9zvMvvqwDBx82bONewTmLtzY998LLPv7wkWe1e89+ob9j526vl54/9aatJAYf2vjC578ohLTlFZVEeYGofP7FL+jpZ59XcXGJSEf6SMhX9heLxX2dnre6EUdddhsmsTs3M3qER0I+jz95xNc3PWz/gUOiztSd+rBwTbYvoFaN8D8g8EAi8OPL989DcSHASVcgiMW//9WnFkaF4zsIfO1g6Z29jdswLH7jSg8lBwQCAoshEL3n5uXFlMjLVc6d96bF9LMJzzfCJpHIUU7cZaO+qM7w8KT6Bkc1MTVLziyqmCECL8mOniGNjM6m5V0OozOD6l1BBfk5KilKKC+ec1fcYgGF9hG9oqRA+flxT3i1tw/pzLV2dRnZtFiabMOZl/JKS696khNKpSIzc35qiETe+yGpohhg6+md0Y1bKV28Mq3zFyd17tNxffLpqC5cGFJ725gmJlKR+kq2G6IL2YEHUtze+aeNyMNpg/Mat+ttxnCJ5+RYeybU19PjvZoWqyQkIITeYvHrFe6cE3VFUkYOQIo45/z1wj7nr7i4eFknGYW/gMA6IsC1CXHP0Px1LGYua+YvZAgzAZBtePHh3VdhxCJSXlEhpjdzbvZ5AhGXm5fnCTqIv3gsphm7n+gbmAMRfQQykDyXEoj/kaEhrxJzMX9/cgB/4NxseRwvJ73d3Zq2Dpe6x3Pii6pz7y/1HEokEp50hKAkT57POfZsaTCi1Dmrz8yM0vv4RQt6ACJia9XGGftyCDOdSs0OV03PF0aai6mktMxfHM5xEmTkomb/7IT4HQv2W/sZsy+gPKxmojgLS9+3w/A/IBAQCAgEBNIQ2AxEEfME1hTnptUq7KYj8NUDJemHG7J/P4fFb0gDN32hoYIBgcURgFwpLIyrtrxY+UbKLK6ZXUxpQYHqqooFqZhdisxaxhEZgZbSaiivlNkIeBqu5j2+oDBHlaWFKsrPU9yMzMy1mx9aWVSkPU0VKivL18jIlNq7BtXVPyQWbZmvufKjqelp4XHZ3jOi0ZH5hCKGLyRUBUZ3YaEfTWTqRhZO6OwnQ3r7WLv+5t0r+ot3L+ov3r+kv3jvov787fP67juX9eoHzXr3aKsuXuzR6Oj9H2mQLRLYZnhTModYkeGck5ujgf4B0XYM+LrGRtU21Is5xxJ27WEbMkRysfydc2YPusWiFw13zvkytco/rkUEwoZtlE1EcGK7QihE4WEbENgoBKanU74vWe/yuQ+YRxQvQ+5fCEI+EnBvLyybezvHyDXId+4h0uCxyP1OrzgxPq7e3h51d3X5IczTU3fzQ+Q5bcTf2OioGKLc3tLiPz5A9I2MDAvPbnRWIvRLkK8lpaUqsj54JWkX6sbicdGn4XDFEG/IVnTgtKzTYlcszhKF+4AH9Ce2Vu3mYp8cnxAXY3qesVhcFZXV2rFjtxhuW1hYpMmpCU1MTtiLyYz/8jM1PSVeNtLTcnFO2MWYHqbIhTG9gLAfEAgIBATWG4Etkv9mGMq6GTzwNvPpgmyFdN3IOjKP4kaWH8oOCAQEFkcAwyyR71RdVqjCvHzF3MrJlij3eCymskSBqsoLlZe/uKeGsvjLzY0pkZ+rHMszC/V5KgW5eSovSSg/b+V1iMdjamos0RN7GlRVXDQv30wHVUZyHWioVmN9qSdRk8lxNXf2a2h8LJP6qsL6RofV2jWk4ZFZehUvl1IzYJkPkLkB8W5DnArU0jKtd0506ntHL+u1s1d18mazPm1v08X2di/sn7rVop+cvKg/efWkvvfaBZ041aGe3rWr76oauSARRDfzEyaTSe+VA3HKkGUIgUmz6RgeiDC8EAM8P5EQuCzI5q5DcCIvIpzL/lpPT0fa1Qi2JhKlxeZEIEVYwOV+DjWN6hC2AYGFCMzYBxnuv4Xha3k8MzPj5wvsT/Z58rLMPork5uVlLCJlX0kK7GMBwv1DH8DQZ8i8hN33zEmI8MGB4cLMrchUax2trX6hlv6+pJ8uoq+3V6ywTDyLrvRb30I9EE9YrvCDGvWgPLbMv+hW8axa2GD6mfKqKvFRhCHgkKaQpEZ4iT5uwOoceSky3+XQHQ/Lhfls9+M1IxQBaio1xWZOnHOCIWZYb4GxxKWl5X5IcVlZhUpLy8QF2d3VoV4m+jR2esZumLnEtjNtRGM6iThjF7sFZ/U/KAUEAgIBgQcNgU86Rje8ycwTuOGV2OQV2Ayk62bwZt3kpylULyCwIQhgoMXizpNoD++oVYkZaKutSIO9ax/aXa2K8oRisezJmkzlVVUmtLe2QsX5+ZmilwyrNBtgR12Zilbpvb5zR4mef3KnjuzZKbwPFyus3Mp5fEeTXnhql3Y0FnsnkpGRSXX2D2tkjebpo+yRiUn1D08olcrTxERCXV0y4nBKHR1TGh5KaXoqpb6+MZ0736tXP7qt1z+5pvNGILYPDGhsymwlXHjICLF9PCc7Bwd1oa1dr56+qL9987yOn2hVd/fGP9PxSEya0QyhkW/nvtAwLjXyFBKQK2p0ZMSPPisqLvZbmuTFbLZs7Lbc3FyRJ+Qj+rFYzK7Vpc1TSIuKikpRH63D3+TkpPByos3rkH3Ich0R2I5Zc18wFRyEFaTderSRMgZYnMj4GM/PdHZa3xYtajUlhvxC/s2kUsIrjykOJq0vI511YYJcg0Ssrqvz3A8fFjhmuHRuXp7w4uvt6RHS1dnh82Bo9ZTlgadjYbH1HxCIxh3xDKRf4T5cqq3oRfF8iKOO1AsykmHZUdy9biFGY/G4RoaHfb17DBvaDU7kDcHIuaHPwHubsAdNlu6xV4hGTtr8Js45FRQUqqq6xr4QFmj2wphQRUWVGht32kMgYQ/bHrW2NKv59k2/mAknJ73IWDyu4JSYjkjYDwgEBAICmxeBhuLs57javK1Y/5ptBtJ1M3izrj/SoYSAwNZDACNpJjWjvXvLdeRgo3ZUlCuP9+EVNqXIjLgDdbV6+olGVVUVrDD13epNTSV6ZE+98ACM2Tv+3RqZQxhy3VRdptrqIuXl5SxUyuq4sDBXTz5Wq5978YC+/MhBPWRGa6kRrfFYTNQFkvNgba1eOrRfP//5Q3r6cIOKS2a9a6anU2KRm5RhmlVhWSgV5uUqx+XoyvVBvfFBi7731hX92U/O6i9+fFY/fO2y3n73to5a+KsfXtH7l66pY6BfU9OZh/ylF8cCNhCLH1y5bkTkFZ0606rm5k719vYKbznIvXT99d6HUMNIxj6D9IuIxDy7tqatPXjjQBTgNMJcaun1gWTg2DlnxK5jd1GJ2/WdA5lgGpSFOOc8QQnBqLQ/jiEUCwoSaaFhNyCwvRHgnuBeTBq5vx6kIuTYsH3UAEVIvv6+PkH4pYxAHLIPIZBmzIcKqUhfRN9AfzRj8f7utg8IZeXl/uMAeSCQelXV1YJULCgosA8wKU/rkI5+m34E0hHPZvoT2siHidy8PPswM6Sujg7ru++e/oHFUAaS/WprblFbq314MYIPkhOykvpQJh8qqMNaSFS3WDyuwYFBgQ/55uUnPJFKncGE+i9HgpJuO8qaEYrxeMwvrqI7f7FYXCxwUmpfR8fGRtXe3ipcW3ngcIGNDA+pp6fbLpQJcQLuJJvbxOwlIT8vX862UaBza1bdKMuwDQgEBAIC2waBc22jG9qWzeB5t6EArKDwjSZfV++huIJGBtWAQEBgxQhgwM2Y2VVihNiRJxv04iN71WiGWk48+3fgfCNnDtXV60tP79WBfZX2ET+esR5mA2pocEK3bg7o4sVeXbnSp66uEXs3nx3Km56opDhPDx+s1pG9O5b0EkxPAxG6zwzK557Yqfq6IjlveaZrZL9fUZnQs0ca9evfeEy//pUn9TOPP6wvHjygLxw6aPsP6de+9KT+4c8/rs9/boeqTDfKOScnpkRejpFT2eMXpc20bSgr06GaOvUMDuvvjn2iv/3gE735yRW9c/6qXjl1UX/+1mn94U9O6MOzzeofGtOEH22VKafFw/pHR3Xixm29e+KGrl3v9d5yEAkQiwzFTRcWP1g8p3uLiZsBDRHA0GZIvPTcuE6ZmgpjOxa364uLKV3BjiP7zjmXHnPXPsZ/uV3jeD2SBkEp2rIfSX5+vtDjmDpRN/aDBAS2OwLcD5Bx63HPx4xvqaqpUb59qIHoo6x+Iy8h6pg/EKKMUadwOcQ551RfX6/yikrVNzb6uQbB3znHZk5i8bg9f/L94iayP2KZl5BVnCvt2QAnxDBiSMsce27V2sci8mM1Z0hNhkkPGYmHDh6UEJrdRjTi5Thu/NLI0LAgO/FMLCuvUEPTDjHc2Ypas/8jw8OCqJT1aZGnG0RobX2d6hoa7GltoT5uzYrcchmtzdPVN9t5T0QeCpsEiigAABAASURBVBxyYXJBTk9Nq6e7S709XUYodmt4eNC7jPYYmThipCIPJPQXSv4d1tc5Lr3ZWOc+258NCb8BgYDAsggEhQcGgRPtG0soPlZ3714wD8rJOtywsVh1Dk89KFCHdgYEtiwCO3eW6ImD9Xp2z27tr65VIjd32baUFRToicYmPbVnhx57uFYV5fkZ03R2juj4sXb99I1r+quffqI/+eFp72H3g9cu6823b+rq1aTGx9L6CXsF37u7TC8/vUfP7d+j6uJiycK0yB91PWTG4VefOqCnHq9XaWnmeiySPGMwi6w8dKhKP/PSXv3yVx/Wzz5zSC8b4fq5h3bpyYfqdehApcoWtLeoKE91FSUqysvLmOdKAhuNTNxTWa2RyUld6GjXlc5OtQ30a8AIwKHxcfWa4Xmrt0dnW1p1/OZNpVIz2ldds6qyyet8S7eu3x7S5FSuCuy8YtTjCYOnEsIxpF+2bZiaSimZHNfNG/26cKFHn37arUuXetXSMiSGhi+0ibHjGO6XY4b+wjKYUwxyg/LRc87NU4k8FOcFLnJAHpSB7cc8lJCEzjnDL+UlPRl6lEcYxAbCfpCAwIOAgHNO3JNr3dZYPC4IPoiy4tLSuexZMAXnrrKyck8aQipyz1GHwuJiVdfV+nQQgHOJFuw45+wj1aScm+0j8Fik72L0amtzs/FDvYKwSxiZCcGIxyKLwpAn5Gmn9bUQm3gs4oU4PjEh5jmtbWhQnZF6eAjC6tEfVVRV2sej+IIa3OPhnY4Rj2zaXlhc7NtMXSfsWUCfTPg9lrL2ye9jjrG1KgsCsaCwwJOK5DmdmraHVp9aW2+rt7fbu4dyIjrb29XW1mxxvT4M3YXinBNj72Ox+ReEc7MX4kL9cBwQCAgEBB50BDba46yhOEePNxQ86Kch6/Y/vsHka+fQZNZ1DYoBgYDAxiDQ0jykm619ah8YUEVhoY7s3KX9NTV+HkOGjEW1isdiYp7CxxsbPZlIeHt/v65e71V//ziH8+TataRef/eG/ujHJ/VHr57QD4+d1xvnLuunpy7qO++c1rd/fFzff+2CTp3t1ODAxFxa5kA8/HitvvHyIX31sUN6rL5RZfbuH4999n6eyMnVrsoqfW7PHv3C5x/Tl1/ao9raQjMm57K5px2Ir5bWIV271adPm9t1/PptfXTppj44dUsffNziyTGIvKiQCiMYmb+xOD8RBa1qC1G7o7xCo5MTRiR2CC/C1B1Dc2GGzC3WmkzqSneXP1eNlm6lAJA3ZOX5mz3q7hr3NlMqlVK64cpxNPxuYR2iY6oIiXjmTKcRxbf8kOy//Mkn+qMfnNIf/t1J/ekPz+hvXjmvV964rvePtngiecyIZNKNj09rcHBCw8OTVv5nXqsY+XgFTY5PeHsNgz4Wn2+z+fItE4x8iAN/nOEHYgDPS/JMJPKNeC4V3opVVVUqMwIXkgGCEYFMjBxX0tNpm/yFZgQElkXAmHruqWX1VqHgnBOEIdMb5OblKRaPC1Kvrr5eNUYcMpVdjX0kamhqsuM6xWMx5efnW9fmFi/N6pu0ZxFzQEJMotjT1eWHMzOEGoG0tEx8WcQjjGjFk7G+oVF4TZKW6RXicEOWZ459XIMrgvykTjJGcdA+7vi8yGANheHgZIeXJGVCpiZ7e9VpH5QG7Nmc3iej9yDKmhGKgFdYWOQvRDp8wB/oT3rvxAn7akd8ykhGyMWuzg5FYYQvFE4MMj09Ne/BuVBvsx7zgL9187qOf3xUH7z/tpcTxz5UR3urfRW8qtaW26uqOg/Pk8c/0tH33rpLKOfYR+/ryuULc5OorqqQkCggEBAICAQE1h0BVnte90KWKKBzcGqJ2BAVEAgIZIHAuqp0dAzrw5MtevP0VZ28eUtXjZzqHx1RuRGLeCC+sHefPr9vv5fn9+zVodo65cZz1DE4qIv2nv3h1Rt649hVnfmk0w9rjip782a/3nj/un704Xl9dO2Grlm+XZYGL7vkyIia+/r0aVubfnLygn767mVduNTtvdei9BWVCR15sk7/4O89rt/4mcP6uSce1ksHDurz+w/oJRPmOPwVIxL/yd8/rK9+YY+YezE3d23MjWTfmE6ebtd3fnpOf/LaSf3kxAW9e+GqGHL83ffO6s9eOaWfvnlFt24NKJUyq9MqnZ/IUW1VkfBSLMjL1Wr/msrL5Yw4vd7TreGJz0jWxfKDEOw2XLuHhzwZDOG7mO5i4UNjY+pIDqund9jO4ZCmp+fPw4hdkDTicrE51Ybtw9H589165c1r+rMfndF//sFH+os3T+nHx8/rrTvDtF8/e0l/98En+vZPj+n//4OP9b1Xz+vtd27rHZPX37yhH712RT993TB++5Y+/LBFn5xr1c1r7Ur2DSgvP0/lFRXC7lvYhriREQw9xLOyz4zvfqtnug6LKPSwSANxRjjQhqh9kIYQiBCKFZY/BCMCyUhZvT29ikjIlJGs6fmG/YDAdkZgxogz7p31bGNuXp7iOTmCy4nbfcwHA0g9GW/IfKl4GOKdl2Ok3lL1gMvptv4SMnHa7lNneTkXs75s0Pdl5IlQVqE91+jPRoatv+vuFg5oQ0bW5eblqqq6xvNLlVXVvg+GPDSCaK5oPJapDwGkIw/210oKjN9yzhpvGfIBh+HVkKJI6H8MFPu/Nk94y4j/ubn2YCmvVGFRMYf3JJCRHe1tGh8fs2tm9qXgnjK8T4lH7WXvzKnjamtrUXVNrZ597vN6/sUvaP+BQ2IeydaWZjFMINvqjNiLyKWLn3r1fPsKcOSZ53TooUcVi8X9DfbiS18S8uThpz3u3V2d+vTcacPt7i/SPpN1/KFtLaskS9exWiHrgEBA4D4gsNFDeLNr4ubRwpsTr86NqlGbGZobVXYoNyAQEFgaganJlC5d7tM7Z67pYlu7J7Ag/S51dOiGkTCdQ4NK2vtm/+io95TrGxlW++CArtg74FWTQSOies0wO3Hjto6euKW29mEz4GY0NDShc+e7dPTTG7rY3qGR8czEGMZfm5E87128prc/uqnOjhF7F/+szix4cuBAhb70+d36x7/wpP7rf/A5/bf/8Dn9N7/xnP75rz6tb3zlkJ45XK/amkLF4+6zhPewN2mYXLnap5+8f1nvGIkIEdo9NCSGGkOGQoSevt2iV05c0ptHb9g797AvDTsQUvOZg02qKyn1YSv9KTDDuSgvXwNj4+o3bLNND6kIjoBXu4qyST86OaXh0QnRfsp1zsk5x66X8fHxjO/83d2j+uh4q/7GCMI/f/OU3r10TRfa2/31A25cI2DHNYQn5NWuLrvWOnStuVfvn7ytP/zxCf3/fvSx/tSI2z98xfZ/+LG+8+o5vXO0WcdO9erC5Qm1d8WsXjFfj4U/sVjM7JIi78FIHTG+Ga6YNGKROSBZDRWiYdSuYYgH9ONm26TnA3kIIQnBCNmILsML+wf6xX66btgPCDwoCHBfrEdbuQ/x8GPORLgKynHus75mNWXiwce9S1ryy03kC4/CuPWpMRPmIGSYNR6IvXeIRBaDGTQysbuzSxCEhCd7+zQxMW7PsdmPKtQv6gOccyIPiM7RkVGfZtQ+jlHmWkhBUaEf4swHEvopSFBIVghX+va1KGOr55H5KbDKVgEyrqC1tfUqLiox0mv12ePOC6HY0d5qDw1eZDY/qYgH5tXLF/2Dfd++g9q9Z7//auecU1l5hZ548ohKS8s0bjdEthD3GLM/ueBLaCJRYNi6eS8UhUbiPvzwY+ICZxGcXkuXbRlrocdN1dfbrTW/sdaiciGPgMADgEDHBnuc1Rav3vPjATg9m66JbUNTm65OoUIBgYDALALNLYM6cb5FF1s7le4NN5VKqcdINMgfvAg/aWsVcv4OUQRJBAk1m4sEcXT6RovOfNquZP+499w7fr5Z1zq7NTa5/LQHrDh89mabrtzs1cjwfH17tbV323zt21+uxx6r1hNP1OiJx2v08ENVamgoUl5+PKrGmmzb2ob08dkWnbrR7OcqTG9nVABtumZG6fELzbrV3G8G6KzxWV1doMOP1OvJ3U2qKiqK1LPelhcW2uvtjJG3Iyt+zx02wm/SzluBGc8xQMu61FlFFnUZglCcSM0G2K9zbp4NAGGX7rXE/JhHP27W3717Xq+fu6RrRhYOGHGXCTPLzv/PicdVbzYKB6du3dKZ5mZd6uwQHpmQt+fb2vTRtZv66GqLLtwaMFK6Sz9877qOftyitrZZ8pa06eKc83ZJWXm5qB9ERdIIRUiGiAyAZCgtLRWeiPlGNqSnZ5+51iAeISCjdBAfxAUJCDxoCDjnFC1KtNZtd84ZvxDznonTU1PCaxDRGv3F4nHF4nEx76B1YMLbjz6porLS3//c66yGn5eXp5q6OlXWVCvH+s1R+3gWz4nbx6m4ZqwvpTr0AQyBZt+52X6mqrpaedaH4EGIEDc8OMTmnsXPL2l1grisqa1Vvj0T8vLzRTsU/hRbKww4seQVj+cIhrhxx06Vl1eKr0rOOaJWLKnUtBgejXCRrTiD+5yg3R62Q/bVmPkH8E5cWHzMvrw1NO1UTk7uwqiMxwP2BQ5CNcI2o1JaoIvFFDf804Lu225Ly20N2tfx+1ZgKCggEBCYh0DXBnuc1RblzKtPOFgegYZAwi4PUtAICDxgCMTN4Lp9e1BnrrWozwype23+rd5enb7cLoYLd3SO6HJbd9Zedhh7rUYAfXqlU33JsXutyj2lZwj42RvtniRdKiNIxZa+pK7e7tXgwLhXZaXnfXvL9fKR3Tq8a4cgCH1Elj+FefmamkkJcjDLJHNqYDhl9ozMFIrF7GcuJsudmRk/fJt8SBHZBM59lhceQAjxnOeTZ9r12sdXdOzaLY9XlJb4xaS2uERVxcVqsfN9q69X40YopOuSB96MeMm2DQxoaGxc71+4ru+/c14fnWgRJGa6frQfefNwDEmBsO+c84RFpZEJDGdOJBIEe8HmS1o9enp6/NBm9keNEPWR4Scg8AAj4JxT+r2y1lBAkjF3YSwe9w5SnvxbTSEzEmtnZErKh4EonPvaOafS8nLJ+jo8kiHtWJgFghDybnYOxzpVG6HHnI45OTk+eaKgwG+jH3gQPoxwPDg4KLyiWdCFxVzwvCR8tQKfRXk4bg3aRz3qjZelc5/1w6vNezukWzNCEfIvAgRSizk1Gpp2qK6+UaVl5YJtdm4+6M458aAptS9i+fkJxWKxKIu5LQ+Vnp4u+zI6ZNeZXZ1zMZtvJ5ns9XUsKSmVc/PbGtW2srJKe/cdiA7V3tYi5lo8+t5bfq7Fc2dO2g08pv5kny5f/FS0f9CIOuKJm0u4YAeW/9bNa/by1G8dTYGRutVK/+vt7RbzLzLXInLm9HFF7H2kt5zO+PiYzp4+4ev5ybnTunXjmlqab+mmbZkXkpecWzfta6W1hfAo37ANCAQEtj8CGz0n4FZEuLZk9qVoK9Y91HnLIxAasEkRmJ526jHyrnNwWCzuca+hys8qAAAQAElEQVTVxMOxs29IXb0jGhwc98Ocp+94eWSTNyRSW/eQRkez92qenp5RW9uQTpxo1zvvNuvtd5r17nvNOnu2S329Y54gy6bsdJ2xsWkNDI/dRXSl60T7SSOfWjoHNJj2oa20LF9PH27Qzz5/QC/s36P60lLFFnlXj/LxW9MpzM1Vnn2wh1TzYSv8MTvZjGUpJrfClBIGckFuXPHYjLcxnHPC6K40Iq7U2oChm5+fL2RiYlrXb/brnZM3dOpWszh32RQYjzlVFM16YTb3J7VUOxkm3WGEonNOcZOTN2/r7ZPXxHB0ylfaH6PN8CzE3nDWdoedZ2kgBEpKSlRRXuG9rTiOdNGHcMArEUmfWzEt67AbEAgIrAMCzjlBKs6kZsQ9mV4Edn6vfaDi/kwPz7RvvZX3Ss4Ulx4Gz8F9ThicEMQffRrHCHVh4RX6N6S6pkawQZB7HKMTSSwel/d2rKoSozshFEeGh+25N5iRY4rSrWTLRw7qS71Xkm6768bWqoEpu/DS84rbg7fYvnZBKO7ctUc7d+9VY9NO1dU1+LkFa227Y+du7dxpcRbPKj559gXQOZeejd9nAZdR+0rr3N1xXmET/HDTUc+YPSwLCgqzqlFfb49u3bxh5F+Nn2cRfPBwbGm+rTJ7yD7+5NOeHISgZJ7Ex588Mi9f5kuEaEQ+/vA9tbY0q6ioWI88+oR/sYiU8fC8duWSkbsNeu6Fl3Xw0CN+UZwL5896oha9bHSab98SrsfPvfCSGht3qLOznaTavWef9h94yN+su+w8U9emHbt8XPgJCAQE1gqBpfPpHM7e2Fs6pxD7oCCw0V6tDwrOoZ0BgZUgMDSUUtfAsMazGJKcbb799g7d1jWo4ZFJT0plmw49hllPTU0vSTKhF0m/kaFnznTqh69d1rd+cEL/2/c+0P/6vaO2/VB/8sNT+ulb13TpUq9GR1b2zMKI9KxcVNASW4zh6emU2KarMfT5+Wd36Je+8oi+dvhhHd6xU7VGyuWYIZqux35OPKaakhIdbmrSozsbVFterESWI4xIny45ZhvELAAsbbOi//k5OSpM5CoeNwSMmYRMLC8vF2QiW4hFyDlIuY72YR09dVsMc2eBnWwLol3UcWh8LCsSOzky7IfMV5cUi2H251vadeJ8q27c6BGEIILh3WvkA8b3iBG81CUWj8s5522UsrIy5SfyCfaCHYUuMjQ0NDdXmo8MPwGBgMB9Q8A5u0cLEtZ/ppS0e7i9tdUPT47u5+Qd72Hu08Uq5ZzzHwsWi4/CIeZGRkZ8v1FUXKyx0bFFPRtJA6lJX5ey/n2gv5+gOcG7H/IRD0u8GlmNmcipiUmNWh9EWo6XEqZmGBocVJ+1G89GymBoNQQl6SBTs8kH3QdJYmvVWOfcXVnF7AGal5cnCLGamjo12YN7h5GIyE7bQkrV1NYJD8Zqi6+tq1ciUeAfNkr7c87ZgzRHm/mPiwuZV8csDmL2VZAbCKyqqmqsnXF7iGb3klVdUyvIO+TwU88YMVmt4eEhnT1zQj3dXb505jZsb2/xXxvq6xs96VdVXWPkYqO4idvaWv1cCcvpkNmYvZBOTk5o0m7MisoqMVcm4UECAgGBgEBd8LZb8UVQG4Y8rxizkCAgsN0RwBMvOTSalSdetlgMjo8rOTCq6akZxeydOtt06CXuEFoQbBwvJcnkuE6d7dRfvXJO3/vgnD66ekNnzRj9xORcS4vevXhNf/nWaf3dG5d08XKPVkIq5ubGVJCXq2zqUWzGcF1VsQoKc++qblVlQk89Wadf/fqj+qffOKK/98wjevngfrFS9rO7dgt5fu9evXTggH7+yCP6L37+iH7hZw7psX11KlswxE5Z/OUafhi6zKO4lOdfpqyYd7GquEBFBUbEyc5dzDCwOuTn53t1DOuioiKznRL2bj6t5rZBnbvWro6B+Ya2V17ihzo6OY1mSWKPTU1pKjUzR7D2DA/r05vtunmrTxCCkUAUYIfIiFDL3v47XwvwSPdCGrfrE3IilUoJiYZve+XwExDYaghs8fpyf9bW1amwuFhDA4PqNwKRe3pgYMBu5RlPLnIcEYvDdv8vbDKcyJiReJN2by+MW3g8Zf0J/QGjWxOJhCcxB/sHFqr541g87vuIiYlx0f/5wAU/cE9lFRXKs7yImpqeMl6kWxCDlEXYwn6GPqi7q0udbW3qbO9Qd2enBoywhFTsaG9Xsq/PO2ORNsjdCKwZoQghdnf2n4U454wsy/HEVkFBod/G4nFFf5z8ak8qNoj4KD+2JaVlWbHcUV4bsaX+XNhcoNkuugIp9+xzn/eE65XLF3T+0zP+Jl1N/VmU5aGHH1N9wyxR2Np62xOFMPLc0DEXUywen8uasukwRu0rYzY6JCwrrxCuw6dOfiyGX3NemoInItAECQgEBAICAYGAQEAgIHDPCLiYfVjGGe2ec/osA95Np6dTRkzlqrKkUHi9fRa79F5NSYn27qiw9/DcJRWnp2d09Wqffnr0st6/dE3MwzdqH6DNAvXpINPwZmOBkDfOXtLrR6/7YdEYnl5hmZ/a6gI9tKtWlYVFS2rGYzHVFZdo/84qVZQnMuoWGtG4d1+ZXnyuSd/8uUf1X/7a5/QbXzuslx/Zryd27NDDdfXaZx/fa4pKlGP/Cgty1VBTorryEiVylsZhYYHUJcfFBOm2MG6547rSUj20s9LaETcY7aKwBNhFtrnrf2/fmC7d6FZrX1JgXZSfULURApw/5oz059xssbsSWgBD4Mk9x7Czw2X/U4eYcYNTRgCizHyL/UNjGhudEtcaQjhCvrPn2BLYf8Iw3kdGRvyQSDwZ8WjEFiEuSEAgILA4Ajn2gWLx2LWJcc75xZSqGV48k5LseGhwaK4P0p2/dK/iO0HzNozcnLaPFIX2ESSexkHMU7KDSdMhL+ZrrG2otxCps6NDA8m7P4xAPDI0GqWIHGQ/k9CnOGedjn3QgAvpNGKwwz5u4XEZSYcRiL09PZ5I7DVCkXyKiovEIix4OhbaBxs+iuCpiW42BCl5PGgSW6sG83C517z44lZTW6edu/eI4b/1DU3yw6V37VHCSMh7zX890zvnvKclZQwZg892OUmlpgWRCDmH7t59Bxdl24nPRioqqjxxCws/NjY6l4SHORIFODm/69zslgPiEfYRt0Bnx87dOvTwo0okCjQ0NKiLFz7R7Vs3UA0SEAgIbDACtUU5G1yDUHxA4L4hEAoKCGxbBAoSeSouyFe25I6y+Ms3EqyoIE9795Xr8L4mVZqRlEUy5eXE1VRRoYf316h8EXIuyodFU05+2qrTN1vUOzqy6OhkyK62/n6duNKsTy51aqB/IspiyW1jY4mOPNyohxrqVHLH82Rhgpi90+60j99HDjVpz85y5Sc++5C+UJdjiMX6+iLl5Rrh1z+iyx2dOnHrpj6+cUMfXL2qn5w6r79447R+8OYl9XSPal9ttRrLy0U5pF9OqCf6Y1OT6rb35uX00+NLrY0HG2p1YHeFSkpzfBREXfp7ug+889PTO6aurhE1WfufNTvq0fp67aqs0s6KSu2vqdVTO3bqud279VBd3V34MbyefEuMhLyT3ZIb6pZvxMbA6Hw7g3Nrtvv8tBZA3nZq5JzzcZAHeDcheDpBLqLjI8NPQGAbIAAvUlVlHzWs/5Rmr3vd+XMLju8EL7nh3keh3PoftqsV7jM8DbnvFssDHe5JP1WBfWSIxe0jl3EWi+lzPy+Mc86pzOpa39ioCsOAqRmQhXrRMfWhP5icmtLsYicS07HhHRnpQCBCBEYezBCB4ALnMZiBe0lYf8YHjQJ73lVVVxs/EtfU1LR3jiLNlBGZDG/u7e7280VWVFaqxvpHiET0qT+kKsdF9pFqLAtvy6iuD9p2zQjFtQIuNzdXlZXVnkjcu++AJxYZMs2NuVZlrFc+DNmGNU8m+/xNkKmcvr4eXb92xbP8N29cFzfDoYce1YGDD3uiLlOalYTNDhmYVm5unvLsRqI+eXn59hVwVINpQyCmp6esDlJxSam9cCW0nA51oN6yTvDwkWf12BNPeU/S7q5O8aVR4S8gsCQCIXK7I9AxmN1UDdsdh9C+gEBAICCwWgScc2aEJe54ws2SSKvNKz0dQ3Xrqou1d2+ZjjzaqMO7mpYdvhuPxbS/ukYvPLZLe3eVKz8/np7lXfstLYM6da3NiLOhRcnEKBHE0+2+Xp2+2K7uns9IqSg+07agMEdPPFqrLz+zX5/bu1uNZeXKMUPX6xpukHcPG4n2+Yf36cUjO1VXV+ijlvoZG5vSpcu9+v5rF/Xdt8/onYtXdbalRZ+2t+l8e7s+aWvViRs39aNjn+qtc1cVs3+PNzV50i4eW9qEoj4Ha+sE+dhsbcWLb6m6pMcVmC0ECfji47u0f0+ZtdMoCGtjwkjG/DvDnSP96emUbt8e0IUL3ertH9WwGb0QfXhEdpqRzfDnLuYEM5KXIc3FiYQea2jUQ3X1Kr6T18T0tMaN9Cyx4yozvqO8M23jsZiqi4qVa9h3DN4Zlugk5+xnxk59yn40/8+5mJylkzMdi4KwYK4yPIjsMPwPCGwrBOJ2b0AmlpWVCamqqlSVkYuRVKYdQ7JxT+flmd1uwj4EnJPzmDhnWyPl8fTDOw5PO8gwH7mCH+45SDs8giHuEPYR5kaMskIPLoH4Qes3cqxOcft4EMVn2kZpFsYlCgq8px9cRElJicdCS/xNWz9EHfGYjlmZEJUMPZ6cmP3oNDI0JMi/UYZYGy5gAY/CkGS8D4cGBsUQ5WkjDSmmvLLCnlv5fsQm56TSnme19XWqtedEJBCIlUY2clxZU6OCwkJPPJIeyc3L896asZy4cqxfjpsQHmQ+ArH5h2lHYXfFCBQUFAoSNB6P6dq1y544HB8f8/mwhZBrbb5tJOkOOef8BT4zkzJCbkx4K/Z0d9o2ZeEpdXa0GeGXUswewFPG1uMRePXyRYub9uRgyh7YM6mU6U/7/NG5feuGWppv+uOa2nrhFo00NDaZXko3b1zTqL1Q4Frc1tpiJGKe6u2lIhsdMp2yl42b16/a1+SkmLOFlZdycnOUazd93G40yYmbmy8KrS23Ff4CAgGBgEBAYHEEOtNWIF1ca/1iasIcjusHbsg5ILAKBPioXlGeUHVZkQrMkIGMWkU285KQR6kZdjWVRSopztPDhyr1lc/t14sH96nBDN4ce8+cl8AOIMMebWjQzz79kF763E5VVRZY6NL/h4cn1TswrDF7V1xaczaW4c+dfaZvpN5syPK/tbWFvj5femqfkYp7/LyHL+zdpxf27PUkWYUZg2MTk7p5u1+3bg/aO+/iH7rMRtfNmwP6yduX9ea5y7rMnFmjo4LsTK8JZBselSdv3NL5ljZVlhboxQOz5VVaeeCbrp9v78S7Kiv1/L49emJnowrtPEZDg9P1FtuH1HvIDN6vHNmv55/ZocqqAlOdUcLOYXk5xG6+Hc/+HxmZ1MVLffrJc2kqjAAAEABJREFUm1f042MXdMpsjPNGhkKIXuvuUnOyTy3JpG719uhSR4c+bWvT1a4u9Y4MC6weqW9QjRn6eBxCOlcYmQgJyvUyW8L833gs5oncmuJidQ4NasjISzQKcvMECdqTHFdv3zRBc+KcU05ujkmunHNz4ezMcBLYCbJ5EAg1WTUC8TtEIiQhBBoZYcdDKi4lEIjpgm466eiJSCO9jBjwc/tBnvV2dwsCjjI0I2Hb+/0MP9xnSesHkAH7yABnQFrIu0ggFhGmH0Bv/M697dz8ezZD9latGZFvpriFYTzjFoalH1NXjiEVc/PyPK9Ae1PGeUBwEofXY3VNreKxuHqsP8M7Ef6hs6Nd3Xbc09MtSEh4CghC4kZHRpSfyPeEYbH1eUXWhxFXas/ASiN7S0pLFbfzR/4LxTmn0bExYL6rD1uo+6Aexx7Uhq9Xuxly/MSTT6u8vEJdne06cexDHX3vLZ09fcLIQadHHnvC2PKEL77OyLxcewhfvXJJp08eFysTJRIFGhzst4s6R+xXVlV7wvHShU89y3/61HFduvipUqlpccN8ePRdn//HH74nSLy8vHztP/CQJy1156+2rkG79+zTxMS4Tp342Or0gaYt/SOPflaXbHTy7MautzpfMWLzow/e0+TkhPbtO6RYPG5fHcrFDdrV1aEee4lB707xYRMQCAg8AAiEFYNXfpI7g1fnykELKQIC2xgBPtYWFOSrob5Y++qqPBm1XHOXi2cevb2NFSovS9j7mlNlZYGeOdKgX/mZR/X1Iw8b8bVXTzQ16VBtnR42gunpXbv1xYcO6Ne/8oS+9oV92rGjxMig5c0FDMFpCCIzbpXFH8QdRiPbLNS9yuRkygzXcbX3DqpzcEADY6MatndbvPJ6hod0yUjBdy9d03feOq3vv3pBZ851en2feMFPd/eIjp9t1UeXb6m1v19TZrAuUJl3yMI2F9rb1dKb1BMH6j0+P/PEQ3ph3z6xkMvTu3bpud179PKh/fqlFx7TP/j6E/rii4169pEaPbdvt/aY0ZpvZKMW+cu1OIYnP29k5d///CP6GcMeL8vpyWkz2KVCI/swgKPkELgXLvboB29c1A8+Pq8zzS3WjqSW8oQE76QZ1lcMp8tdneJ8Hayt9ec/JxZXcmRUO81+ecze9fdWV6vI3vshTHPiMeG5+KiRzLurKtVlWLcYWak7fzVmnCdyc3X+do+6uifNRkm7CMwYxzsRuaMeNgGBbYlALBYze7hMEZmYTSOdcyq0DxP0/Qj7UT4Qi6VGdJWVl6u8wvpwk4R9WIg89/DGw4MPLz22kGsM4YU8i0hD6kDfDHEIicjxQoni0UEmJycXqix7nE0a55wf/rxsZqbgnBNeirK/ZDLpicLhwUHvLVhVU6Oq6ioVlRRreso+Gll3E4vHRbuZ73DM+rjJiQlBNOLNmW+YldtHHnC17Fb8H5J1xYkesATLvyE8YICsRXNx7WWBlOdeeHluFWYWX9m9Z79i9sCOyiguLtHTzz7vdY4885y95FWL4cToVlXXeLWdu/bo+Re/4PUqKqqE3osvfcmnWbhFj/TMQ+kTp/3UNzTpmc+96NOh9+hjTxpTn0jTkJbTof4NjTt8XV74/Bf15OFnVGQvEWRCux57/LAIf/jRx+e1k/ggAYGAwPoisNHeZp3D9lBf3yZul9w3RTsainM2RT1CJQICAYHPEMAowxNj//5yHTnYpNqSEsVjsc8UVriXY0YWi4s883ijqqoSc6mrqwr01BO1+pWfe0T/4pvP6p/9/Wf0j3/uiH7z55/Wf/krz+qf/tJhfenF3dqxs0R5eXFl8+diTjlW15gZgtnox2Mx5eXEFIu5bNSNVJvRjetJ/fDNy3rlxCWdvHnLD09miPLZ1hZdNpKMob2dAwO60NGuV05f0I/fvawLl3o1MnL384kh2icutajZjFWItmwqMTA2pmud3eofH9VjD9XqN/7+E/o//fIzRi4+qa899ZBefnS/nt2/S/t3VKu+tlg7mgp1+NFy/dzzO/Wzh/fp8/v36vCOndpv7/gM2Ub22f7hph16ef8+/eLzj+obn39IjTWlar49oPePtuij49369NK4zp4b1Jkz3bpxo1ftbT26cKFDr7x3VSxwc7OnR2MrIAEgcXuGhnTVSMW4i6k4PyEW0ek2ohDvRQiGR41cfmb3Hn3O5Jmdu7XfjPhcu56a+/o0W94sphCNB2vqRFxrsl8dvSMaGzULPxtAg05AICCQFQKxWEx40rH6MsN04RogD/HIg0xkFeK+3l51tnfIDwFua9egfShhMVUEgo1ny3KFce8vp0M89WEbCXn39vQq8iKMwhduIU0Xhi11nJuXLz5G9HZ3K3o+os8cjyz6wn5RcZFxGA1iZWeOwSk3L8/6oTFPMlYYmYgHInGrEUjWbHFZTf7bIU1sOzQitCEgsL4IhNwDAgGB5RDo3ODhu8vVbzPGn2jPbu6wzVj3UKeAQEBg7RFgmBmeJeXlCR15vEHPHdotv4BKdpzbvArF5LS3qlovPr5bh/ZXqbAwd158IpGjPXvK9NThOr1khNfPvLRHX/r8Lj33TKMeebha5RUJxWLZF1xWmq+GipKsvSoZcttUU6aiBfWaV8m0g66uUX14ukVHL9wQQ3jH8ExJi0/fnU7NqN2IxQ8uXdfbH19XW9v8eR2nplLq7R9TW++ARu4M7UtPv9R+h+V7/lqn+vpGRTmDwxPqGhjS9a4efdLSqhPXb+utU1f103eu6MNjHersmlBlRY6eP1ytX/riXv3qFw/ol196RN986XH9isk//Mph/fNffFa//rUnta+xSj3JUb1+7Kr+499+rP/tex/qj145o++8c0l/+NMz+sMfnPDDmz/4qE1vfXRT71247tsJQbhUnRfGFebn6UBtrR6uq/ck8G0jIhi+zPluNoKVORhjLqbyggLtqqjUjP3rHBz0pO2NO+QlZPWO8nLv2TqZmtb49JQnJlt7BjU4NH/Y88Lyw3FAYDsigAdg0u4fyCe8CNeyjRB4uXl5fsgu5BikIsKCIZXVVaqx+7miqkqMYBwZHLL+qVc9Xd3q7OhQV0enpiYmlFqiz8y2roxWrLJyKioq5iWhzcn+pCcUIeDmRaYdOOfEkHDakxa86G6OtTk3L0/OOUEsTlobpk0gUSEVLUKp6ZRy8/JUZv0RROu4tZU6DNsHEjJebpg1OplkamrKcOzzH7MyxYewzxCIfbYb9gICAYGAQEAgILA6BMLw3ZXhttFDxBvC/IkrO2FBOyBwHxBwzpl95HxJLKDy5ef26cWDe1VTVKyYxfmILH7isZgYsvrcgd06/Gi9ysvzF00VizkVFOSotCxfxcV5s8Ob3aLqi0bs2Fmqpw42qaa4ZNm6xmMx7TSi6vDDDaqpLlw0zyiCkdQsPHLiYrOajfxiXsMobqkt5N+Z6226cr1Hw0b8RbosxjIwNKbxFXj1RWlHzFjt6R/RuU+79d2ffKJv/fC4/urtM3rtzEW9e+GqGHL9xtnL+pv3z+pPXjurH7x3XWfO92t8IqWG+jw9eqhUX3huh/7+Vx/SL/7Mw/ral/Yb4VupyalpffTpbZ/XG2cv6cStWzrX2uIXhjnX2qrTLS16//J1/eDYRf304xtq7RpWbjw2d71E9Vtqy5Brhl4/0dCkioJClRcW+vS3k32WV9ySOtvGPCl8s7dHzMmI52LcyMWKwiI/f+LB2joxRP6Znbv8ORwcH/N17B8ZVUl+voZHpzQxsUEeitaC8D8gsFEI4KXX19enPiPdGY48PDRkBF9KQ/YRgn2G5DIE917r55wTUyCUlZeruqZGkIoInnh19fWqa2xQVXW1CooKlW/3ZKIgIaZLcNbvrkXZZWVliw7rxoswaaTq8NDwokWVl5f7oc+s4bCoUhThpHhOjnLy85VrAsHY3d3tPQ9LSkq9Z+K0fdAAb7w0Z1IpQTb223lg7kSy6bf6jI3OrmnB8XLC8wbvz872drElT4ZSL5fuQY6PPciND20PCAQEAgLbBYHHGwrUsIHDWPG222iSbCudy3Ntoxta3dqSnA0tPxQeEACBIPMRwDsRo5RQPAgffbhKf++LD+nLjx7UPjMQE7m5RC0ppQUFeqyhUSwMMmrk1/krXfroWJsuXOgx42hCGEtLZrDKyKrKhI481qDnD+1WXWmpYmb0ZsoqHot5z8nPP7ZbjxyqVlEWHzdGRyfV1jmo291JDVubMuWbKQzPPRZUOXe1U13dn/W501MzGpuY8h6GmdItFUaeeOSdNaLyNSP+GHKN117P8LCvG5j3j476xVAutLfp4+u39eH5Np07P6gLl0Z18fKwLl3p15WrfX5YM0ObT53t0A/fvaA3/OIwHeq1vKbNMJ5XDztx5H3LCNXTzbct/z7Vl5YZqVexKNbp6Yvz83WgplZN5RV+MZUbRhhCuA6NjQlSEF1nPxCH8VhMEIoMb77cafUZGVFqJiWuv8K8XF8exCpEJEPNe4w4oc3M31iUn2e5hP8BgQcPAUincbv3GYbM/H0QUl46OrynYKdt+43cWi9kYnbflhjZxxyDeCwiEI0cJ+y5ADF3r2VPTU3ZM2RGQ3bPZ8oLL02kzz5S9FpflUmHMEhJvBwhPOPxuKi7c/RAxN4tzjlRf+ec8D6U/ZWVl6nSnot4JTKse8CwxVOShVZoM+RquX24GhoY1MBAv6VY/D/pJu3ZwtDqro52dbZ3aNjayPmcHB/X1Co+Pi1e2vaLiW2/JoUWBQQCAgGBgMA6IbBkth1hkZEl8UmP7NzgOSdrszDi0+sb9gMCAYH1RwAyEcMmKqm0NF911YXaX1+jxxqb9PTOXXqkvl4stJLIyfHzK8ZjMRXk5XnvsSebdhiZ2CDiILnev3RN33n7tP7z9z/WX/74nN5456Y++bRbgwMTyuaPIdgYb2ynp2c0Pjal0dEpTU6mzKicn0Ms5sQQ6p976YC+/NhBP5y2zIzYmBmAaObEYqopKdETTU36+jNGkr64V7W1hUQtK8nkuFq6+sXiK8sqL1DoNzLsdmfSDODPFhrIyY2pMJErhu0uUF/2MB6LeZ2uoUF1m8F5F/HnY2d/IHd3GIEnOR2/2qq/fu+i/uyNT/XtH5/U//69D/2w5r9+7bw+vdSljr5B9Y2OGHG3vHcfpOq17m5fPvMwQuBqiT+uj92VVSovKPTzH140g5kFbVJGUvqh41YkZCDHDLF3zgmikeNeww/9T9raxJyLlHvRiJFP2loF4Ug6ih40o3vCyIaqkkLl5y1ODKAbJCCwXRHgyk8kChQ3kgzyDaLLWZ/hnLP+c0z9RnrhQbfe7Y/b8yE3L085tmVew4k1IsR4RrGiM3ku1QaGfPPsGDWCdTE9Fq9h+DNSUVGhbIcme/LRMKVNkJfO+teojBp7PkKkllt+DAGvqauViznhrQjhS704J5yHQSMao3Rsuzo7vXcjhLA0o1rLi5WiGWIOnugEyYzA7FMxcx2SRdgAABAASURBVFwI3RYIhEYEBAICDwoCDRtMEn3S8ZkHyIOC+Wrb+e2TvatNGtIFBAIC2xgB5oVi2Njw8KQn/94/3qyPrtzwZA7z3EEO7TFy6AkWyTOCEZLx0YYGIxTLlBOPqXd4RBeM8MHDrH1gwNJ16Uxzs9745LL+6JUT+osfn9Wb797U9ev9Gh9feq67/uSwLl3s0rFjbXr3/duekHzj7Rt6+71bOvpBi86f79HAwPgcuVhUlKuHH6rSN3/uEf3Drx7Wzzx+SC/s26fn9+zViwf26+tPPax/8nNP6etfPqDdu0uzXvBlbGxaSYYoG2GlFf4xPHp8fErT06m5lHh/lhUlVJCbozRbVNn8lSQSilmikYnxJdUhfVmsBH3mHzzf3uYXkWH4MmQcC8kcv3lL7128qjO3W4QH4f7qauEFuGTGdyIh8hiOPGpEQVNZ+aLp4rGYiK8oLNT1nm41J/v8itY5LuZzmkrNXgN4HEJmlxkZ4iyGFaBtM/d/anpaXH+DY2NiARjIxrlI20nNpBRzThWleSoumc1b4S8g8AAh4Oxey7ePKJBYeAZCSLGICsLQZDzp8IIbHl58OPBawTUzMyPK6enpEcQe5OZa5E0fAZnIM2q5/ND1Q8D7+hZVLTC8IBZLS0sX1VkYEYvH/fDnhPXFziLpe2R9D3hDJObk5lqoBPlJu2fsiKHms4vVtKmzvV1d9ozssg8rvYYPHowsaMOQ6Ul7xjDEmSHieDrW1NUJ4Rw6R2mWWfh/FwKhx78LkhAQEAgIBAS2JgIbPYx1o4fxbpWz1rUJFrB5rK5gq8AV6hkQeKAQGDPCpqVlQMdOtOs7P/5Ef/PeWR01QhEiijn1rnR2qnNoUINGaEEmjU5OCJKntT8pSCuGqEbeZxFwM2YHTRohRPj1th69/tFVvfr2NZ0925nRWxFDsLl5UKfOduuNj1v1Rz8+o//4vY/0rR8d07d+fNx7PP7vdvznPzrjScZLl3s1MjLrAVhYlKuDByv15Zf26B/9wmH9V7/2nP6bf/C8/s+/+qx+9euP6snH6jQ1ldL5Cz1GVLbrxIkOT0y2tw9rYmKW3IrqHW3jcafcnJjZjNaQKDDLLSSXc5bO/kdJyK+6qlC76yoFgRaFZ7OtK5k1fLuGhhZVZ25CFsSJWZmXOjt0rbvLk3GpGUzbz5JB0rEy9UUzcFvs/DH/JHNL5hgx8ZnW4nujExNqH+hXPBZT7Z16Rdr5OTkir6d27FJTeYWoL7pRfEQYxmMxH0RdIBUnpqY9zjnxuA/P9ifP9IsL8lVcmKtEYjbPbNMGvYDAdkDAOSdIRYT5DMvKy1VsRBnzHdKnQibihVdu4evVXspJJpNiuDFkHt6Ea10WJB1kXTb58jyL6hPVKVM655yflxFvxUzxC8Pi1r/hORiLx4U3KPEcO+fs+TKlAcMgIg7xTGThFuawpA+G2C27cw56urrUCbHY3S3ODfmQd6F9gHF2AOFJOEO0qZsnMa0Miwr/0xCIpe2H3YBAQCAgEBDYwgg8vsEk0Yn2UTNaZo3KLQzjulf99SuD617GcgUw5+ZyOiF+aQRCbEBgPRDo7JzQ0WOt+u4bZ/X2+cvewxDiiLIwhgaMcGQePebng2CEaLzU0aHW/n6NTkwKHXQRSKGdlZU6smOnHqqt83PuxeMxT261tA3o5OkOT1z29X42YX0qNaOrV5N65e2r+pu3L+mNc9d0/MYt4VF33oivi2Z84WF3+vZtvfnpFf3Jqyf1t69e0MkzHRron/Xaw94qr8jXoYMVeuqpWh05UqemHaUaGprQRyda9N2ffqpv/e1x/ce/+Uj/8Xsf64//7pR+9MZlvfdBs/ecHBubovpzUlKSq9rKEhXm5c+FZbtTkJur8uIC5efnzEuyc0eJnn2kSburqpRrxum8yEUOqoqKVVVUJM4BJG4mNYi1nUbgxQyEy12d6s3CGwkvytt9fXYOk6opLtZyQ5jTy2X+wvHpKdVYvQin3OqSYj3a0GhEYrnlVWLBM2ru6513bUAwW4QSOblsvHQODngPxpJEQng0agV/pNlTV6bqqhzFYpjiK0gcVAMC2wSBVColPPjmmmMfESbGxwVxRRhz+xWVcE9ytHYCkYgnIqQdBB77DO9duxJmc3LOqdzIOIYoz4Ys/0vdqFMki82/CGlH3hB3zK24fM6zGhCJsVjMiMEOzXkh2jPRE4h2PooN76qaaj+EGW9DhkTn5ud7stc6K+GVmJuXJ+aflP3l5eaqyPph+7LiV3kGU4Th1bSFsmg/9UyX3Nw8v9iMHsC/QCg+gCc9NDkg8IAisO2bXbPBQ54BeDOQZdRjM8srlwc2tHoNG7h4z4Y2PBQeENjkCHR1Ter42R69duKKPr5+Syz0kU4QrqT6DKF9uK5eO4zcMptWydFR783WkkyKhUoudHboxPXbVl6rjp9oV2/P7JQVDIX+8VtX9NNjF3Xy5i2vC+G1sGzqlRwZER6Rr565pJ+8e1lnPun0C7+k66aMoLx5o19vv3dDf/KD0/rjV07oJycv6P3L1/XxjZv66NoNvXX+ir773ll9+4cn9P3XLujUmU71J8fnsikpyVdDVYnKChKKx1ZmuuC59/CealWUJ+byY6e0LF9PPd6glx7bo71GKuLRR/hiApF4oKZGo5OTnvij/Zl0a8x4LTJjFYIXfDLpZAqbNsOXczM6OSEIxeXqE+XBuZmYmjK7OKZEbo4aysp0sKZWcTP8u4eH5OvgpHoL31ddox0VFdpj7X24rs7r1peW6VBtvfCqHByf8MOiMZobTT9meUTlLLVNmAFeW1qiHXVFqjRCcSndEBcQ2M4IQDbh1fZZG524n5iHFpKsvKLSz2v4Wfza7KWs/0ha3w6RyP7a5Do/F+oPgQbpV15Wvqp2gEVfX3LOg3J+CbNH5F9h/RRlMQfkbOjiv8VG/pWb/qB9VGN1Z4hUzgHzKTIMmuHKLN4CschQ7YHBQYETRCLeiLl5eXLxuBgWnRPPUbn1j4Tj4Qmm6cJ5BN9IaM9nRGiFqPviNd2+MbHN3bRQu4BAQCAgEBDIFoHN4HV2rm3WKM22zg+aHsOd24bme9/cbwwaNgHxfL/bHMoLCGx2BHp6pnTmQr/ev3Bbn7S2a2T8M0JtpXWH4GFF35JEwnumfdLWoitdnZ4cZIhtc7JPeDiebmnR8es39fHZFp083elXgn7/2G29/+l1sfjGqJFny5UNsdYx0K+jRhC+c+ymbrcMiiHNpIPIvHGjXz8xgvJ7736q9y5f08WODlEH5uGDRGOoLd5+t3t7dba5WT85cUF/9+Z5fXyyVcm+Wc/J3NyYmhpL9OiuOlUUFpF1VlJkhuKu6ko9tK9GlRX5d6VpairW117eLxaJObJrpyfY8DDUnT8IteL8fIHlkZ27vMcfBuSUGe93VOZvnFN1cYlYBRpvv/mRyx8xL2LX4JByXMx7Qi6Wgnrl5+QYgZgr6jsxNe1Ji10VVWLxlcGxcbUPDhgBWyCuAXCuKCjUrsoqPd7QKBZyyTPDuWNgQC39fSpN5OtQTZ1f0Ie63+rrU6XhDDmpZf7isZjlV6YndteqoT7PSAa3TIoQHRBYDoGtGw+hCME11wK7HSCn4kZYERaLx9isqUBuQXrhQbemGWfIDPLMB1u7IP38/gp/Ju2jCfVFIPYyJXfOeXIOUhFxzgrMpGhh4AvZabvyRKJ9LKkx4TzgaTg6NqaY9VPEUyYCVpCDhOGJyDBuPBpz8nK9J3dEJtLfe520H84l+SHOfVavoqIiy+qz47Qk23537a/qbQ9ZaGBAICAQENi8CDRssPdZGPa89LWxGTw4NwPxvDRKITYg8GAhMDQ0rSvXh/XRpVZdbO/U6MTEPQGwp6pahXl5utrVJbzeIJwyZQhpeamzUydv3daJc2366OM2fXjhll8JGHIrU5qMYRYISXj86m0dO9Oinjveji0tQ3rr6A29eeaqLrS1+bkeTXXR/xB11PeokZP/B3v/ASfZdpWH4t+qXNXVVdU5T3dPT85z78zNUbqKV7KQ0EUI2QKETMb4kcHGf57Bf8AY/BBgfrZl/MDwgCdbDx6yJaKkq3RzTpPuxM455+q3vl19eqq7q3P1TIdV3at2Xnvv75za5+zvrL3PPzzzNt4414WR4cw2GnW1Cdx9og7H6qqQiEZz6BBHoO0vL8fpPXtwtr4Bd+ypR1OFYhEJYv7uhZnigYAP9Q1JvPfRffjYu0/iPXccwt1Nja7snfX1uFPL84U3xbEYeoeHcbm7G0G/35FytPILK6mX0ZT5DmtaUCeuYxOTWCt+GQ1A9/CQEpJpFOvk1IvzXJKDByoqwBfxHK+uAdt2vLbWkYgkMmtTRRhREpjnT00qBb/4cEXbfK2nF9wzkZO+tsFB8IU9tFB9taUZryipzKXZ3SNDIAHboKQkLXe6tb+NpWWoKy5GwM+SXituuiSuad159/46nDpShOJi/81E8xkChoAj+klUcR8/7sWXb0g8MnEpYi6f9U3q2JKtb2E4O201fpJ185aHZxUiocdlxrQ2FBEsR16yHQP9/QiGQiguKXHLlUP6IIjqqJ8EInXxhWckAxmfSwJhfeik4zfz+GZdEQGPG+snsUmhv0jH2lQq5UhPkd1JImZjmPsKkZ3D/IaAIWAIGALbBoGTVdHb3tatQJrddhByNIDWiX+0Bd7uvEkvZMnRY4syBAyBlRCYnp5Bc8sEnj3fpqRb+4bJRJJOZQVx0PqsW8kpWhAu1wZar11V0ulyRxeutfXhWmcvhtdJaN7o68WrF9rQpYQiicA3z3XiqTev4XJXF8amVm+Z3a1k1guXr+GbL15DW/uwa35BQRDHDpfjHXc24WzjHpQXFs4tf6YV4UEl2g5WVIIvWeFElZZ2Q+PjeLuzC0+/fB3PPt+K9o4RneA7dXNffr+gpqYQRw6W4UBNGUoVO84Pp6fT4HLi/tExXOrqxEvNN0BLz+u9PdqXSdDKj5aLxNtTFg2FHHHHl5t4cWt1SUTOKP0ZCQTnivp9PlTr5JVL2FPRmCMcRyYnMDw+AVp69o+OID2TBusnKViRSIBt8F7S49P5LjEikcj9L5v7+tx5xmM/NT2N/tFRRz6/2d6G6fQ0SuNx9I6MoGtoCHU6cT5RU4u9paXgsu9EJOLS2fczDXvw6PFG3H+6HOVlQfhY0VyrzWMIGAIci2gNRxHx5RUQ6h7WsfJWkIkLG8668/HCFxKiJPtIIHp1MOy9zKVPxyqKiA5iXoZZl/mmlOTsbGsDSdtEMomCwsLZ1Izj7ddIHRTWl0lZ/O1IRJ/fkYQpHW8dcVhU5MhM+hlH4Vupsbg5ixXuopj8ntm7CDjrqiGw/RGwHuxEBG73i1mIKUmzzqGMVQnDJhkEtgrRahaKmeNh34bAVkCgs2MSr1zoxms32la04FtNe2t1IjQyMQ7un0fCaDVlSGLd0IlbNwnIpZbzrkIRya32/iG0dQ7h4qU+vHS8pTYTAAAQAElEQVSuxRF6q1k6vVB9x+AgXrvShktXezA8a6VYXh7DPWdq8aFHjuKxEwdxqq4OR6uqnZDs6lNi7UJnJ15tbsZL16/jxRvX8fTFy/jLb72OP/+bV/APX3sbzc2DSKfn2yuS/Lx6vR8vnG/GM5ev4AUt+5KWfVnlnJJs3TppJ5a09GwbGMCbra3Oyi8ZjYKWiiTx2P6ALzOtmlJSjuH1SJrrxLWgSGbG6lO3SifKDcWlmFBSlkvXX1Vy8w1tA9v2ekuLkp3X8YrGdQwOKOkXVzpyBhc6Otz5xCXiFYUJ8C3PV3q63QsIVH3O/wElFokf20ALyatKNF9TApXhVKwAjSWlOFZTg7sa6/GuU3vxgfsbcfepElRWhhAMZtoL+xgCuxQBEUFg1mo5reOot6cf9+aDpvn8vrwiwzpIJpLcW06xiGj1slyWdaWJbEwnh7rJySmQ6COhSPKPfWE4u0EkYxfGMZ1lOtrb0dvTC75khW/WZny2kPzzzY7LJClpzZidvtAfCAbmoliWBCKXTs9F7ghP/juR3zM7/+0zjYaAIWAIGAJrQODR/Yk15N68rH/2Us/mKd+Gmkmwkmi93U2/ozJ6u5tg9RsChsAsAhMTM7jeMoZXr7WhT0mr2egNOcUFcQwpoTg0Pr4mPZ1KRk1OpxEM+NdUbmHmnpFhXG/tw6VLvXjzeoezdFuYZzVhklgtSnK+dr4dXV2jc0VIKp45XYmPvOcovuvdp/Dg4SaEAgGc72jHRSXR+pVUnNbJvCugM1aSmbQqfO7KNXzx6XP4yjevoL19xCXzixPYa9cH8OWnLuHrb11Cc38faLXHtKVkSvU3a9ve7upEIhJ11oMk/hjPOXbAvzyGfp8gHgmjMpEACWC+OCYWDsPHwpyjK9/JdkE/JfG45ikC+3VO+8i3RhMbTZr7n9LjRqKTBGP7QD+Y7pGb5YVxp5fE4BwucyUXewbGRt0elyklS/eVlSHkD2B8ahrJSARcSn9HYxUeubMKdx4vwr69ERQXBzA7X4d9NgkBU7stEPDpD2Fuj0FtMX9vPV1dGOjrB/f4K9Dfskbn9Z9LgpdTKCLw63hECzvk+UNCcz0q+/qm8fbbYzh/YRRvnR9VdwxXrozj2rVuR3zmauv09PTiqnSc7OvtBQRI6oO0sI5RWPAhGeiRvAuSlgySqKR4Y/CSGS1hDgHfnM88hoAhYAgYAjsCgarbvI8iQfzShUGQRKPfBDDrRDsLDIHdg8Bqe9rZOYW3rvWgpW8AE7kmTKtVlJWP+/hNp2cwraRXVvSK3vGpKSWeAL9vY1ODkfEJdPeNOhkYGVuRnFuuYT0jI7je3o+h4Yl52WIFQezbl0JVZRy0SjzX3o6uoSFHpM3LmBXgfpEXlHD81mtX8daFLoyMTLrU7u4xvPRGG567eB0dg4OATlJdwiq+mJ9Ca76ighhGJyfg09ltLBjKWTqo5FxtURGO19SCy7OrkimUFRaiRifDhysrcbymBo3FpQj6fW5ZdUBdko6c2F7p7nLLm7HMZ2BszC3Pxow4kjMU8DuydXRyck0v+elWUpjWkGxrQifpEdVDHfClUV2pxGJDZJZIFNjHEDAEoKS6zy2NjcViDg6fjqPxwkJElJhPp6dBsiuivyWXmIcvjgmjozcftCynknlzEnLLFVomjfpYN91lsi1Kmp6acUTic6/04P958hL+7y+fVzmHP/+Hc/iLr72NZ17sxKuvdiKp4yJJxbA+ZFmkJCtCRBAIhZx1Ipc7ZyXN84oIRGRe3FKBKb0O9unDIqYLhI7JKhDwrSKPZTEEDAFDwBDYRghshX0UCddnvtZBZzvIpraxc2gSW8E6kZ20/ROJgokhcPsRmJ6eQUfnBM61dIFLTfPVIseHcR5EWYPSmTxOnqan0xgaG1eSdGoNLVicdUpJ1tGJKUxNpRcljo1N4XrzAF6/1uZeZLIoQ46I0YkJXOroxItvtsxZKba0DOKFt5rR2t+/LCGZQ53L39LX60jIisIEJqem3f6G0WAQ4UBgXhEScwfKy1FXVAxaIg4q+cd9Lm/o5LVjcMARfgG/H3uKi5GMxNz+iIlI1BGCXL4+rG2fp3CJAC0YhyfGkdKyheGIHlUBw0tkzxnN/Rdp4co2XlYi82JnJ1r6+5QcEZSUBBAIrPHkylmLRRoCOwcBWgEmEol5HWJcUUkJ+IKQiXEdD1f5G56nZIMBkn4kE7k0eoOqQF0UEm6Utejj862Lb4/hb59pxl+/eAm0GH/x+jVwWwm6z7x9Ff/ruYv4i799Ay+/3OHI2RX16zAU0LGWwheuLNVHHocVdS3IwH7OYGZBrAWXQsAIxaWQsfgtjoA1zxAwBJZC4NGm+Tc1S+Xb7PgX2kbx57b0GVuFWK2KB2D7J272WW/6DYHVITAwMI3mzkGQAOJS2dWVWjkXLckCPj9CKljDJx4KOYKMJN4aii3KGlM9hbEwaBDCpbeLMqw1YkYndfq/sFhPzxiutPQomTi8JmvMrqEhvN3cg/7+MUxOTqO7dxQtPQMggbawjtWESfQR83AgiIDPh66hQZAY5DJmrzxf3MI3JnPPxRu9vXituRnn29sdSdc5OIhmJRXfbGsD90Pk8uyJ9DT4JuvqRBKifecejp6ulVxiPqKEIifDrJf512qt6k2mJ5XQ7R8dBd2qVAL7alNIpQJUaWIIGAJZCNAiMSvovCLiyMSAjg1cmrzeJcJO2YIvEQGtIVOp1IKUzQtyXOBS4D4dr8aVIF1tTRzCW1sn8E0lCp+9fBWX9AEFLeKzy49NTrox8Rvn38bfPHkR5891YGJ8IjvLrD+3w3bRanJhKuOn9QEX2y6QhcmLwszHSPaRrsnqEPCtLpvlMgQMAUPAENguCJA0Inm0FdpLy7zOocmt0JTb0gYSqiRWb0vlCyp91xbZX3NBsyxoCOxKBLq7p5x1Yv/YWF77T2u3RCTsCCms4VOVSiLo92PhRG8NKlzW4oIYaisTKEpGQILNRW7gy+cTULDg09c/jmsd/e7FIwuSlg2SvKUF3uj4FIYGJ9E9MOKWKi9baIVEzwIwqmQqCUKGaxTPVCyGgN+HuqIi8MUtFzra4QhDJepyqeSk+kp3N5gvHgqDJCTzjU6ufmLN/GOTU5hKzzhLSOUjEQkGGb1qYZt94gOX4Qf0nKjlm54bK1BTFUZwrS9fWXWtltEQ2L4IpJW0GhgYWNQBLqEdHx9DQUEB8rnk2avII8C88Ga7fUomrrVOWidyv8Tnrlx1D9CWa2ObYvjUxSt47rk2ZxG5XN6FaUsRtrFYVMetIMgncim1z7c0/bXWvsE+DoGlEXXJ9mUIGAKGgCGwHRHYKsueiR0t9HYjqcg+k1AlBltB3rGvcCs0w9qwxRGw5t0aBIaGptHRP4zxyfw+cOHSXe7VVxaPIxgIrKoz8XAYXLKbiioBtkbLxuwKwlpfWaIQddVJlBUXIORfXf3ZOrL9JMLisTCCwcXTlanJaYyNT2JqCXIuW89C/7SSbVNKAIyOTWFoeBzcL3BhnrWEPRI2FAiAJNz13l5tVxr7y8pxsLwSXLrcohPxzqGhFdXSwpBLoTuGBh3BS0LPJytb1mQrZn4RLnWedJPyglAY4lu9DraXx5LE656iYty1vxYnDxW5fROz6zG/IWAIZBCYnJoEreGyl92SnJrS8X1yYkJ/h4DP789kzsM3ybOF9eVB7aaoGBqeRkv3kNtWYjUVXOvpRkvnCMbH+ThkNSUyecb04Rwx6evtc8eCfqaIMompVAopFRFh1LIiIvDn8VhhF3wWX6F3Qaeti4aAIWAI7CAEcnZlqyx7ZuNoobdVXkrC9twKIZn4819svhVVraoOWqyWxYOrymuZDAFDYHMRmJycwYiSWWNTU26ZcT5rG9UJbHNfD0qUUKxNJUFCajn9tKrbX14BkmpDE+OghSHjliuzVFptURFO7KtEZUUcxUUxlCUL1mwdh6xPeWEh9u8pRTIZzorNeIMhP2KRoJJuayct/T4fggGfThoFPiXaRFaeZGKZj+iElckkEOj2jYygZ2QYFYkE+KKV6XQarQP9TFqVkFRs7e9D+2A/ktEIuBfiqgrOZuLxC2i/hsZGMagS1MlxWUF8NnV5J+DzoTxeiOKCApQVxvHQkXrce6oM5WUBbBCm5Su2VENgmyMwrQ83Flop+gMBHWN8GNXxIF/d4zgzODiIbPIyX7rzrYfLnfv7pkDLw9XqJo3IbR4G9aHbast4+UgijoyOeME5YpGWoiICbotIMhZQP5b/DAwMLp/BUucQMEJxDopb6bG6DAFDwBDYXAS20rJn9pSWelz+S/9uEFpltg5t7IUE+cTJljvnE03TZQhsDIHRsTT6hkcxqYTixjTlLn29t8+9sbg6WQS+CKQwEnHLX7Nz+3RyRcLuaGWVI/0u93Th1eYbiIcjqE2lEFISKjv/Sv4yJaHuaKzFnSeqUVISRW1NIU7tq0HpKomshfrDOhHnUuHDTWUoLo4uTEZRKoL6yiIktG+LEpeJYL/ikZAjI+MFQRQVRhEOBJcpsXJSNJgpPz6ZGfNLFYviWIGSeWNORiYn1ryUnHs6Do0pwRuLg9iu3IpMjrDiFg+H3ZJnkssdSjzQ0rCxpBSJ6GIcM6Uy3zwnKhNJ7C0rQ0N5Cg+erMY9p0qVIA7ai1gyENm3IbAmBCbHxyEiiMZiANZUdMnMJMS2A5nodSAQiKzZEn9cH4xN6YM3T8dq3aCOxVzWnC2polSGWOzpVT6RdCWwHJ1IwpbkcF+f5icjCvushIBvpQyWbggYAoaAIbA9EdhqJBJJRVrubU80V9/qX/xiM2iVufoSm5/zY6eKN78Sq8EQMARWhcD42Az6R8bBl12sqsAaM9Ei7u2uLtDKjdZthysqcbymFocrK5VgrMDRqmqcrK3D3tIyp5l79nUNDjkrEpapKExgT0mJIxpdhhW+yhMJ3LWvAQ+cacCeugSCQR8qKmI4dagKx+qqViSyFqonsVWbKsKdh2rRUJdCOOxfmEVJxggaqotRWhjHSlaY2YXLCgtRGo9jYiINv9+HVCKGgnBoEeHqyqzii20tUAKvOpnEIcX3dN0eHKyocCWv9fSgpb8foxNr2wPRFdav8elpRMMBNJaXgBanGrX8vxIXPBZV2hZOipl5WOu+3tsDhg9pu9h/8QmT5klEJ+INSjretbcOdxwsxbHDcRw7VIjy8qDitDj/vMIWMAQMgUUIpPX3S+LP5/ejREn6RRnWEcHf8cDAAGhxt47it7yIDkmIFfjXfA3gg6JI1Lfm9ooISLh6BUksev4ZpRNpwcgw/XSXE5KKy6Vb2k0E1n6kbpY1nyFgCBgChsAWRoAkUlU8sKVa+D2fu4qdTCr+ztfbtxyZuNXOgc08IU23IbAdEJicmsEI9/9LpzetudxbkKQiycKhiXEEfT5EQyElz8IIB4MQEWfF+HpbK7qGhsBltmzMVSXBuDy3MpEArRdJUOUmJZsdzAAAEABJREFU7ASc9JE8e+ex/Xjv/ftx6lgFCgtDVINAwIe9TUV44FQDTtbVuLwuYYUvv8+HGiUTHzi6F/ed2aOEVixniVDIj8Y9KZzaV41yJQkhObPNiyxU4q9WdQ+PTeC515px8VIvYpEAmqpKkIpF5+VdbSARjaK+ogiP3rUXTzx6AvfsrwcntOc72tE/NurU8AUpzrPGr5mZNMIRP+rLinCwvAIlBQVLavD7fKjWY0ZLRBrVFIRCOKREMl8M0zc6iktdnUpgp9GkJPLJmlocqKjAnuJiMP+RqiqcUoL5bGMdTh8qw/79EdTUhBBdx4R+yQZagiGwyxCY0f6S+PMroRhb5rer2Vb855hCcpKEGN0VC2yhDOHQBCp0jPb7fKtqVSgQQIk+KIoXrC5/ttIJfYBCjLLjGOYxyI5brb+vr88tk15t/t2ab+1HarciZf02BAyBzUDAdG4yAlvp5SxeV0kqfvnC4rfheenb1SWZ+KULW2/PlU+YdeJ2PaWs3TsUgRllfGhFSHezu9gzMoI3Wlvx4o3rzj3X0YbXW5rx0vVreFtJpoXWc2zX5a4udCvJeKi2Ag8fasLZhnocr65xJBT3WzxcVY3TdXV48NA+fMc7TuFDjx3GHacqkUyF53WnpDiCM6er8e67D+DefY1KFKaWXUpNgpL63336IB67vwn1dQln7ThPaVagrrYQD59pxH0HGlGVSMLv82WlzveS+NunpBxjX7lxA1967k38r6+ex9DIBA7uKVdyrQRhncgyfbUSUqKgvqQEZ47U4MyZKlRXx9HaP4BzSiYOjI0pgTcN5W3XrNern3sf+sSHyam0W4p+QNu/v7wcSSUx/T7tqypnG2hxSfKwUcnCWDCEofHMUut4OAK+GOZETa3rX0xJRuJUX1yCsnhcCco4igpiqE6mcKSmAocaU9hTG0ZBgd9rgrmGgCGwBgRo1dbX14c+lYH+fvdwgaQiSS1aFq5B1VxWXieGdDzu0Yc91EtycS7xFnpY7/TUFEjO0fKPkkqlslogWf6b3nDYh/qauHsocjN2CZ+qOKLXl7qaKAJBDSyRbblokopMJ1Z0QzruiaxPl3vBS1+vO548DtRnshgB3+KolWIs3RAwBAwBQ2C7ILCVXs6Sjdm/+3oHdhKp+ItfbMZWJBOr4gE8uj+RDb35DQFD4DYjwBWnAb9Pyab1TXLW03wShWOTkxgZz+zn51kk5tLFtP7RUTehaywvBQmpw1VV2FdW7izcDiipRYLxUHUl9u0pRv2ehJJQwVyqUFlZgHvP1uKj7zqO9505jDON9ThYUYnaVBG4/JaWkLSSo74HDjbhY4+ewPsfPYAD+4oQjQVy6vQiQ2E/GpUEO32gBqdq9+BwZRVorUhi0KcTyICSbiQSm8rKwGXfJOgud3e5F6Rc6enGV1+/iBfeaEFxMoqzB+tQW1Q0R3jSwq+uuBhHdXJ7orbWEapNStglHZknbpk10+89XI/jhyuQnk7jjYudeP16K3qGh10TRyczS51jIcVGXNSqv/w+H6LBECbGpjEwNI7ekWHwmBTFCtCkx+F4TQ1O1dTiqBK9JDVJFrYPDuC8EsZcSk8M+pVYHJrItMGveHBfsre1/9wrk6Rn51DmAViiIISa6jAa6iMoTPhX3UbLuJsQsL6uBgGSbiT+SCD2kVDUh0fQ3zLDlCElBnPpIVk1og9/FgpJMQqtEpknV9m1xPm0LdxnUGTxgCQi+gAnCJKEzEOXIiIQrWRKrx1TOp4kk0mQTKQwXZMgIlouSe8i0Sqxb19EH/zU69hVBlAZFn84ZnOcvk/H4r17Q4szrCGGWPM4EDv2maTuGorPZZ3BDByp2NvrXoKz1DHg8env63fE41zhXeTx7aK+WlcNAUPAENh1CByriuK9+wu3ZL9JKvJFLZ1Dk1uyfatpFNtOMnGr7Znotd2sEz0kzDUEtg4CwaAPBeEQAj7/5jVqA5rj4TCqUimMjE7hpSs38NzVq3itpVnJqnZc6GzHm62teOnGdTx1/jK++txlPPN8K1pbhzA1lXsJd2lpFCdPluOD7zyE7/3gGXzyvXfgww8cw/vPHsHjdx91Vo6f+uBZfNfjJ/HoAw3YuzeFcCSA1XxGtY2d/UMYHBtVAi6IPUXFOFJVBZKAx2pqsE/JRC4V5otJzne0u2Xent5WnfA/fe4auvqHnZXhoyf245CWPVJZiYMq5YUJRJTUC/oDzsqwOBYDyVRa0BxXIu8dJ/fjHfc1wlkmtg/j5fMtbh9KT/+UkozDOgEPB4JIRqJe9Krc4oICUDqHhjE0Po6pdBrnlCxkH9hXKvH5BOmZtCMw32xrxcWODpAwvNjZgQnNn4pGFJMAxqcm3bL25v4+dA4OsigqC5POqrNGj/OxxhIcbCpAMumHfQwBQ2DjCHjEkz8Q0Acz+kBBVU5PT6Ovr099N/9JQJKM8kgrEmHZQlKM4Ul9GHSz1Op8IgIRQVjH85T+zj0hEegJ40KhkJKBKSdePN1ifaBCN6VlJ3Ucm56aQjgS0YdHBXMNEBFHLpJkFJG5+IWeolQAJ48m8c7je3Gqpg41qSIUaL2hgB+83vDhzB11e/CuU004ejCOeHxjYxExYxvoehaLDK9HSCryeFIXjx8tTRnO1sX4nt4e8Hhlx+8Wv2+3dNT6aQgYAobAbkVgq1op8njwRS18IzKJOYa3k7zWOgou384XmZjvvleZdWK+ITV9hkBeEIhGBMmCCDiZyovCPCohibWvvAJhJdFeudaCb128jBevXXPLpUlYXersdMTiK8038PTlK/jSc2/hT//6Zfztk2/jypV+jI9N52xNKOTHnj2FOHq0FKeOVeL+O+vx+EMH8KF3HsZ7H2nCA/fV4dixMqSKIjoJzqliUSQndc3NA3jhfDOev842tqBjaNCRbz5ObmeAobFxJdo68YYSbn0jI/N0pGdmcEMnga+cb0UkGsD9d+zBXXv3oCqZAq38rvd0K5F6Q/t/FS9pfy90daJ/bAypaAyHqytx9lgNGhqS8PsF/f3jaOkZxPD42Lw62pS0ZESdEp1BJRfoX0mioSD26GSey5I7Bwe0jb0I+n1KDobAPlxQ4vCl69fxgh6Xl2/cAJeok3R0erXPXUNDeLO1Bc19fUo4zmi5MIrjcVQmkqhIJJCKFWhcEMGAH4WxIEpKgoitY78y2McQMATWhABJxZHhzDhEMtERUT096O3rxbg+OFgoa1Kumf1+P1Kp1JyQEKSQHKSkNC2uYwFdxnvCNPqZJiJK6MVVG3QsFn3QkMSMkqEajUQyqePdTbJPRFxdIuLepIwlPpqsD15CuPN4ET768EG86+Re3NNUr+NtPe7d14D3nG7S+P04cSSBisrgElrWHs1rBHFee8nFJaiLpCJJQ5LADNPilMeQdTC8uNTuiPHtjm5aLw2BTUHAlBoC2wKBrWylSABJyP38F5u31RLo3/l6O372S81s/pYVs07csofGGrbLEQhHfEgpoRjUyd9WgiIVizmLvpC261xHO/hCl0El0Ei85WonX/zS0t+nhNs1fOFbb+Bvv3YJV6/1Y2JiPqk4NZnGjRuDeOmldnzj6ev4xnPX8fJbbbja3IfOrmGMDE+5txDnqmO5uDElLzu6h9HWN+DepExrwGs6OX+1udmRbbSiPK/96BkZBpd859JFIq6lZwDtncNuP8XO4SG8rmTc6y0tzppxfGrKkXLsK8m88+3teLWlGVeVbGztHMTAwITr7/CoupPMO78WLlOmJSSXSjcWlyASCMzPsCBEq529pWUojxcqMTqDUdXJtzQzG9/eTHc1wnbf6O0FMXit5QaudHeB5GarHq9LnR0gIdw5OIjy0ghKipdv02rqszyGgCGwMgIknnqVPOTSZhJRlI0SUSLiSL2UkoUkBUkOUuhnXEzH9aVaJiLzLA5z5RONLFASUtlFRKNR+Hzz6SO2n0SbZlv2X6tCWVkQhw5G8cAd5fjgg434yEP78IEHGnDvqVLsPxBF8TYYi9LpNHp7ep21KftNIQbYxR/fLu67dd0QMAQMgV2DwFa2UuRBaB2aApdA/6ISi51beAk0rRI//bkr2Ir7JRJHT8w60UPCXENg6yEQCAii4QBoieb3bY1b8UgwCBJZMzPAufY291KWpYhELPiQvOIy27976TyefPoqOjpGlCDMZBoamsBb53vwxS9fwH/9f1/AH/7P5/Hnf/+SE/r/618+jy9+5QLefKsbQ4OZ/f4yJVf+HhgYR2vXAIbHx1fOvEyOwfExnL/Uha8/dxVPX7jili0v13cSi6/eaMHXX76KC5d6MKTXLEcoTk/lrIUkXktfH9zLUyqrUJlIIKCkbXbmcCDgXo5yUNMTkSi6h4edNeJUehp9oyPO0rK0IA4Sk9nlVvTr8eTx4b6OfHt328CA24uRxGVdqhgliQgi0a1xDq7Yl3VnsIKGwNZAgMQTl+CShOrTMWEjrSKxJyIgcUgCkZLQsWUjOnOW1Tr8gSBILIbD4SWyMDVn0qJIXvKKSwLYsyeMhoYw6upC2ocAtJpFebdChEAWNWMGM+Ax5FJ0HtNFGXZZhF1BdtkBt+4aAobA7kRgq1spekeF1opcRswXtmwlYpFEIslOWiWS/PTau1Vds07cqkfG2rUqBHZBpkTCj5qiQrf0dCt0tzZV5Kzn+LISWtWttU0k4K52d+Prr13GK2+0Y1DJPu5veE7JxL/6+zfxv555E09fuozXWlpwqasTb3d1Of8zly/jC0+/jv/55XN4/a0uDA9PrrrqkZEp9AyOgoTZqgvlyDidTqNZiclXr2WsEnNkWRQ1MDqKt5rb8cpbbejs5BLGGZ1iLsrmIrj/4bXeHhBbWqVyn8dj1dU4UVOL4zU1zj1SVeVeCsMClxWfZiUbppRMnJ5OYzo9A+5/SD2NpWVu7zHmW6/ElBTYU1wC7i05OZVW8ldZx/Uqs3KGgCGwJgRExFn6rZf8I5FIy0MKyUS6a2rAOjJrk12pXOSZiIBt4D6KLtMO+5pZcmTfYR3dQHeMUNwAeFbUEDAEDIHthMB3nipGVTywKU3Ot1JaK24FYjGbSCTZme9+boY+HuNH9yc2Q7XpNAQMgTwhUFYaxP7qUiQikTxpXL8aWidyb72u4SH0Dg+vWxEJL+7n99xrN9DeMYKr1wbw5afexpNvXnJLhHMRfxNT07iiROTX3rqEJ5+9gpaWIaSVQFt3I9ZRMBYKgUufO4e0bpporlJHx+AAXr/Sjr7+ccQiIYQWWB1mq5lW0rJFScLXWprRpuVo80KrxEgg6F74wi5z+fjrTB8YcPtrxkJhZ824t7TUkX43+noRm7UkLdA2Z+tfrT+uZGKT6otpee43SSJ4DV1ebTWWzxAwBHIgICLuJSm0JqSshlRMT09DBwCnLRAIgOQdy9KluIRN/uJbn/nYYVQfpCysSkRAYpNtWpi21cIiAvaFuNHakntObrU2bsf2+LZjo63NeUHAlBgChoSPR7UAABAASURBVMAuQ6AsHsS7thnR5BGLv/jFZpDcu1VWi7SQ5NJmWiRuFyLRO51/9X01ntdcQ8AQ2KIIFMR9qC4rQGkiviwRdSuazyW4k9NT6B0ZAUnBjdRJ68bL7b24cr0Xr77RjucvXnd7EZK4Wk5va38/Xrx0A29c6MCAEnTL5eXS6EuX+nDlaj8wJUrIBZfLvmIa3+Q8MjkBWh2umDkrAwnSwZFxR4CSUAwHg3Avg8nKs9A7OjkJ7vP44vXrePbqVTx/7aq6V/Dyjevu5SvUyTIk/HhMSHSWxgtxoLwCiWgUPXqMCpWEPlBR6SwMV6qPuijMR4vEg6onHoo4ErdLCdSA3wefT5jFxBAwBDYZAZ/PB49EpJ8kHMmtXEKLv6ASiFOzb1guKChwZCLzbqCZ6yoqomOEMopTU1NLlh/ewMOoJZVuQoKI6Jjng4g4gX54LEREffa/HgR86ylkZQwBQ8AQMAS2JwIf20ZWitkIk9QjufeZr3Xgz1/q2RRykSQiicvH/+tFt5/jdljanI0R/Z88XQwSx/SbGAKGwNZFgHOX8rIgjtSWO6Lodra0vLAQw+NrJ9SWanPn0CBePdeB1y61gVZ/tM5bKm92/I2+Prx0rg1d3aPZ0XP+oaEJXDjfg689dQ2f++Jr+O//8Ap6+kZREA7N5VmPJ6CTfFpFTtISaI0KpmfS7o3QsWgQlam4tiX3HmO51c4gF9FKy0UKLRafu3YV3J+ShGdxrACF4bCzpqQ15L6yCuxXgpBEIfuQqw7Gl8TjOFjBvOVuIn2puxNtA/3w+30IBnwaB/sYAobALUDA7/fPewmKT8cekopLSSqVQjQaw7QSeTM6PsX0ocItaOaiKrjvo+iDh0gksiiNEVwK3dfXR++WFraTfenp6cHY2BiyCVIRIxTXe/CMUFwvclbOEDAEDIFtisA/f6Bi2yx9XggxicU/erHHvWGZS6JJAPKNy9kkY+fQ8ntw0dKR5CHLsCwtET0SkfoX1rldwlzqTMJ4u7R3x7bTOmYIrBKBkpIADu0pQn1JEbjseJXF8p6Ny25Jpo1PL219spZKaUXX1j2IG939GNRJ22rLDmnezt5hjI7NbweX5La1DeOZ51vwuS+9jv/rb17C3758Dk+/fRltg/0oCIURDYVWW828fHEl6AoiYQT9Pvh0cj8vcZkACb/qZArl8UKwbc2tgyhPJHCsqtrthbiR40mCN+jzz5GxfKHKG62teLOt1VmQFmibe0dHMDA2gpQSDFwSfbS6BsdUDlZUOpKRLsOMbyjh0vqos0Cljo6BAYSDQaQKIoiEbSq4zGG2JEMgbwhwfPGsE1ejVEQQ14c9peVlOjb50TdLgq2mbL7ykMjs7+3DoI4ZJBOjsdgi1SMjI+jv7weJukWJ2yQinU6Dsk2au+WaaVeRLXdIrEGGgCFwqxHYbfXxBS3bbenzUseIBOCXLgwim2Qk0UiC8NOfuwJPGPaElo5cSs0yLLsdLRFz4UGiOFe8xRkChsDWRCAQEFRXhXGivhKl8fiKy2U3rRc6cZ3hxvMz+alhYmoK45MZWcsSalrrcVJHAtFryfT0DK5fH8Dff+0yPv8Pr+MfXjuP11ta0D085Mi1Zp3IkhDlsm2f9sMrtxrX7xMl/4qxv6oEFcWFIFGHVXyKCwrcEuS6oiJHmP7tC+fw+SdfxevXWsE+1KRSLp3HFGs0euFy5spEEmOKYdfg4LzW9OnE/Xx7G4bGx0CrxK7hYbze2uKWQft9PnCZNPfkJMlINxYMwe/zuX0xme9ce7uWHXc6S2IF2FeVQjLpd2H7MgQMgc1FwKe/xbUQimyNiCAciSAUCgLq9wcCuFUfWvMN6hjU2dEO7jtYUlamTZg/oHGZM992TIu/W9WuhfWwnQvjLHxrEfDd2uryVpspMgQMAUPAENgAArRko0XbBlRs+aIkCj3Z8o3dYAO51JlE8QbVWHFDwBC4xQjQSvHY/iKcqKu6LUuffTpJzXuXSUzqvDPo9yuhpZ5VVsC2+Hyik9ZMARKLN24M4m++eglfeuYtvHj1GrqGhhxpl8kBkHTrHx1BZWESXNoL8VKWd33abxJ3dx2ow12na3CsqQKlShQuXwpK5MXRVFoGWjZySfKLN67h+atX8eL1a3ju2lU8r+713l739m7mowXjSjq9dFpZNhSXKGY+NPf1YmJ62kuac4cnJsAX30xOTaO+qBjTCtKlzk68wLpVXm2+gdeUZHxF3eevXXHxb3d1zhGJVBQK+FGZKkRDVQKJhBGKxMRkWyCwbRu5HjLR6yzHqlAoBBFRYjHkRW+6S6Kuv68PfMhDMpHWktmVMr1P08fHMw8pstNupV9klYP+rWzULqvLt8v6a901BAwBQ8AQmEXALNpmgdjmDolhEsTbvBvWfENgVyLAuVBVVRB3H6nE8doqR1TdSiDSmAGnYyL8zk/NYSWsYuEQyhNx7U9k1UqjoTCKEzFEwhkrHC4l/upTV/Hlly/iQkcHSKYtVEaLwCu9PeAeg/uU6OMy5IASmQvzZYeDgQBqi4rw4OEmPHp3I44cLsXBxjIcqFp+P0vuX9hYUuJUvdHWChKHE0rsuYjZryklAVt0kv2Gknr0kyAsikVnU5d2aJnI9tO9rv0hcbpU7iGdwF9TwpH9rEok57Jxr0paNo4q6ciXu5BsnEvM8pTFC3G4rgzlZWEEAvk77llVmNcQMARmEfDreJRKpZBSmY1am6NjczAcBgm8Cf3tr63wxnKPj40hpHXzhTC5NHEZdK54i9tdCBihuLuOt/XWEDAEDIE5BGjRRsu2uQjzbEsE8koMb0sErNGGwPZGIBLxYc+eCO47UoPjddVKwoVvWYdILiWV8CIBGFIiMB8Vp2Ix1FYmsa+6DFz26/etjrSq1Qn38f2VKCmOYGhwAi+/2oZvvnoZV7q6MDY5uWTTRnSS7Vnh1ReX4HBlJaqSSbcvpU8n4yxINxoKoTZVhCOavresDGXJAhSloogVBFG/J4H7TtbjeG01CiMRFlkk1VqWJB7r6h/N/eIYr9CgtuliVyd8Ph9qtJzfl3vKxTbtKS7GoYpKt+T6Sk83uIzb07OU2z00hBElDrn0mW1aKt/CeB6bY7WVOLGvGCUl/oXJFjYEDIE8IcDfPknEIn14QXe9akUEtFB0hKL+5terZz3lgoEA0vqQhA9u2B/qmJnhNyAi4MtkksmkPpgIgMQp7LMrEfDtyl5bpw2BHYSAdcUQ2AgCtGy7ozK6ERVW9jYi8OvvrQGJ4dvYBKvaEDAE8oBAMuHHgaYCPHi0Dqfqa5GMRjd1T0USbCTd7j+wF3ccrsYBJf8SkWgeegKQpDzcVIrTxytxsqEaxQVx6OwTy31YhnmPHypHMhnG1WsDePr1G7jQ3pHTMnGhLr785VxHG9r6+xENhhxxyBeTHK2uxvGaGtA9UF6B6lQKYZ0k3+jtwatX2tDcNojx8WkUKYl55lQ1Hj7VhDvq9ygJmFJCMjBXTSQYREKJxsGxUXQPD8/FL+ch6cgXqrBvx7QdByoq0FhSioaSEuwvL8fRqmpHJNKqcmJ6Cuc72kHrRngz9mWU0xqRbWEWtovuSsJz6tSeapw9VIHKiqASAAL7GAKGQH4REBFEdfwmiUjCba37JuZqDcdrKJE3tcyDlVzlNhInIkgoGTo+No6Bvr45VRqd5RdHKpI0JbHIhEklPUlC0m+yeQhsJc2+rdQYa4shYAgYAobArUfgl99XAy6bvfU1W40bQYDWpUYmbgRBK2sIbC0EiooCOLQ/jnee3oO7m+qdlV3I7897I6NKjpHYesfx/Xjs3r2460wVjjdVKhEYh9+3sakBrfv2lBehtjKBw4dL8I57mnDv/kbUJJPI1Rda19WkUrjv4F48eLYBNdWFGB6exPlLXXjtaqt7M/FqAeDy48vdXeD+ga1KLEJn4HwxiXsLtJKM3AuMy4lfvHEDFzs6cbG9Ey+fa0NHx4irIhr1I1UYQXEshrqiYhyqrHJvTibxd6K6Rtsf0PYsb5noFGV9dQ8PIRYJ4kP3HsMHzh4FicRSJViLojHEI2GkZ9J4u0v72tICko9ZRVf09o6OuhfTUNdymQN6TCsTCdy1dw/uO1aDpsYCFMT9yxWxtPwjYBp3AQK04iOxRoItpeNavrrs1zHbH/BjVH/zHMfypXc5PSKCQh03ItEIent6MODG1MUlRDRfYaE+CEqCS6Onxschi7NZzA5GYGN3DTsYGOuaIWAIGAK7CYFfNVJxWx1uWpXSunRbNdoaawhsKwRuT2NTKT/2N8Xw7rvq8PCRRhyurgKXqfp10rbRFpFYqkokcaK2Bo+daMC9x0tQUwEE/SOorY7heEM1ipRMW2891E+i8s4j1Sgvi+nkMoijh0vxbe84jPfceRin6uuwr6wctUVKOKrsKy/HybpavF/THn/4IE4eLUdhYQg3mgfx0oVW98KV9Cqs9Ra2l8ujb/T14mUlDp++chlPXX4bz6j7akszSDROTk25Ih0DA3j97Ta0dwyhv28cr7zWgSdfuIxnLl8FiUfRXPFwyC1BL47HwVny8MQ41vLhvo/j6Sk07S1CU2MRBsfGcaGzA6+2tuC5q1ddGzsGB0CLQ6zxw36mlZCMhoI5S5Ks5ZLzg5WVuG9fAx46WYtDTXGd+BuZmBMwi9yxCIjw17y53SOZmEqlnMVeJBLJW2UignA4jFhBAYYGh9Cn5N7kLbJUDCqRWVZRARFBZ3s7ltvDUSRDLGpmxPQ6QmKV7abrCfXlDZgciqjfq8tzRTb/2Odoyq6K8u2q3lpnDQFDwBAwBHIiUBYP4hOnire3pWLOnu28SFqT0qp05/XMemQIGAJEIBbzob4+jAdOV+D9Z5scGXSoqgpcOkuSiHnWIlyuW6MTXS77feRoI95/917cc6oEVRV+pKfH0NXZiXh0DKf2l+CYMoyF65gMc0keicK7D9fj9NEqJFOZCXUiEcbx42X44DsO4rsfP4NPvudOfPTBE04++e478T0a9/g7lUw8Xo5EMox0egadXaO43N6D/rG1WQOuBRPmnZieVtJyGDfaBvDaG1148rkrePriFTQrGdnc14cXr19XMvIynr16BZeUBCSZOMOCaxEtwL3PvCKjkxPgUmi+OGU9JKKnhy71+n0+lBcWoqGkxC3T5nGmnyTikcoq7C0tQ5PK0b2laKyPIF5oUz9it14h5iRzKMvpYHp/fz/GxsaWy7bqtGk9V6mL9a+6kGZkfrZlZGQEExMTYFij7X8TEOAegiQU86max53HjUQeSbqZ9LQbr0f1eOaznqV0iYiOGYUo1vFlcmLS1T2+xDnNNg4NDoL0XSQaRYmWoaUmXU+ITzKZ1IcaSUeSijA3NvzxiMuF9bFe1rfhCkzBsgjYVWVZeCxxsxEw/YaAIbB1EHh0fwLvUtk6LbKWLESAZKK9hGUhKhY2BHYeAn6/oLIqiGOH43j3PbX40L37QYvF03U14F581Uqcl6gHAAAQAElEQVQQJqIRtx+g3yduv0WfTs78Ph9IIKZiMdQVF4MvKLmjvg7vPrkPH3/sBD7wjgO49+5qNO2rQEVVJWh9UlJaqpM7H6rLfbj7UBVO7akBy1MfVvHhnoT1Onl89Ph+vOO+Rm13AbQpcyWDQT8aG5NgvY893IjHHzsIkoj0339vDRoaOLn0u/wjI5Po6R/B8Pg40uuwTnRK1vDFJclvXOrAsy834/m3r6NzaHBRabaDloY+8aEgGFqUvlxEJBRESSKGWCzolpOLyHLZ15RGi1C/6gv5AyDZXJFIoiKRcP4indDzuKTTaUTCgtLSIGIFPthnYwiM63nZ3t6Orq6ueeQcSTsSiFySyhpI4LW1ta2bUGQ9fUpqUy9JwKGhIXR0dIAEE/WvRpi3t7cX15UYb21tRUtLC6iT+lZTfifl2ew+iwhIKCIPH7Z1WI93b3c3uvVhDy0D+dCH5xQHVv6mA4FAHmpanQoRQUE8jmRRCoNKknfpeTg2Ov9hDwnOTo3v1/ONlpQRHX+onSQoXU8KCwsd0Uiij+RfPvaXJJlIXdQZ13Z6dXku97FMKonp02ujF2dufhGwK0t+8TRthoAhYAhsawS4jJZ7823rTuzQxntk4rGq6A7toXXLEDAEFiIQjfqwZ08Yx4/E8Y6z1fjIQwfw7fcfwntP78P9BxpwR0MdTtTW4lhNtZNTSjieaazDw4cb8PiZfXjiocP48INNuO+OMpw4lsCBA6UoryhBIpVylicJnWjFdZJXpIRgw94KnDlZiffe1YT79ze6F4jEw2FHVi5sF8MBv99Zx9Hy8fGzR/Ceh/ehUcnBUMiPkeFht+8W997q00kmJ5qDA/2YmhxGQTSN4uKQElxB+HxCVXPS3z+Olu5+RyjORW6iZ0gJotauQZxrbnfLoZeqqn9kBCTvUrHoUllyxpcWxLFvTylKS6IIBf2IhALw+3w58641MqbHZlpJ14udHeALXbhM+3pPL851tOOFa9fwWkszRKvatyep9QfWqj47v/kVARI5AwMDjpgjUUfCTqMdydfX1weSdiT+pqamnDXg5OQkgsGgIx4ZR0KIVobp9AyLuXIkDilMowUYySSW6+vtc0Qg87MextFlQS8Py7Asw4zPFsYNDg6iubkZzBMKhZxLUpEWb8zLPNSbSw/rIjlKSSspzfwU+tkmlmGfGEc91Ml4TxjHtN0iJKtIlm20v3yZydjoGPr1fGpXQnpwYBA8RnoS6dg5CR5HWguStNtoXWspHwyFUFZejpQ+pOJvgGO6K6+nMslPkp60TuS1pKyiwr2UxqUv80WykWQfsVsm24pJJBOpa7mMJBtJKi4U1j2TdX4vp8PSlkZALzNLJ1qKIWAIGAKGwO5DwEjFrXfMjUzcesdka7fIWrfTEAiHfaDF4sEDUZw6Voj77yjH+++rx7c/tA/f8cghfOyRw04++vBBJRD34d331OHeU6U4frQATU0RlJQEMDY27EiFhdiMjI5iTIk1n9+PssoC3HGqAh9991F8+IFjuGdfA45UVblls7WpIlSnUthTXAJaSZ6qrcG7Th7ARx85inc+0ICG+kLQcGZKiRTu88VJJi1saF1DqxZKR3u7s7oZU4IuF+kwMjKF7gFtj5IyuAWfoPZ5QuvqVgKUexIuVSUtFEcmxpGIRJGctb5ZKq8XTzK2saJYCcVit5yb+0PWlCZQuI4l5cjxSUVjoJVi++CAW0bdqQQSLSwH9HjOiDgL1VNKEjfURXWC78uhwaLWgoAjevr7QUs0EXG/JZ7DJNG6u7sxrOcQiTUSeCSBRMQRiiTlaK1Iy0a6/f19yg/NgOVI8Hnxbe1tLo56enp7nD6WpS4SfCRNSIAwnXq8ciQOF/aDZUhyiggaGxtRqw8dypUQYjzLs90kBamnra0dbUpekSiiHhKbnZ2djiBlHT09Pa69JBDZTxKnjGcZ6mM88zBMYZ/6FSfq2g3CY5JIJLBRQpFkbX9fn46PHaAFIPUWJgpRUVmJCh2DKyqrQLKuXMO3A9eAkuMlZWWO1CSJyDaMjAyDYzrP+1I9v9i2ghxWgsybS0TELX/OlbaaOJ7H/F2sJi+JRxKLnvAFMtN6reL1ajXlLc/SCOT16sKDSllYHeMoC+MZZjyF/mxhHCU7zvyGgCFgCOxYBLZYx4xU3DoHxMjErXMsrCWGwFZAIBgSFBX5UVMTwt69ERw8EMHhQ1EnBw9E0dgYRlVVCIUJv5IfguwPSQSSANlx9NOyimQBLa8CgWk0NRXg0fv34BPvP4Xv+8Bd+K53nMIH7z6I95xsxPvvaMSH727Ct93biAdPleGI1hkNj6KvpwskDUkgjo6Mat1+xHWizYlcsqgISSUjo0rGkXCh5SInpbTIQdZncmoa4xNT63pJSZaaVXtJDk6m0+hTgnOlQjd0ss+5yd7SUveiluXyF4RC2F9RgbNH6lBXm1AsBIlECPtqS8FlyZDlSq+cFtHJPYnJyelpDI9PzCvAtMaSEty9vxanDxcrmRycl26BtSNAQm9AiVv+dkjMiSihODbuFPGcoEdEHNlC/8TEhB5zP0QE/G15pB9JSW/pMn+LJOJIJFEHf3+Mo59xESWeA8rQs24SdPzdUG9XZ5cjG2n9yDiSf8zPej1hPurib496RETJ/oBrE/vAdJZj20KhoCNHGSY52KeEJ9soImCY5CHzsxzbwfawjcxPcpJ5OG6QICUJRhKUZby27HSXBDNx3mg/eQy7u7rAsTOi4yS3oqAlYjQWQygcRrQgBlqUb7SejZRnX9k2ng8k4jiGjyqRXqxjItvL9LXqJ3YkZNdajvlF1j+Q8qHXpD5IIxHM+rOFvzvqX42ICLjs2iu/mjI7LY8vnx0SETdwZuvkIDM0NIhBHYS5WWd2GsOMZzrzZaeJLNaVnb4V/NYGQ8AQMAR2MgJGKt7+o2tk4u0/BtYCQ2AnIUACgSRErj6RJKAM6n07yY1oNI3jx0vx0IN78NijjXj80X14/JF9ePSeapw9XYyjRwpRWREAZiacRQ2tajzxB/zgxDOZTIJWLbRecaIkGyfFJB9IPtIqanoq89Zl6Men9/8+n4B/Gtz0/wKdqKdn0hhRAmilyvgyleu9vQgHgs5Cs1zJ0pDfP69YwO9DWWEcx+tq8I7TTbj3zjqUlcUwk55RYklxGplCcTSGpMq8gmsJKEaVWndY624fGJjba1IUt+KCAhxUjI9VV+NwYzHKK4LQ7GvRbnlzIEByjhZ/JPHCobBiKiBxJiKOTKCVFIXWTyLilqmSyKMqEkUkWkhS8BiRkKOQoCMRUVVVpaRvCZjO/JFwxOnkb4dkC8szbzQSzVgwjgyDpGa1HmOWpaUVy2UL59UkfdgmL551UtgHjgEcC6inproG1BUviLul2iQHWZ/P5wPHA+qh0E9dbKeI/kJVqI/CdLa1srISbA/bzLw7UTarT3y4QiwDwQA4VnLc5BLizapvvXo5rvNc4FjvdOh5ULAGq0RXZsFXqRKSCR3TKCF9GLMgeVOCkxzzte2lZWVg/dmSTKaQTCTB9ojIkvUznb/TVCrlfsPUsWTmHZzg28y+8WTr7GjH1cuXcPnti2hpueGedLBODnQMM/6KpjEf8zPNxBAwBAwBQ2BrIGCk4u07DkYm3j7srWZDYCcjQHKEhIHXR1oNkmTwwnR5T07ChPn8fkEyGUXtnhI0HahCY1M1qmsrUVFVCS5xW0qKiosRDIWobk5IoNCahcI6+OIBEjWsh5ki4QCSsTBCSkgynAdZVkXQ51fSBJhKp5fN5yW2DvTjUlenEko+NBaX4JASKIcqqxyJxxfgHKmsxt17G/H+uw/hnQ/uRW1t3BXt7R3DC6+14VtvXsW0kou0IKQVo0tc41dxLIZKnewOjI2iY3BQCc4ASG4eKq/AvrJyxBTzofExDI9OKEG0un6tsQm7KjvnrCS++bthx2mpyDiS4jyH6ef5SyKEJBzDlEgk4ohFWvGRYCPpRvH7/VTj0vi7YzkSSRT6p6anXBrLMyN1U18oHHL7LrJO/maZFlRym2QG62V4TmaU55+Z0fNUXBR18/csImBZ6qMeEo4zmHGWi6milP4WMkux2Q62lXlIFFI/CUgSkdQ1Pjau59YEmI+62D+PSGR7vba7yu1rRQSIs7fthMN9lePRiorznEEkc/7oieII9XyqJxlH4flMos4Tkcw5nM+6qIvnPs9lnq8MZ0symUBJaQnYnqQ+FPPaQldE3FYG9PMBAveB5LkvsjntzG7XVvX7NrNhPEhtrc3OOnFkeAjtbS168o24Kkf06QrDjKeFIvMxv0u0L0PAEDAEDIEtg4BHKpLg2jKN2uENuaMyis8+0YBjVdEd3tNc3bM4Q8AQ2EwEPGLAq4OTIRJ9XthzeV/Oia4XpisiCIXD4FK81QitmVguWxiXKioC9wMLBIPgC1uGaGmnk+h4IoTy4kJElRTLLrOZfr9P3AtXsMoP9yp8vaUZbUrmRZTQIcFXHCtAkRJ95YWFaKopwYljFaiujjtCZ3o6jSvX+vHs69fxWlsrrvf2IBoMobG0bMWl09lN8in2JQUFel2oAeuhdeXBigpHZtYXFSOl9Q8qyfhqczOev3Ydr7/dja6um9af2brMvzoEeP6TSBzUY00Cgcsj+XsJhUKYnJp0BB9/JxSfz+eIQBJsDJO4IwHH35tn7UQykWWZTuKIvzvWQT9JOS+NOvg7oUsREZCkYx3M77WpvaPdLX9e2JtAMADqIllPQpNLq7lcmWQN66QelpnT057RIyLOOpJ9pLUhCRP2m+0mqcoyJFnCkbA7t9lGtp36qJd9YJh9Z97dICIbIJJmgMmJSTcGcgkuiToeZ38gsGWh4/jv8/vdeTc6MuLIaB7/fDWYb2rmOeYJzz9KrjoYv956p6an3TmsX8uqIGHotYUu6+TviL8NkQ0c+2Vr3V6Jvs1uLg++SAZskfnVeWERAfPBPoaAIbA9EbBW73gESCr+8wcqYKTi5h9qkom//L6aza/IajAEDIFdiwCtlXJZZmQDQiKDVlgkP7Lj8+HnfT+X83HfLfr5hlBuhZQoDKGiKI5YMJSPalbUwRlKPBxZM4HJF7hc7e7CM1ev4KnLb+NZ517G5a4uhCKCcGgGJGtIJrU09+KNix241N6F4bExtCp5eq2nB9wDcX95BcoLEwjoBH25xkaVeN2jpCHz+32C7qEhBHx+t3SaZdtU54vXr+PNtjYMjY+jd3gY51u60dI+ivGx9HKqLW0ZBHju8zj6lCysrq4BSbaKikoU67FgHH9Dfj12JNb4e+HvioQfLQ9JsDE+EolgaHgIfX19IOHGeLqslsQb66DQz/yePv72SEgyL9Ook7pI9nFLgi4911h/KLT4t8I6SISQTOSLUriMmfnKysrdnJt6SNws1MM8JEtYb2dnl2sz62CbYtGY8l0zYBmmx5REJwZe25mHfRfJkJ/s324QHp+JBfuYrqbfxGpkZBhdMc8V6AAAEABJREFUnR3uxSZc8syHNFzqzPNgNTpuRx4ec8qokok8vxKJpCMVN6stJO48Ii+RSECEozbccmTGr6deXmv69fcY04cwlLXoYHv4YEEk0461lN1xeWc75Jt1N8Xhj6GQJ5kv4AavsA6o3kHjYMgwT0ifzw/mY/5NacgWVcoB+uqVS3jh+afdYLKVmsnBsb29FS+98CwuXnhrVU1jmZbm664/dFdVyDIZAobAtkGA1nK/qkQXCa9t0+ht1tBPni6GkYnb7KBZcw2BbYgALa5IWKzUdJIp65ksr6TXS+d+XBElKsZ1Qk6SIhTyozgVRWmyAJFgwMu2Oa7OB8OBACoKC5HSNqy3kvTMjFsyncYM4pEwUgUBTEwOgVZhJH0uXurAi+ea0Tb35tsZNPf14qISCQElqviSl0MVFWgoKUFJPI5YOOwIThKOlTqB5jLmA0piVadSjix8/vo1PHXlbUdkfvPtS3jh2jVn9UiS0+sD29QxNIgLN3rR02tWih4u63FJvnGvwWg04or7lNAtiBe4PdN8Pp+zBPRIBs5lo9EoysrKXDznvSQhOe8lGVJVVeXeBhwKhkDCj3HUQYKiQs8Bv5KTLM/6SApSH8tSH/OxLdTH/J5u+l3Dsr5IPpJsoU6W4bLlmpoaxGJRl4u6mcay1OO1i/WxL5n6Q2A5hl387BJQto9lKysr3Pw+u32BQND1nTpdRbvgi8TgdHp6TT2dSacxqA8BuI8sXT5cqaisQkVlJehfk7LbkJlzfkqRjlnFZaXuPNjsZvD3wnOavxkuQ6Z/vXXyWkMehns/CmS9aqzcLAK+WXdTHP7AqDgcDbulERkiN3PQ9NoLhmMFBYjMDtBefpbZ6tKsxNm3vvFVUJ765pNoab6xbJMvXTzv8jL/09/6Gvg0gqRba0szJrkp6BKlL5x/c67ceutZQvWy0X29PbimNyujoyPuadSymWcTOzvbcf36VX0SOrbqMrNFzTEEDIFtgkBZPOgILxJf26TJ26aZv/7eGtASdNs02BpqCBgCm43ApurnpIpWVayEJEEoh6UTly9OTW8eIUWSJFYQc3MCWrywPVVVcRxvrERJQZxN2zRJhCOoKklgT0UK5cm424twI5UVqr6KVBwFUcH09ASI3cTENPqHJtHZP4LhBff7XDr9qs4DOgYH3NLnykQStEJsKi3FvtIy7C0pRW2qCOVKePp9Plzs6sQbrS0YGB11+zCSNMQyn76REVzt6Ef/wLTely+T0ZKWRCCghDMt9igiMpePJB2JNhJzJAFJcJBkI5FGIfnBc9tLq66uBtNZhiReKBxyhCR/d14eknesgHUyH0k91kMChfUzTURA/SQAKbQyZHwu8UhFEokkJNlWL5/I0nq8+lmO/WBYRMDyJDNZL9vKNrIOto9h6g5rv1hXrrGE6TtNRMTtp8fjmKtv5DbGx8YwMjyM4aEhcGsHEoj9fX3obG9375bgC1jKlUyO6jgYCAZzqdlycTwvRQTFSiiG9QHIrWwgzzvKRur0jNp4vZnRB0Eb0WVlAd9mgkCibKC/D4lESgfNcoyNjikb3++qHNKL5/jYuIsvLEyiX5/UMb9L3AZfNTV1OHn6DEL6I+Jg0d3dgfR07qcT4+Njrn/sVnl5Je665wGUlpWjvmEv6vY0MHpJ2X/g8IbrWVL5MgnFehNz5OhJ8CKyTLZ5SRUVVWhqOnBLnlLMq9gChoAhcMsRIPH1Uw+U2xLoRcivPYIWnyQTaQG69tJWwhAwBAyB9SHA5bhchkkrRE6ISYqQCBCReQpHlcCiNce8yDwGItEoKJx093R1oVB5xMONZagvLUZkkybYPu1jXXEx7jxSg5Mny3Fib5Uj7tbbLb/Pp+RfCkcailFcFJhTMzqSRnv3CAbGRufisj20Knxb+8wl02+2taJ3ZNgti4UAY0rk8iUwL964jheuXUXHwABWIhGzdU/RCmp8AkMjk5ianMlOMr8hYAjkAQGSxiSIF6oiNzCmRCL3h+3s6EBHWxs6WtvQ3tae8SuZOD01DS5vJim3XYhE9lNEkNKxk08pBuesrpmyfYTXOQpJ3u3T6q3b0k0jFPlD6u3t1ido00gkU+DmyySnuvXpGtlgunwiw/hUskgvkGkwP8ttXbjmtywWK0A0GgNPSN4EdXV3zs8wG2rTp4kzM2lHtEX0pklE7xJm01bj3Kp6VtOWHZnHOmUIGALrQuDR/QnYEuh1QTdXiKQslzgbmTgHiXkMAUPgFiHAJWt80YK3JxonxrQ0otVRdhNIPHJynB2XTz/vo5OplLOAGtAJaq8+pE8VTuNYfRmqEkn4ffmfrnBp8YmGauxrSKK2Nozj+0twtLYSfLHJmvsmQHm8ECcaqnCgMYV4oX9OxdBwGq3dQ+hTUnYuMoeHb37u1zxXurvxemsr+GKVc0pCNPf1YXSBZWOO4ktGDY+PO+vIkVHbR3FJkCzBEFgHAiQTaZ3JcTO7+MzMjLNGpAUiycTJiUkEQyGEoxEUxAt0fChErEDdRCEKE4nsotvCLyKuD4FAELx+bItG52hkLB4H91KcmpzMkWpRa0Eg/1fo2dq5QSuXzUbCERTMEm/JZApDQ4MY6O9zbipV5Ag5/qiYj/lZblbFtnGKiktdWzvb2xZZKfKJbn9/L1KpYpdnI1+3qp6NtNHKGgKGwO5CwFsCTWLMXtiy+mNPq8T/84l6kJRdfSnLaQgYAoZA/hHgvSo316dboBNdWiuKKEuWVdVmWynGCwtRVlmJ4tJS0OAgGpnAkb0JnG6sRrG2CQvak9W0NXuT+nD/joY6nD1WiVh0Cv39PUgkpnHX4QrcUV8DRyrO7/6Sdfh9gsrCBO7aW4e7j1WgrDQ4L+/ERBo9Q+MbIgXnKVxjgGRkz8AoxnbAi1nW2HXLbghsGgI+fchBi24+gMmuxD2k0Ycine3tjqxKpopQXlWJqpoaVNfWopJL36uqnEvLROrJLr9d/H6fD9GCGCbGxsA+b5d2Z7czzFWmGsHrnjr2vwEENoVQJNvb090J3pykikscKy8iKK+swuTkBFpbm51bVlGp9wfi0lNFxS4/y7H8Bvp0y4vyJoikKJ/g9ilZmt0A9sfv86MwmcyOXpd/I/UMDg7glZefB/dhpLz4/DMggZvdkHR62r2AhXs8UtrbWrKTnf9mnq+7vR2fe+abaNPj6RLtyxAwBHYtAiTGPvtEA967v3DXYrDajv/6e2vcPpQkY1dbxvIZAtsQAWvyNkJgcHAQXP48OTmJWCwGTpazLRV5j9vb26v375tnzUFLRU6yy5VYLCouwoH9pXjsnibcs68BpUoq+nQusVFISSaeqKvB2UOVqCj1qboJ0KKooMCHxoYYHjhei3ub6lGXKlp+ubXA7XvYUFKKBw424N5Tqq/Cr2RoGtkf7oY0MTkNLj/Ojr9V/gltwPDYFKamZm5VlVaPIbCjEQgEAvoAIuFeWJPdURJr/X196OrogBIcKCsvV+6jAnxIs5A4pA6uWsR2/ehYzOvDdDqN6anN22N3u8Kz29rty3eHuQFxa+sNNN+4jomJcfh9N6vwK7E2PZ12+yjSZdir3+/3u/ws19bWrP4JL2nLuz7xoaKyWts548g13phowFkrdna0g5aFzMO4jQh1rKeegYF+nH/rdcTjCdx1z/04cvSEa8b5c2+ip6fL+dnmt958XY/NAI4cO4nTd96NqekpZFuMMs+F82/pjWYBzt59n8r9KEwkcfXKZfAlM06RfRkChsA2RmDjTf+xBypAwsysFRdjSbL1f37vPtjy5sXYWIwhYAjcfgRIKnIJGyeKxcXFet8YB+/PvZaRVPRIRy9uM1xumM8XFVTVlOHYsQq8/8GDeOBQE6qTKQR1Mr+eOv0+QVm8EHc21OG+o9VoaoggGptPsiUTfhzYF8M776rDe07tx+k9tWgqK3PLrlNKsiYiEWctWZNKYX9ZBc421uF9d+7DQ3dWoWGP6ov6kOvD+2dKrrTNjmO9JDpm5nd1s6s1/YbAlkRARJZtl0CWTBcR8GUkfNjC8XFhRr5Loa+n182dSSYmdJxYmGcnhsWXe9zbiX21PuVGIO9nwNDQALg/4tjYqHvi19vbozVnrmJdXR2ghRsvbjMzaTCsiZovrcRWt7ozYDm+LZh6mLZdpKioRAeZKIb0CS+XdLPdtFac0St4WXkFg3mRRfWo1pXqaW25AeggWF1TC5/PD+5pWbenQfFOKwHaou6MO2Zse03dHhQWJty+kJVKkjI/Zj99fT3o06fTV6+8DVowPvv0N9DT3eWOaX9f72wucwwBQ2C3I0DCjNaKRixmzgQSiVzeTLI1E2PfhoAhYAhsTQTc0uaJjBUiLWtoNZjdUpKOvXovyFVI2Q+ds/Pkwy8ieusqSCTCOHG8HB9+5xG8545DOFpd5d7+HFjlJNanehLRKPYqMfjQ4UY8croWhw/EkUz6czYzFvOhoT6Me06X4kMP7MNH7z+M95zehwcPNeC+Aw14WHW8/879eOKBw3j8vr04c7IINTUhvW+WnPq0evh9PrAdOTNscqTf50Mg4Nf7f9jHENjVCPj0t+ABICLw+/1Y+JnJeuMv5/BeOvNyiSytt6P6YIEkvZfGcXBsdBTj4+M6p07r7y2AeGGhl7w57lbSqlzHVmqOteXWI+DLe5XKHWb/GEdHR+asDWfS85cBeGFaNTLfXFtUR9bveS56K3v4NLesvNKRa21tGZKOS4FJ3jEtX22nrrXUw8FtZHhYb2R8emPmm2tGIpHUm58wxsfG3PHpV0JQx1YUxOJzefz+gJaZC4JvAfT5BCdO3ol77394njTtP3gzo/kMAUPAEFAEdjuxmE0kesubv/bkV9Hc3Kzo5O//+eefByf+IqJjtqC+vh6tra1zFdDPOJHFacyUXf6RRx4BrZAYny3f/d3fDUp2nPkNAUNg5yEgIoD+Qz8kE7k0T73z/jlGdHd3o7+/f1OXQHuVFhQEcexoKT7wjgP42KMn8c7j+3FEicW6oiJwCXNIiQHfbLvpBjRcqJN+WjTu14f6Dxzciw/dcxiPnKnCgaYYElkvTfHqyHZ9ertcXOzHgf0RnD5RiAfPlOO999bh8fvr8a57anHfHWU4dSKOvXvDTherxhKfQEAQCwewXsvKJdSuOjocCCARCyEYlFWXsYyGwE5FIJskFFnmN6EkmajwhSuJRAKF8ThmuH3AAA2nujA5+6Ik6iOZyD0Tuzs73Zx6p2K3sF+BQNBFkcdxHvvatQjoJTO/fY8XJhAJR/VJmA8igqnJKXDZL/dFLC2rQHFxqXsRCy3tSkrLwXgul52emnb5+fQgrDcB1JPflm2+NloiRqMx99IZkolTU5Mor6jMe8XrrSd72CRny4aJiMM9PTOf7GXaItGBlU9hBgf7FyVZhCFgCBgCSyGw24jFXESih83Bg4dw7txbXnDDLsnAhx56CKWlpWhpaXFCpR//+McdMUgy8Z577gGJQt740mWY8R6Lj/8AABAASURBVMxH9yMf+QjOnj2LL3/5y3j22WfxIz/yI0yak7/6q79y/j/8wz907i75sm4aArsKARHR+/OoezgRUBLK6zyX+PFhthf23KmpKXB5NB9ce3Gb6foDPjTuTeHhB/bgI+8+iu9531k88dApPHJsP07V1+JwVSUO6z334aoqnKqrwQOH9uLD9x3H97z3DL7tkYM461kShmVNzQyFfCgqCqCqKuQsESsrg866MaBE4WoURSKC0lTU7be4mvz5zlMQCqMsGUMs6s+3atNnCGwrBLKtCnk/xDFsuQ5wHCwrK3P3V3xo29fT41bqDfTpg5RZQhE6N6aegf5+t20Y58mMW07vTkkjzyEijvOBfXY1Ar58915EL9QqBQVxfRoWhN/vQ29vN2i1FwgGUFO7B3V7GlBbV49gKIj29laXznzBYFBvZOJKcPlUVA+214ftLy4pdXsnXLt6RftSqDdnsbx3Yi310DybBO3ExDj6+m8uS55RApEkYjQWA59Ah/WGg4Ngf3/fovbO6GDJSL54RsSH69euoKX5BryBub2tBVevXGIWE0PgNiJgVW91BLKJRZJuVfHAVm/yqtt3R2UUP/VAObylzZ5F4kIF5RUV4NPuixcuLExaV5gkIq3HGxsbUVhYqJPeKpA0vHz5Mrg08Y/+6I9w7do1fPSjH3X66TLMeEY899xzLr2+vh4HDx50N85Xr151ZCTTSTj+5m/+Jn7t136NQRNDwBDYoQiIiBtDUqmUu3/3uslxJR6Pw0ezPS8yy+VkmvePWVGb6o0VBHHoUAkefmgPPvDYfnz8fSfwyfeexscfOYpPPHoMn3rfGXzqg3fhE+8/hQ++6yDe+WgDmppiOueY3tR2LaU8XuBHTWkcqWj+5wNL1TkXL0AsHEJJMoJIVANzCeYxBAyB5RDwBwL6m4nC+3D843w6HIkiHAlDvPFQBCQeI1HGZ/JPTU1jeGjI8QFe+Z3mkhsYHRmZ6/tO65/1Z20I+NaWfeXcXDo7PT2F0rJyRGMFegPiRzyecFZ7JKFEBCTdeCK2KCk1oARWYWHS5WP+ktIykPGmnpVru705+FSWbZ1O37xJoUViSMk5n09Qphh4LaQ5MPtMs2i6Xvzk5IQ+yJhZ1kR6o/XUKonLgbD5+jV3HEgEtrY0QytGVXWtawqPF4nKluZrbj9F5iEJPD097fZJfOO1l5FMpBDXCeuUPpUmgch9FL/1ja8qmXjZvZyFiogH++f1l3EmhoAhYAhkI0BikfsJfvaJBnCfRZJx2enbyU9ilCTiL7+vBo/uT2ApIjG7T56V4tjYWHb0hvxf/epX8Xu/93uOCCQh6BGMb7zxRk69S8UvzPxzP/dz+Mmf/ElUVVUtTLKwIWAI7CAEeN83OjrqHkRMTk66+1Le77GLMX34TEtFkfmkFMtw+TMfXnh5mf9WiN/P+UTUkYt33VWFUycKcexIBPfcXYb77q3BsWNlqKwsgEha5xVTt6JJOesIR3zOQjEVi8Dvy/u0K2edXmQkEERRQQTxWADEy4s31xC4rQhs8cp9Pj/44JcPU7ymkmAs0wfC5ZUVKCkrQzgcdkki4vzllZUoLS9zBBvnwm0trejt6QHn8C7jDvwSkR3YK+vSehDwrafQUmX4dqPu7k69aAXAvQOLiopBK7iCggKQsKL1W7MSVp0dbWhpuY6BgX4XzxsVknLMz3IBvQBSD/UtVdftjm9uvo4XnnvKPYF4++J5vPj8M27QCIcjKCktdf1nXziQMI0EHIm2Du37M099HVzmfeH8myCxx3imN9+4tqhbzLPRetiO/QcOO91vvP4KWD+XLR84dBSJRNLFxwri2H/wiDt2rPO5Z74JDpYkGUkANzbth8/vxwHNw7Bv9qYoFAphT30DuJSd7b/89kXlKWfAJd8XL+RvWZ9rpH0ZAobAjkOA5CLJuF9/bw0+eboYJBe3uuUiSUS2l29sJjG6GhIx+8DxJrWxcS8unD+XHb0u/6OPPoqHH37YlSX5R90MfOELX6ADkovOs+CL8SQCzpw5gz179rh8586dQ1dXl9uDkRZJ3lLnD37wgwtKW9AQMAR2IgIkBjs7O9HX1we+eIVhEoW8H+TYwnvChf3mA2Tm7+/vv23EHe9FuYpmamoaJEVJdHrt5H042+iFb7XL2+XCuB81xYVIRaO3tPrSuN7b1xQjmQzc0nqtMkNgOyMQCikRX1SEqD5I8frBeW8ylUIimURhIoFAMOglOT/jeN8UUqLR5/frfNqHHh1Luzo6HFdAA525AjvAIyIIhkJuzM8eb3dA16wL60DAt44ySxYZHhnGyPAw4vFCJaMicMST+PTiPqL+MlRV17gfVfON6y4fw6miEpfu16cBzB9WQq5AyS3qob4lK7vNCTU1dfNeSnL6zrvAGy42q76hCQeVrKOfcUy79/6H5/Lffe+DjkglyZcdX1O7h0XmycI81EWdzLTaepg3peQuy95z30Og8MUqhYUJJs0JyUUvz133POCWpd959l5HIkZnl2rwZpJ9Yx/YdqZXVtU4HWw/4zxh212CfRkChoAhsAICJBY/dqoYJBc/O2u5SIJxK5CLJBC95cweicj2rtClZZMPHDyIGzdu4Pz582hra1u1LFQa1wnjn/7pnzpS0Et79tlnQXKQZACXPnvx2S7jmV5VVYXPf/7zbu9EkpNnz551lo7ZS51JPHIZtYhAROARjdn6zG8IGAI7BwGODcN6Pz84MDj34hUaByR1Ms37wIU95YSSZUgs0rpxYfqtCNM4IRgKYlCJTe51NqLtn5qcRDAQRK4234o2eXVwD8ZDDcWoVkLC78vr1MurYpEbDgRQk0qiqSaJVMq/KN0iDAFDYD4CJA0TShbyvmp+yupDolk53lRWVyOppCRXJra1tmJHWSvOzDgeh2M9+8rxX7tt/7sYgbxc1WhhN6JkYk93p7NITKWKwB9lWMnBZDLlSMTBwQEE/AHMpGeQTk+DZfxKIg4PD7l05mN+v7L6LE/LRuqjXubdxcfIur4rELBOGgKGQDYCJOxIMH72iQZwSTEtAkkwktzbLCtGkpfUT1lIIK52OXN2H5bzB3Syd/DgIfT19uLa1aurllw6SQr+7u/+Lp577jlwUs09FfmilWGdUHPpc64yjKfFEdPuvPNOMC+vtV/5ylf0oWActHb0ljpzKTVf1kL9n/zkJ/GjP/qjIOHIsiaGgCGwcxGYmp5yhKJHFHLM4Bgjwmnz/H5zUjk8NOxW68xPuTUhWgaxfaytp7sbHe3t4FtXx0ZH3JxjJp12LtNvtUSjPtRWRrG/shhFWVZPm9mOssJCHKwrQVlpCH7/4uO1mXWbbkNguyFA3oJkYilXGSqp6LWf90XjY2Po13u1lWRAH2ZMTU25B6+RaBRcIl1aVqa/P78bi3aKtWJaCUX2ZXSEBmMl4P2sh5e5a0VgZ+TPC6HIH1Br8w10d3U5snBuo1LFiP4RJRtbm6+jufkaCuJxZ/kWixa4cMuNa85Ckfk0u/v360QrraQj9VHvQH+fi7cvQ8AQMAQMgd2HAJcUewTjjz1QMWfF6BGNJP8oJBwpJARJOnrC8EJhPpahUA8tD0leUj8l3wRirqO2t6kJd91995pkoZ7nn38etBxiPInBJ5980pGKXLrMJYj19fVMWiSMX+opvGeByKXOtE784he/CN5kV+sT9yNHjriXuJBcXKTUIgwBQ2BHIjA4eNNSkQ/+OfnO1dFoLOpe9JcrbbPj2KZkqgjcyyxVVOQmuXxQ0tnRgSFO9CcmcDu3UiopCeDkwVIcqqpAQSiEzfwklMw4UlOBE/uKUVLih33yiICp2pEI0NKuuLh4Ud9m9EEEx7+WGzfcQwo+qFhKyFvoUwuQx6AijkmJVAq0VuSYNDY6Cu6tSAvqifFxZtm24vP7HXHK7Sa2bSes4XlDwJcPTV2d7ejp6cLExLh7o9HI8JD+ntJuXf3AQGZPlaGhQYzok0v+oLifYqq4yIUZT5NZL9/MTBpDQwNOD/V1d3e6/Qbz0U7TYQgYAoaAIbBzEPCIRpJ/FFo0UkgIcum0JwwvFOZjGQr1bFdUPvOZz7imk+yjhy7JP/opJADpLpSl4ml5aG91XoiWhbczAtb2/CDASfXY2Bi47c5SFikionOBCfC+Pj+1rk2LP+B3hgul5eVuEk9yMakTetdebZvI7bPUC4d9qK2K4FRTOZrKyxDJ2oNtbb1cPncsHMKR6kqcOVCBivIQfL7b1+flW2qphsDWQMCv5NhSD1i9FooIyGHwPQnLSXFpKVKplFfMkW6RSMRZK/JlLn6/T3kNchudGB4acnzHXOZt4vH5fO59EVx52tXR6cb8bdJ0a+YmIeDLh16+UIVLHWZmZgD9T6dnlFBUjyr3ngYyTfSixpd/+P0BRGMFYJjx0A/zeX7lFJ0ehilpF6GZ7N8QMAQMAUNgpyNg/VsDAiQGucT57/7u71wpWg5eu3YN3Avx4MGD4BJlvnTlv//3/+7S6TLMeBex4Ct7qTOTeJP9vve9z72spaWlBW+88Ybbr5Evc2G6iSFgCOwOBHg/zp5Go1FnBc1JJcPZQtLRe6kLrQO5/C87/Vb6SSKGdSIfi8cRLShAcPZlCbeyDQvr4l6Kxw4kcXZfNfYq8RDNM6kY1z4eqarEXQeqsLchpuRqXqZ5C7thYUNgRyHAsSyZTC7bJ66kjBcWgoThSsK9E3Mp44ujSCpytebQ4KCzVuzt7gFfJJUr/1aOi8ZiKC4rBVehct/ardxWa9vmI5CXK01paTn4JuGYkoR8+UcikYTP54dfGf/yyiq9oMXBF62UlVciOvtyD7oMMz4eLwTzMb+IDyxfVFyiNywFSKaKUFJStvlIWA0bQMCKGgKGgCFgCNwOBH72Z38Wv/Zrv+b2PBQR/KN/9I/w8MMP4wtf+ILbC5H7Kz711FPg3ogi4lyGGb+wvd/93d/torjU2Xlmv1jHRz/6UZBEJCHJl7jkKj+b3RxDYNsjcPjXvgu55Mi//QT+ZvD9+OLAO3LKubHf2fZ9X6oDIjct3WI6maSlYq68JB5JLHrbLtwua0W2jW9W5dYPI6OjDG4JKSsL4szxEtx/eA8OVlagUEnPjTbMp8cmGYvheF017j9Si2MHkyguDmxUrZU3BAyBPCHAhyvdnZ0gkejz+RxHMjY6go62VnS2tTlrxXQ6nafaNl+NiCCRTNKO7Lbtm7v5vbQaVouAb7UZl8uXTKXQ0NiEvfsOOJcMvIhARFBRUYWmpoPY23TA7Z3IJ4bQD/cqqK2rd/FMq6ysBn9gIgKWr2/Y6/TtqW9UUjGlJezfEDAEDAFDwBAwBBYiQMKPk3hPSB7G4/G5bCT/rl696lYO0GV4LjHL84d/+IegZEXNeRlP/bQ64l6NcwnmMQR2IAKifcolGr2r/0kOcmJMMpHC+/alACGZNzAwAC6TXirPZsdzqSHbudn1rEW/TnNQXk5SsRiPnmjAmYY6VCWWeigFAAAQAElEQVST4FuZ16LHy0srx5qiItzbVI93nKrHicNJlJYG3ByMSxJprOHlhXkMAUNgHgIiAnIS8yI3IcDrCfdOHOjvB/dP5O+Sloq09OMY2dbS4l78MjExsQm1b45KEXFbYIzpAxv2a1DH++3U/s1BZXdq9eWj234uYY7GUFiYQCQSdcSgp5cEIn8w8cLCRRs1cyNPxjOdPyyvDG9QqKdQ9cViBfCrfi/NXEPAEDAEDAFDwBAwBHYDAtbH3YMAlwrfrt6ybj6I4AuYlmoDHyjQ8pAWfyQWufQ5FAwtld3Fswwny8zvIm7xF+slsXmLq12xOp2Ho6wsgNPHEnj3XfV418l9OFpbjZpUCly2TIvD5ZT4fT4kIhHUFRXj1J4avO/UPrzrrjocOVCAoqKAKyoi8Pl98Gle2McQMARyIkD+IZFI5EzLa6T+HoOhECLRqNvflS9q8YRLqPk77WxvB60YR0dG3APgvNa/CcrY5tKyMrdnbntrG9qaW9DFl2ANDrq4TajSVG5RBHxbtF3WLEPAEDAEtiMC1mZDwBAwBAwBQ8AhQILuc5/7HP7yL//ShbO/vDS6jCehR6H/Vss3v/lNdHd3gyShRy7magPJORKKv/Vbv4Xf+73fQygccoSVCO1vcpUASEL29fXdlgkm20vJ3bLbHxsv9GNfUwT3ny7Ht927Hx+48yDONNbiYEUFGktKlWAsQqWSHeWFhc6tLSoC9148VFmBe/btwYfuOogP3rcPd58uQUNDGNHYzWkdl0/SWoikKuxjCBgC8xAQEWeZyNUcsVhsXtpmBEQEJC+np6YcqUhikUILRb7kpaK6GoX6W+eS6K9++cv6e25AeXm5k7/+67+G9/md3/kdF1dfX4+XX37ZRXtxd9xxB9qVlKTQz/I/+qM/6vLwa2E+xmXnZX5Kdn3Ms5SICBKpFF55/XXc/9CDuP/hh3BK23Dvfffh4rlzSxVbVfxv/+6fun6yPUdPPqLXp4FVlcvO9L5/9Gn8X3/213j4se/Em+euZiet6Gd+luvuXnu9KyrfgRluXnl2YOdW1yXLZQgYAoaAIWAIGAKGgCFgCGwOAiR2Lly4ME/50NDQvHBjYyMeeeSReXG3IkACke3jBJX188VOJBeXqtsjPUnUvfnmm6B1DyfktFZZqsztIhUjkQhCodBSzdoS8X6/OGvFI4djuOfOEnzgvr342ENH8R0PHHWE4XtP78e7T+7D+9T9trsP4WMPHtX0I3jffQ24+44iHDwQdVaJOreHfQwBQ2B1CPh8PiSTSRQXF6+uwAZziZbnqk2Om7Tc1uDcv4iAY2h5VRValRD87B/8AV584QXwoQDHzs9+9rN48sknwS1nON6Oj4/ja1/7mntQxfRzSt719PTgP/yH/4Df+I3fAF/M9yd/8ieuPAm5y5cvO/KRL9Zj2evXr+Po0aPg+FihDy/4sr1nn30Wv//7v+8sI//xP/7HKNSHGHMNXMbDcf+JJ55wL5ZheV4/2tracP9DDzkCdZmiKyb95//yJ649HS2v48CBRkcAr1hoQYbDB6vRVF+M+rpy198FycsGS1IxVFSUrKveZRXvwETfDuyTdckQ2BQERAT6vym6TakhYAgYAoaAIWAIZBAQkYxnld8i4iYeq8x+S7NxwkVpbm6eq5eTLhJdjPciSex5pCP9JO5o2ehZMLIMhfFeHP3MQ6E/WxfDjGcZxi/UyTCF1oleOvXyrfEM0++1h2FPSDbSqoftp25OhDnJ5aSVZbKF6WwHXU58aanIiS7zUN9/+k//CfT/6Z/+KZiHE136f/u3f9vFM8+c7HAPVyYnE37s3RvBiRMx3Hm6EPedKcFDd1Xg0bsr8fBd5bj3zmLccaoQx47FUL8njIICv92X7vDzwrqXfwRExO39x3FrOe0k/viwhXseLpdvVWlaJwlFkoS0UsxVhhaM3/jmN/Fb//7f459+//c76++Pf+d34r8ooUhLwsrKSnz60592RXt7e8H9bPnyq3vvvdc92Dlw4ABIWN5///04e/asI/lGRzMvpCJpSMtD7inL9KtXr87tb8ttKTg2u75OTOCP//iPnbV6eXk5PAtHWjfS78UxTD9dNojjOx+S0SKabfrhH/xBlJSUOCvD3/zN3wTH9n/yT/4JHn30UfDhFdtCK0pKa0uLs2AnYTqsD9qmJiep0gnbxusUrzv/5FM/5/TtaTjsLA5pRUg/2/GpH/hFl9+zbGR8V2ebi+PXL//y/99h5Fk7Mt+hw4fx6GOP4Yd+/N8wCxhHXVVVtfjqk8+5OH699/Hvgqef4XyIng46dq/tPicf9W6WDt9mKTa9hsB2RkBk/o9cZH54O/fN2m4IGAKGwK1AwOowBDaCgMiC6+5sWGR+vMj88Ebq3IyynERyYsUJkaefk7mamhov6FxOxricmAFaozA/LWgY5oSKhCRJO8aXlZU5wo3xzENyj36Scsz/la98xU0ms+tgHMsyPyeOrIN5WZYuhUue6XLSS38qlWJwTqifaWfOnAF1c0JLnczAiRjJRZYjKcn+cOLIdLaNeTjppJUMLWg4weSk+JVXXnHLopn+53/+52A/qev1118HyUXG70YJBGi15EMq6XcWiIlkQCf5PtCiEfYxBAyBdSNA4m45CzwSiSTGuPy4u6sLJLk4rrHceivlVcofCICvRea4mUsPCTXGc1z8uZ/9WUwqufdXX/gCqqur0acEIsdUtotj6H/+z/8ZP/3TPw36Oa6SSGQax2fqoCXi5z//eVeWpN3TTz+Nz3zmM85qcd++fc5iMdfLaFjHX/3VX4HXGuLAsZh+6uS1gsQjyU3iwesYhdc4prNutqNFH54x/sb1625sb21tBV/cwjH/D/7gD/Bnf/Zn+Bf/4l+A16Af+ZEfwRUlN0my8sU0rVqWmLPv//T7PqFjXnRuyTLxYb++/uRf47VXnsVf/MUXwQdUrPfU0TK0tnbg83/xl3jrrfN4++KrSBaMu/GyufkGamprQHx+8sc/idffeBU/9b990mFK/MpSE3Nl29s7lagdx6e/90MoLoriV37lV/Hhb/s2/MXnfs9ZtLKf+RQRnhk3NYrMD99M2do+IxS39vGx1t1iBDh43uIqt1J11hZDwBAwBAwBQ2BrIjAz49p1K67TD3zsKeSUJ76Fn50J4ReQyCnvmtYJo2vl/C8uL+OkhxZ/2aTc/FyZkJd+4sQJcAny+973PpBAzKQC3/7t3w4Sepz40VLQy8PJXrNOxjzyjhM+5qNQJ8s/9NBDTud9993nJpacHHJyyTS61EVSkJaT9GfXyzzUzXoYT7KQfaKlCSd6paWlTjeJRsafOnVqXrtZ3hOme5PqoqIifP/3fz+49I6TUWK1f/9+Z03C/nhldqsrIs6aisfaE1oZUXgsdisu1m9DYD0IiIjbBqGgoGDJ4hyf+pXAa58lwuKFhSgtL0coHF6yzIoJWm8gGFQ+cUYJq6mc2dkmkpYcQ3/t138dwVAIH/nIR/CMkoG9PT0IaXmScx/4wAfwwz/8w87Sj0u2Fz74oXJaeZMY/IVf+AU31vN6QL0k5N71rncxS84lwCQn9+zZg7q6OkcG3n333Y60JPnItnAMoiXkY4895pZFk6Tj+E+FfJkMicAbN27goYcfBl/Y0tXZiaamJvDB0rGjR8GytAzldY3XkKJUyi3vduOZ9o9jGt8YTTL39//jH7qVB2+8/Pfw+6bw9S9/zo2FvKb9P3/5t0oavoZv//B7nSXnr/7qv8X58xdxz9lj2LdvL9jOmrojmib68KsWn/709zocBkeiSm5O4plnX0ZJaYUjXL/51Ktu78mPfOjdKCkpAq+LFy4142tPPokbSkb+xD//XkdGeg/82NcdJhvujm/DGkyBIWAIGAKGgCFgCBgChoAhsEMQeGU6iFzy5nQIAYwgNNOWU5bqPgk4TpS47IwkGSc7S+Ulacc0kmp0s8Ur5+WhXi/dszxkHIV5/sf/+B9uKTH9zMd4zyVpePHiRQZXLSQxSQRSL61LWJATRU5CaZVIspcWh+xrrvYzP4UTduqinxNXul//+tfpgJaJtKYcGNj4Zvic7LK9TvE2+uKx4f5mxJF+TrZJNlBIHpBEIBFbVFTsJs5MF9meli3b6LBsoaZaU9aLAH9P3ji6lI70dBpu/NFnWOWVlaisrkZsGQJyKT3Z8SICZ8mnD8Y4LmWnZfvf85734Od+7ufAl3nxAcsf/dEf4V/90i/h4KFDrk0/r2l/8sd/jAcffBAkBzkWPPXUU+B4+tJLL+GQ5uP4SZ3/7b/9N7f/H4kwWjn+/d//vSPVmO5dC5hvoVAfLfe43Jh5aaVI3JiPbef4zbHe8zM8OjyMwdkxmy+b+ea3vgVHNGq/OaaXV1SAhCrLdLa3g8Qjrxm0RmQ/+UKaGiUyq5XILFPy1ufzIz01hc6ODrz1xht45bUrePwDTziCkXX/7V9/HqWlRfj6N77l4qamxnH//XfhlZeexbVr19Hc3IE33rqEycnMsbx27YbDixaMvf0D+O3f/l0888xzmq8Z991zHH6/XwnEf0Bv780XiB09fhZ7GxvwK//m18BrHPtvkhsBIxRz42KxhsA8BDh4zYuwgCFgCBgChoAhYAhsGgKrve6uNt+mNXQ1ijXPkSNHnGXKxMQEaA2oUTn/vTRaM+bMkBVJctILentlMUzrQgonsCQTvcmjp5NxnAR68SyzknhWjly+TcsSCstTz/nz592kjns2Us+HPvQhOk7YBvbZBfSL+dUBJ5N0PfEISLb7p37qp+CJl74el5hw0r2esrejDAlEkh204OGSTFoFcbJNcoPLDGk5wwk5rY1oSVpQEHN7ipFUYJyPGzHejoZbnYbANkGA4xF/Y8s1d4Z2hOm0s0gk0SUiy2VfdRrrVo7SXQeWKnTy5En8zM/8DPbu3etILo4DP/RDP4RPfd/3YWR0FC8qaXjq9GmXxjGT17+DBw+C4/LP//zP45Of/KR7KPNLv/RLzpqPdXKfw0996lP40pe+hAIlRkmO3XXXXY5cXNiOqqoq/NiP/RhopUgikUTkUnn5sIbjEZcrc4wn6UorznvuuQe0bGSbGhsb8eEPfxi0jhTJkKqi4xTbTRKP9TNMP8cvtjdVXIx4ohD0AwJaOZ492YhKbZuIQETwL/9/n8Env+fT+I4nnnDh8uqj6O8fwcnT9yl2jThx4ihGh7sUJwE/H/uOJ5zVO/0/9APfg+PHj+DOO0+4dtFC8fTpkzh7190oKyvVuD1zeyj+zM/8NF577XV8/w/8KIvmXYhD3pXeBoVGKN4G0K3KrYuAiLiBKdcPPFfc1u2JtcwQMAQ2goCVNQQMgduHQK7rLSdinHDkalWu/Lny3c64VCrlJkgkjTgRXKotTOOEl5Z+fGEJrQFJAGbnLysr04lPGTiJYzqFFipcZkzSkGESgExnXpJ/xM7T+ZWvfAUMc+lYtl76SWiS9GPd1MU4CslLtp2EH8tRzqjBJwAAEABJREFUuDyZabR09OrjJJBlKYzjRJITT4bZLubPFu/YcckzJ5VsG1/Wwv0T6WbnXauf7SUpt9Zytys/SUKeJ7Q4JBnqLHyyGkNsGWQ8hcecx5hkIi0WSUTy3IlEIu74Mq+JIWAIZBDg+MLfRya09LeIuN/P9HTupclYx0ckQ6axKAk4uksJlwVzzOfYSPnO7/xON9ZzbHj1lVfci1cYzzGZYzBflsIHJ9yjkGM9CUGGmYfyr//1v3ZLe/nAZ3p6GtyrVkQyFoSzjSCR6b3w5dFHH3V78HpleT34wR/8QTz++OMu9y//8i/jlBKfoqH//V/9K5DoSyST+LF/9s/cdhwaDeb32sD2c0sMvgWaYxStK3/rt37LWU8+eP/9+LEfXUzW/cSP/2MlR79DCdAYSkpLHfn5ie94HAP9/e7h1a/87/8Md505hrfeesOleW+C/s3f+JfOEnFiYgztrZfw6KMP46+/9Je4evWKy8fl09DPT/7Ej2JocMjpunDuBRQWxvG//fgPYGR4WLEexb/8+R/Al/7Xn7n6P/Pbv4k//7P/5vZQ7O/rw0qi6lf1T3wXZmScCJFdmLK1w0Yobu3jY61bPQKbklNEHMG4KcpNqSFgCBgChoAhYAjMR0Cvu16EyNLXYJH5aSLiFdsyLsk5EmpsEIk9WilSGKZw8sd4+uly2TL93F+K+x2SKKKVB9Oohy7TKST2aP1BEop5GCYZyUkn9bIsCUYSfyxHfV48w9yLkXqYn2G6Xph6Wd6LYzzblt12xrEc89JluueyLIVxrJ91M0zXy8/y5eUVIBFGP5c+f+xjHwMnyIWFhYwCcXCedX5FlFgLhyPb5j6O1j59OmGlNSLJQhGZ13aSiEzzpKOjAz09PaC1JwliWiqWl5c7ayVO3Nl/xq8TPitmCOwYBPg74LjCMWmlTolm4AtUSL6R4NFgXv49Szw+YFlJIX/rJBU9oVWhiCA9MwPGvfXmm3j6m9/E17/6VVx9+21waTDj+YZlLlXmMmeGPWGY4wu3qGAcx42FbWCdzMd41sd8FC+OY1NHezu6Ozvx3NNP4+rlyyBOPd3dYN9Yjnmpx/OzPIX62C7W6/P7MTk15cauQCiEi+fPg+VYJltYZnhkxO1fWVVTg+KSErzx+uv4hvb5xeefB1/+MjAwAPaZdbBv7CN1MUxhHPWwXi8f/azn4oXz+Mrf/R2+8eSTDssrly7hheeec+Fvfu1reEnrePapp8B4uhTuq7mU8IUyLddvUPWaRETmjfNrKrxFMhuhuEUOhDXj9iOgP2fXiOyLB/0UEU1VcRnsyxAwBAwBQ8AQMAQ2DwGBu8Hm9ZciohEA0um0fmNRmkgmHVvsQ4KPhJrXLIYpXphpFIY9QpB+Csk5xlEYZj4K/Z4wTNKNeZif8XQZz7jsurLjmca8FMYzTNcLe+W9OMYzT7Y+xlGYl8I05skWxjEP9TCeLvNS6H/44YfA5XqcuDMfSUX25+Mf/zgoDDN+IxKJhEFLxY3oWG9ZEQH/VlueE3ESiV5+ES2t4oVzuSQTSSxyss/yFBEByUUSzSQWb1f/c7UXsFhD4BYjoCQcVMJKXg0PDWEl4W+K1x2Kd83JR4tFlfiVTJuanFTf+v9JjpJcq6iqAh8o0aqOhCJfisI2r1/z0iVpCU3rQJJpfGEN90lk/Rt9WQ1fNEM8Jicm5ip/480r+Olf+Pf4mX/xf8zJv/qV/4jf+Myf4vc++5dO/s2/+0P8jOb5iZ/9d/jJn/kN/NTP/xay86/G/2///R/jM//x8/hd1fn7/+X/xUrCvi4ntKRMFRfN9WMpj3eMRAQioqfmjBMvv5fuhbeDa4TidjhK1sa8ICAii/RkfrSLf8wiN/OKLE5fpMgiDAFDwBAwBAyBnYjAbegTr82cyHHiRD9FJHNdFrl5TWY68zE9u5kimbzZcebfmgiQAKPlyma1jhNuWuptln5Pr0BAsoB1cZ8yLq2kFMQLwDBlrcQez2sKVvjwN0ArHM9ysaenByQAuHSaxCJlPfWvUK0lGwLbAgFa9fGlIW2trViNkJyjpZuIuOXFeeuk6uO2BSTQNqpTRFAQj6O6thbcc5CkYltLC4YGBrHSkuq11M2xhbq7OjpAMpHjUUlZmas3PmtJvhZ92XlFtA+qg3XQkpC6vfTK8hIc3Fe7SI4crMeJ4/tx+sQBnDi2D4c0T8OecjTVV2BfYxUONNUsKpNLD+MOqa6jhxtxXOXY0SasJNWzVpIkc3NJWUUFaEmJVX7YX4qIzJUQuemfi9wGHiMUt8FBsiZuPgLZv1+Rmz9mkYxfRCCikxhtiojot/0bAlsXAWuZIWAIGALbGQERcddc9sEn3q3qDEggMo7i8wkdl08k43cRefh6at855JKv7XsLzyb+Bk8nn8op1wp+KA+17y4VPKaUzey1SH7Pj+y2kiQkWUfikNaAtArkfpBcekwrTLoMM54EX3bZlfycbFJWyrcwnRZWtFj0llaSVGUbSCyS5CTpSfJzYTkLGwI7EYGZdBoU9o2/hdUIf9PcFzCfI4eIgG86JoFGYXs2KsFQCGXl5ShVko8621qa3RYI6xk3FraFDyX6ensdkTg8NAQSiLRKJKHIpc4L868nXFRc7IjR3u5uTIyPOxVHDjfgp3/ie/DDP/iJJeXHfuST+Oc//in8kOb51Hd/BN/5xHvxxIcfwyc+9ji+73u+HT/wT79zybKeXuZjuX/6fd+xYl6WyQemroP6xT2hRcTdv2hwzl3oZ3g7iHeXth3aupPbaH27TQiICJYbIJhGYfNEbv7wGTYxBAwBQ8AQMAQMgfwjIJK53nKC5F2DF9Yyo3fkTNc7cf3P5F+Yx8JbHwGSbIFAcFMbStJvs17OQoKOZB2JQ+4Hyf7k6gxJPkqutM2I40tdSCrSApRCcoBECttJopOESSAQcL+dzajfdBoCWwIBXigoek0hCUZrPlqRrUbKKysRDIXy2g3+5vTShVkrxbzo5v6FqaIikJzj9hFcmjw0mLFUXOr6uVLF42NjoFViR2ubGyO41LeyuhqxgoKViq4pnQ+T2Pb09DRIXrL9VMBrO1/qspLwwQgtNXls2ecb16/h0oULbn/F3p7M/rJL6aBVN61ROS4vlWdhPNuWDxG5ec/CY0TJh97bpcMIxduFvNV7yxBY9Y9Uf9wLGyUy/we/MN3ChoAhYAgYAoaAIZBfBLzrtsjsNVjd7BpEGA830YF+mJ+i3nn/ueLmZbDAbUWARB8nkFNTk5vaDpJ+fCEDJ68bq2h+aRGehzI/MkeIyye5rJt9zZG8KVGsa2BgAN4yaE6evYpIrtKakkJsSC6SCBVZuS+eDnMNgW2BAM9pnw8k8qbTafciENymj4iAxBevS571MPL1Ud20fqRVJfdS5PJkbn1AP8lB1rmqqpTtZBkSbYP9/UimkqisqXFkZb7HT689bHc0FgOtFFm3F79qV/vOftfU1TlrTR7rvu4ecAm40zk6Orf/cno6DZKXlFXrz3NGkcw46x0TEZm7l8lzVbdMnRGKtwxqq+h2ICAiS1YrMj/N+2FnF9BxFXBfmdhceTIp9m0IGAKGgCGw5RCwBm0vBHi9VRHJuj5rGLQwyeoJr8WM9q7PIln5s/LRK7J0GtNNbh8CJLRo3ReNRje9ESTRONHMZ0Uiqzu3+KIVSj7r3qgukrmpVAq0VuQx4LHYLMJgo2218obARhDw+/0IhMOOtOG1YyO6NlqWbaGOfO5zSH0iApJqJP+SRUUgidjZ1oae7m709fXNEWrMu5zMzKSdpWC/lgnruFxaUQFukbBcmY2m0eqRFpDTSvaNKfm3Xn0+vx+eBSq3oCA5SWK1t6trziJ0cnICk5OTTtZbTz7KzWTf0+jNjP7nQ+1t02GE4m2D3iq+HQjwBywi7qLi1S+iYaioyzjmobtQRGbzbPdf/cKObbGwNccQMAQMAUNgdyKQ1skMey4idCCiricaw2VQ6rh4EU0DBRDJbF8iknGxxOfuu++GydbBoKmpyRFaJLU2WxoaGnD69Om8Hv+zZ89i3759K/bhwIEDea13PefwoUOHlm3n3r17cebMmdvezvX0zcpsnd/0Vj8WHAM2e6xZSj+J+wMHD+LBRx7B3lWMG0vpWS6edRw5ehSPPPYYHn7nO3H6zjtx7PhxVFZWLvv793SWK4F44tQpPKJlz+r1srq6elXlvPLrdZsUj0ceeycOa9vXq8MrV1Nbi1Pab2JAOXnHHWAc02vr6uDJQR0T2c96vTYwLV+yxO3HXDR5BhFx9y1zkVkepmcFt4U3H4TituioNdIQyEaAP1aKF+f5RW7+wEXES57nTk5OzQtbwBAwBAwBQ8AQMAQ2joCIYGp6Gt41mRaI9IuIu/mmBZUI/biZR6tlnunp9Lw4jbZ/Q8AQMAQMgc1BwLQaAobAOhCYnMrNI4iI0yaScV1gm3wZobhNDpQ1Mz8IiCz+kXIiojOVpSvQMgJx6SKCiclJm7Q4NOzLEDAEDAFDwBDIHwLp9Mzc9VUkc90F3bmVAXMejRbyjRD9Ywu8a7OIMGiyCAGLMAQMAUPAEDAEDIHbhQA5h/GJSYhk7lMEAsz6Mfe5eZ8zF7XFPUYobvEDZM3bOAIiOunI3qtggUqRm+n8oTNZRH/g9OSQickppJfRl6OIRRkChoAhsHYErIQhsIsQ4GV1dGx8Xo9Fbl6fbyZkbrZ5vRa5ea0W4QO/m0/+F6bfLG8+Q8AQMAQMAUPAEDAEbi0C5A+mpqaXrFTk5j3Nkpm2YIIRilvwoFiTNhcBb5IhIvpQQFxlIjddkZt+lzj7JdC/2bTh4bE5K4rZZOfYlyFgCBgChoAhYAisHQG+lZaEIpc1+8THK27GApHXXRURAdNE9FqsqXCi3xp2+dUdGhpFOp2GfQwBQ8AQMAQMAUPAELgVCKymDvIPw8OjLquIdx/jgu5LROa5LrBNvnzbpJ3WTEMg7wjwh02hYroimR8yw56ICEQE+qX/GUsJEVpBTGJymScMsI8hYAgYAoaAIWAIrAoBkoBDI2Nz11mvkIhefzUgoq4zTOTXjMun0c6doUdFRK/RSkEO6Q07r+kaZf+GgCFgCORCwOIMAUPAELilCHCFI0VE71VmZtz9i37pvzjJNGYm42yzbyMUt9kBs+ZuHAERWaREJOvH7VIX/6AZI9A/zSsiGBgcxsQE91N0BezLEDAEDAFDwBAwBNaIAMnEQSUBaaHoLBD1OksVvObSFeH1WUPCEDQ1ExaZjQCURgRExFkw8obdSEXYxxAwBAwBQ8AQMARuMwLKHYL7Jg4Ojbj7FBEB//Su5ja3LH/VG6GYPyxN0xZHIJfFgojMtVokM0nh1ESE8TMQoYv57kwmLKKkog4OXKLFCRHsYwgYAjcRMJ8hYAgYAssgwGsy9xLqGxjG5ORU5jo7e31Vx5GDLC4imTQGmEBXMBdHEhL8aJqIuPix8Ql96DeCqelp8GaeySaGgCFgCAHy924AAAltSURBVBgChoAhYAjcKgR4nzM6NoZsMpFPQEXENUEk251x9y9Md4nb6MsIxW10sDa7qTtZv0jmB+v1kT9wEY9A9GIzrkgmrwjdmUzk7DdDIhqvHhFxP/yR0TH09g9hdHQc09Npt38T9VNINJpkMDEcDAc7B+wcsHNgd54DvB56wnNgcmoKtCLsGxhSwm/GXUt5Ey2SuS6LZNzZS6+mZ3wiPmaDiGjEjIo+AlTGUIRhDWqUiLj0KSUT+/TaPDg8MndtZt1sB12T3Xku2nG3427ngJ0Ddg7cPAcMi/xgwXsLCvGcVj5gZGTM8QMjyg+IZO5LeAMjovc3ersy/3/G3be4OE137jb6MkJxGx0sa2r+EBCROWX0imTCs45L46BAj4i4H7lIxp3RSBHRWYx69N+zjhgZG9eBYxA9fYPoVeFEpn9gGHTnRCdPnEBlS2+/5jeB4WDngZ0Ddg7YObD9zoHs69mcX4k877rnXQd5XeT1kTIwOAIuTfaun3opdddZd331+ZxfRMB0deZIR5cOvRmfJREz6QIRgX7pv7rMBMyWFWf9yPOK9S5skxeea3fWNZplTLbf+bgLjpndL9k9s50Ddg7YOXALz4Fc9whz9w96v7PwPofXodHxCXfvwvsUvSVxvIGI3r9oQETc/YpIxtUol5eEI/3bTXzbrcHWXkNgIwh4JCF10C+iP2ydmNDPOP6QnX92QiIiGj2T+ZGrz/t3yZrGN0uyjBcvIm6ASKvO6bQ+8VA3288nFpR0egYmhoGdA3YO2DmwG86B3dNHXt8o2de9bD+vlSJCJyN6MeV1VCBgvkyk3nfrtZP+mZk0nYxo3hm9rqqTCeu3lz7j5WecCnXatXn3nHc2jtqxtnPAzgE7B+wcuBXnAO9xKLxnyTXXF9E7GhW9Fcn8602LuyfROPVm4ma/M/cuMxARFzOj35k49WyjfyMUt9HBsqZuDAGRzI/V0yJyM0wff8CZH7JOZjSTyM2fh8/HHICIzBPmh340FhT1QkR9s7IwLJJJWypeJJMuYq7IbcTA6p53HovYsRAxDEQMAxHDQCQ3Bktd1xbGuzBUhwr9vI6KzwcRjcsSX9Z1lzfjzEdhGdHrs4jQC+YTEYjcFA24NI0BhQER9c3KwrBIJm2peJFMuoi5IoaBiGEgYhiIGAYihoGIYSCyOzBY6h5hYbwLu7sPodc93xQRiNwUJvD+hS5FxEdnW8r2bfkCuC1oCKwGARGZZ21IEhG4GSeS+aFDP16aSCZdHY0FRATeR0T9WSIQx0aKuiL6PSueuTNdkUx8tg6RTJyIuSKGgYhhIGIYiBgGIoaByNbGYOG1jNc5xtEVyWq7Xhd5V60xgMZ7IiLgRyTjZvxAOp0GdbAMLQFExIVFMtdkGiUynfk0StVl4kXE+fULnmgMqIeuiH7PCstDP3RFMvEadP8imbCIuSKGgYhhIGIYiBgGIlsHAxFri4hhILK5GLibAv0SydTDewYNzt2TiGTi9XvuXsO7/6ArIszuRCTjp0OuQYThzP0LM4gwTN/2ESMUt8+xspZuAgIisz/aWZc/bFYjIvr7F3pVxPlFRP0zKnBh5PowjyfMqiKQucFF1G9iCBgChoAhYAjsdAQ8Ao+uE+/aSDfH9VNEZmNnICLuRh3QOPWLqIubHxGBiGiEuHwi9GM2Dos/TPdkRpNVBGLXZsVAbq1YbYaAIWAIGAKGwI5AgPc2vIbSdeLdZ9DVW42F/yIyGzUDEXECCPgREYgIvdtOjFDcdofMGpwPBDzicKEukcU/5Eze7CcHLHVzIOBTChFxg4CIMDEj9KvMMKSuZnBjDV0TxWkWE8PCsLBzYCufA9Y2Oz/Xdg4sec3jtVBFRBTSjGRfP8nuaZJbRbDwuqvFXJlsl/75+VjzjMsnInNEo0imLngfDWumedfjGabNxjPNRGAYGAZ2Dtg5YOeAnQN2Diw+B7LvGbL9mP2IiMKWkVz3Ocw2//6FMdtXjFDcvsfOWr5OBETElcz8kJ3XTWBEMqShSCY9k5L5zuQV8I8xIqIOhxAKIMIw3EdEXFgk4zJSROjMiYgsyjOXuFGPlTcEDAFDwBAwBG4BAiJLX8tExLVARHJe70TEpZNIpIjIXD6yfZnrrqbMzLh4hnljTlckc72mAoY1C72ORNQS6p9RgSuH2Y/ITf0i4mJFMq4L6JeIuDIiGVej7N8QMAQMAUPAEDAEdikCIpn7AZGMmw2DiLigiOS8dxARl+7dl4hkwgLR+Jv3MRqY+xdh2lxw9Z7bmNOXiEdgYhjstnMgWRgFhf0+cewQjh05iPq6alSUFaM4FUcqEXPpzEO/J0kXz7SY5imYFfpjKEoW5BTqYxpdTxjOFi/e3LjD33AwHOwcsHPAzoGtfw5kX8fozz5mXphuLvGuq6lEgbuWJguzrq16PU3p9dYT71rMazbjvDD9FOpPqR7qoJuRmOqN5bwuMz/b6rn0UxjOFsaZbP3z0I6RHaPteA5Ym+28tXNg658D2fcE9GcfMy9MN5ek5u5j5t/nkE+4mcZ7nwwvwXsb3ufcRm5wXVX71lXKChkChoAhYAgYAoaAIWAIGAK7BwHrqSFgCBgChoAhYAgYAoZAFgJGKGaBYV5DwBAwBAyBnYSA9cUQMAQMAUPAEDAEDAFDwBAwBAwBQ2AzEDBCcTNQNZ3rR8BKGgKGgCFgCBgChoAhYAgYAoaAIWAIGAKGwM5HwHq4rREwQnFbHz5rvCFgCBgChoAhYAgYAoaAIWAIGAK3DgGryRAwBAwBQ8AQIAJGKBIFE0PAEDAEDAFDwBAwBHYuAtYzQ8AQMAQMAUPAEDAEDAFDIK8IGKGYVzhNmSFgCBgC+ULA9BgChoAhYAgYAoaAIWAIGAKGgCFgCBgCWxMBIxTzeVxMlyFgCBgChoAhYAgYAoaAIWAIGAKGgCFgCOx8BKyHhsAuR8AIxV1+Alj3DQFDwBAwBAwBQ8AQMAQMgd2CgPXTEDAEDAFDwBAwBPKDgBGK+cHRtBgChoAhYAgYAobA5iBgWg0BQ8AQMAQMAUPAEDAEDAFDYIshYITiFjsg1hxDYGcgYL0wBAwBQ8AQMAQMAUPAEDAEDAFDwBAwBAyBnYrATUJxp/bQ+mUIGAKGgCFgCBgChoAhYAgYAoaAIWAIGAI3ETCfIWAIGAIbRMAIxQ0CaMUNAUPAEDAEDAFDwBAwBAyBW4GA1WEIGAKGgCFgCBgChsBWQeD/AwAA//+hc1S2AAAABklEQVQDAPubNLKIBoyOAAAAAElFTkSuQmCC&quot;"/>
    <we:property name="snapshotAltText" value="&quot;US Accident, Overview&quot;"/>
    <we:property name="snapshotLastRefreshTime" value="&quot;5/10/26, 7:30 PM&quot;"/>
    <we:property name="snapshotTimestamp" value="&quot;177844414423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1207</Words>
  <Application>Microsoft Office PowerPoint</Application>
  <PresentationFormat>On-screen Show (16:9)</PresentationFormat>
  <Paragraphs>281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Road Accidents – Analysis &amp; Prediction</dc:title>
  <dc:subject>PptxGenJS Presentation</dc:subject>
  <dc:creator>PptxGenJS</dc:creator>
  <cp:lastModifiedBy>Mohamed Hasan</cp:lastModifiedBy>
  <cp:revision>9</cp:revision>
  <dcterms:created xsi:type="dcterms:W3CDTF">2026-05-10T08:23:37Z</dcterms:created>
  <dcterms:modified xsi:type="dcterms:W3CDTF">2026-05-12T18:25:19Z</dcterms:modified>
</cp:coreProperties>
</file>